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7" r:id="rId4"/>
    <p:sldId id="258" r:id="rId5"/>
    <p:sldId id="273" r:id="rId6"/>
    <p:sldId id="262" r:id="rId7"/>
    <p:sldId id="263" r:id="rId8"/>
    <p:sldId id="259" r:id="rId9"/>
    <p:sldId id="264" r:id="rId10"/>
    <p:sldId id="266" r:id="rId11"/>
    <p:sldId id="260" r:id="rId12"/>
    <p:sldId id="265" r:id="rId13"/>
    <p:sldId id="275" r:id="rId14"/>
    <p:sldId id="268" r:id="rId15"/>
    <p:sldId id="274" r:id="rId16"/>
    <p:sldId id="261" r:id="rId17"/>
    <p:sldId id="271" r:id="rId18"/>
    <p:sldId id="270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bc3becfe28f7b6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487C57"/>
    <a:srgbClr val="EEEAE0"/>
    <a:srgbClr val="C4B796"/>
    <a:srgbClr val="FCFCFA"/>
    <a:srgbClr val="F1ECE7"/>
    <a:srgbClr val="FCFBFA"/>
    <a:srgbClr val="E6E3D2"/>
    <a:srgbClr val="F4F2EC"/>
    <a:srgbClr val="E77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066" autoAdjust="0"/>
  </p:normalViewPr>
  <p:slideViewPr>
    <p:cSldViewPr snapToGrid="0" snapToObjects="1">
      <p:cViewPr varScale="1">
        <p:scale>
          <a:sx n="77" d="100"/>
          <a:sy n="77" d="100"/>
        </p:scale>
        <p:origin x="749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A3BC4-5C93-4425-A7D5-FDFCB436AC2D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C1F89-DAF7-417A-B2C6-03C2D0DC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56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C1F89-DAF7-417A-B2C6-03C2D0DC21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52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C1F89-DAF7-417A-B2C6-03C2D0DC21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96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C1F89-DAF7-417A-B2C6-03C2D0DC21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3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C1F89-DAF7-417A-B2C6-03C2D0DC21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55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8D177-C6F8-44AA-832A-46BDDE24A89B}"/>
              </a:ext>
            </a:extLst>
          </p:cNvPr>
          <p:cNvSpPr txBox="1"/>
          <p:nvPr userDrawn="1"/>
        </p:nvSpPr>
        <p:spPr>
          <a:xfrm>
            <a:off x="9761220" y="6475010"/>
            <a:ext cx="22402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dirty="0">
                <a:solidFill>
                  <a:srgbClr val="C1BBB0"/>
                </a:solidFill>
                <a:latin typeface="Aptos"/>
              </a:rPr>
              <a:t>BARKYANLAL // </a:t>
            </a:r>
            <a:r>
              <a:rPr lang="en-US" sz="1050" b="0" dirty="0">
                <a:solidFill>
                  <a:srgbClr val="C1BBB0"/>
                </a:solidFill>
                <a:latin typeface="Aptos"/>
              </a:rPr>
              <a:t>BLIND MICE</a:t>
            </a:r>
            <a:endParaRPr sz="1050" b="0" dirty="0">
              <a:solidFill>
                <a:srgbClr val="C1BBB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microsoft.com/office/2007/relationships/hdphoto" Target="../media/hdphoto1.wdp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microsoft.com/office/2007/relationships/hdphoto" Target="../media/hdphoto1.wdp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jpeg"/><Relationship Id="rId10" Type="http://schemas.openxmlformats.org/officeDocument/2006/relationships/image" Target="../media/image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6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8.svg"/><Relationship Id="rId10" Type="http://schemas.openxmlformats.org/officeDocument/2006/relationships/image" Target="../media/image13.svg"/><Relationship Id="rId4" Type="http://schemas.openxmlformats.org/officeDocument/2006/relationships/image" Target="../media/image8.jpeg"/><Relationship Id="rId9" Type="http://schemas.openxmlformats.org/officeDocument/2006/relationships/image" Target="../media/image3.svg"/><Relationship Id="rId1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21" Type="http://schemas.openxmlformats.org/officeDocument/2006/relationships/image" Target="../media/image24.svg"/><Relationship Id="rId7" Type="http://schemas.openxmlformats.org/officeDocument/2006/relationships/image" Target="../media/image10.svg"/><Relationship Id="rId12" Type="http://schemas.openxmlformats.org/officeDocument/2006/relationships/image" Target="../media/image16.svg"/><Relationship Id="rId17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6.png"/><Relationship Id="rId10" Type="http://schemas.openxmlformats.org/officeDocument/2006/relationships/image" Target="../media/image14.svg"/><Relationship Id="rId19" Type="http://schemas.openxmlformats.org/officeDocument/2006/relationships/image" Target="../media/image22.svg"/><Relationship Id="rId4" Type="http://schemas.openxmlformats.org/officeDocument/2006/relationships/image" Target="../media/image8.jpeg"/><Relationship Id="rId9" Type="http://schemas.openxmlformats.org/officeDocument/2006/relationships/image" Target="../media/image13.svg"/><Relationship Id="rId14" Type="http://schemas.openxmlformats.org/officeDocument/2006/relationships/image" Target="../media/image18.svg"/><Relationship Id="rId22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3" Type="http://schemas.openxmlformats.org/officeDocument/2006/relationships/image" Target="../media/image22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17.svg"/><Relationship Id="rId5" Type="http://schemas.openxmlformats.org/officeDocument/2006/relationships/image" Target="../media/image24.svg"/><Relationship Id="rId15" Type="http://schemas.openxmlformats.org/officeDocument/2006/relationships/image" Target="../media/image26.png"/><Relationship Id="rId10" Type="http://schemas.openxmlformats.org/officeDocument/2006/relationships/image" Target="../media/image16.svg"/><Relationship Id="rId4" Type="http://schemas.openxmlformats.org/officeDocument/2006/relationships/image" Target="../media/image21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svg"/><Relationship Id="rId7" Type="http://schemas.openxmlformats.org/officeDocument/2006/relationships/image" Target="../media/image2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1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sv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12" Type="http://schemas.openxmlformats.org/officeDocument/2006/relationships/image" Target="../media/image38.svg"/><Relationship Id="rId2" Type="http://schemas.microsoft.com/office/2017/06/relationships/model3d" Target="../media/model3d1.glb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7.svg"/><Relationship Id="rId5" Type="http://schemas.openxmlformats.org/officeDocument/2006/relationships/image" Target="../media/image29.png"/><Relationship Id="rId15" Type="http://schemas.openxmlformats.org/officeDocument/2006/relationships/image" Target="../media/image41.png"/><Relationship Id="rId10" Type="http://schemas.openxmlformats.org/officeDocument/2006/relationships/image" Target="../media/image31.png"/><Relationship Id="rId4" Type="http://schemas.openxmlformats.org/officeDocument/2006/relationships/image" Target="../media/image28.svg"/><Relationship Id="rId9" Type="http://schemas.openxmlformats.org/officeDocument/2006/relationships/image" Target="../media/image36.png"/><Relationship Id="rId14" Type="http://schemas.openxmlformats.org/officeDocument/2006/relationships/image" Target="../media/image4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9.svg"/><Relationship Id="rId3" Type="http://schemas.openxmlformats.org/officeDocument/2006/relationships/image" Target="../media/image33.png"/><Relationship Id="rId7" Type="http://schemas.openxmlformats.org/officeDocument/2006/relationships/image" Target="../media/image30.png"/><Relationship Id="rId12" Type="http://schemas.openxmlformats.org/officeDocument/2006/relationships/image" Target="../media/image38.svg"/><Relationship Id="rId17" Type="http://schemas.openxmlformats.org/officeDocument/2006/relationships/image" Target="../media/image44.png"/><Relationship Id="rId2" Type="http://schemas.openxmlformats.org/officeDocument/2006/relationships/image" Target="../media/image42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7.svg"/><Relationship Id="rId5" Type="http://schemas.openxmlformats.org/officeDocument/2006/relationships/image" Target="../media/image35.png"/><Relationship Id="rId15" Type="http://schemas.microsoft.com/office/2017/06/relationships/model3d" Target="../media/model3d1.glb"/><Relationship Id="rId10" Type="http://schemas.openxmlformats.org/officeDocument/2006/relationships/image" Target="../media/image29.png"/><Relationship Id="rId4" Type="http://schemas.openxmlformats.org/officeDocument/2006/relationships/image" Target="../media/image34.png"/><Relationship Id="rId9" Type="http://schemas.openxmlformats.org/officeDocument/2006/relationships/image" Target="../media/image31.png"/><Relationship Id="rId14" Type="http://schemas.openxmlformats.org/officeDocument/2006/relationships/image" Target="../media/image4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6.png"/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12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microsoft.com/office/2017/06/relationships/model3d" Target="../media/model3d1.glb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11" Type="http://schemas.openxmlformats.org/officeDocument/2006/relationships/image" Target="../media/image5.svg"/><Relationship Id="rId5" Type="http://schemas.openxmlformats.org/officeDocument/2006/relationships/image" Target="../media/image50.svg"/><Relationship Id="rId10" Type="http://schemas.openxmlformats.org/officeDocument/2006/relationships/image" Target="../media/image53.png"/><Relationship Id="rId4" Type="http://schemas.openxmlformats.org/officeDocument/2006/relationships/image" Target="../media/image49.svg"/><Relationship Id="rId9" Type="http://schemas.microsoft.com/office/2017/06/relationships/model3d" Target="../media/model3d1.glb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10" Type="http://schemas.openxmlformats.org/officeDocument/2006/relationships/image" Target="../media/image57.png"/><Relationship Id="rId4" Type="http://schemas.openxmlformats.org/officeDocument/2006/relationships/image" Target="../media/image49.svg"/><Relationship Id="rId9" Type="http://schemas.openxmlformats.org/officeDocument/2006/relationships/hyperlink" Target="https://barkyanlal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7260778" y="1930399"/>
            <a:ext cx="509002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dirty="0">
                <a:solidFill>
                  <a:srgbClr val="EEEAE0"/>
                </a:solidFill>
                <a:latin typeface="Copperplate Gothic Bold" panose="020E0705020206020404" pitchFamily="34" charset="0"/>
              </a:rPr>
              <a:t>B</a:t>
            </a:r>
            <a:r>
              <a:rPr sz="5400" dirty="0">
                <a:solidFill>
                  <a:srgbClr val="2B2A26"/>
                </a:solidFill>
                <a:latin typeface="Copperplate Gothic Bold" panose="020E0705020206020404" pitchFamily="34" charset="0"/>
              </a:rPr>
              <a:t>arKyanLal</a:t>
            </a:r>
          </a:p>
        </p:txBody>
      </p:sp>
      <p:sp>
        <p:nvSpPr>
          <p:cNvPr id="4" name="Rounded Rectangle 3"/>
          <p:cNvSpPr/>
          <p:nvPr/>
        </p:nvSpPr>
        <p:spPr>
          <a:xfrm rot="19423994">
            <a:off x="14764625" y="1893306"/>
            <a:ext cx="1675955" cy="1232810"/>
          </a:xfrm>
          <a:prstGeom prst="roundRect">
            <a:avLst>
              <a:gd name="adj" fmla="val 37972"/>
            </a:avLst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779679" y="2397545"/>
            <a:ext cx="911606" cy="912368"/>
          </a:xfrm>
          <a:prstGeom prst="ellipse">
            <a:avLst/>
          </a:prstGeom>
          <a:noFill/>
          <a:ln w="6350">
            <a:solidFill>
              <a:srgbClr val="C1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900" y="8627816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6F6C63"/>
                </a:solidFill>
                <a:latin typeface="Aptos"/>
              </a:rPr>
              <a:t>AI food expiry assistant for smarter home kitchens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0346933"/>
            <a:ext cx="206709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rgbClr val="487C57"/>
                </a:solidFill>
                <a:latin typeface="Aptos"/>
              </a:rPr>
              <a:t>TEAM - </a:t>
            </a:r>
            <a:r>
              <a:rPr b="1" dirty="0">
                <a:solidFill>
                  <a:srgbClr val="487C57"/>
                </a:solidFill>
                <a:latin typeface="Aptos"/>
              </a:rPr>
              <a:t>BLIND MICE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B7CD7E-4B9D-43F6-9A0E-F0E353860559}"/>
              </a:ext>
            </a:extLst>
          </p:cNvPr>
          <p:cNvSpPr/>
          <p:nvPr/>
        </p:nvSpPr>
        <p:spPr>
          <a:xfrm>
            <a:off x="-9088234" y="3077488"/>
            <a:ext cx="838667" cy="91655"/>
          </a:xfrm>
          <a:prstGeom prst="roundRect">
            <a:avLst>
              <a:gd name="adj" fmla="val 50000"/>
            </a:avLst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E1C95-D6D2-4AF4-8285-060ABA77FE2C}"/>
              </a:ext>
            </a:extLst>
          </p:cNvPr>
          <p:cNvSpPr txBox="1"/>
          <p:nvPr/>
        </p:nvSpPr>
        <p:spPr>
          <a:xfrm>
            <a:off x="2737611" y="11334855"/>
            <a:ext cx="565708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E77762"/>
                </a:solidFill>
                <a:latin typeface="Aptos"/>
              </a:rPr>
              <a:t>•</a:t>
            </a:r>
            <a:r>
              <a:rPr b="0" dirty="0">
                <a:solidFill>
                  <a:srgbClr val="6F6C63"/>
                </a:solidFill>
                <a:latin typeface="Aptos"/>
              </a:rPr>
              <a:t>   </a:t>
            </a:r>
            <a:r>
              <a:rPr lang="en-US" dirty="0">
                <a:solidFill>
                  <a:srgbClr val="6F6C63"/>
                </a:solidFill>
                <a:latin typeface="Aptos"/>
              </a:rPr>
              <a:t>STI Myanmar College, Youth AI Innovation Competition </a:t>
            </a:r>
            <a:endParaRPr b="0" dirty="0">
              <a:solidFill>
                <a:srgbClr val="6F6C63"/>
              </a:solidFill>
              <a:latin typeface="Apto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85CE64-C724-4553-82F0-19EAA0A0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90972" y="1722813"/>
            <a:ext cx="1203468" cy="120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3900" y="1930399"/>
            <a:ext cx="509002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5400" dirty="0">
                <a:solidFill>
                  <a:srgbClr val="EEEAE0"/>
                </a:solidFill>
                <a:latin typeface="Copperplate Gothic Bold" panose="020E0705020206020404" pitchFamily="34" charset="0"/>
              </a:rPr>
              <a:t>B</a:t>
            </a:r>
            <a:r>
              <a:rPr sz="5400" dirty="0">
                <a:solidFill>
                  <a:srgbClr val="2B2A26"/>
                </a:solidFill>
                <a:latin typeface="Copperplate Gothic Bold" panose="020E0705020206020404" pitchFamily="34" charset="0"/>
              </a:rPr>
              <a:t>arKyanLal</a:t>
            </a:r>
          </a:p>
        </p:txBody>
      </p:sp>
      <p:sp>
        <p:nvSpPr>
          <p:cNvPr id="4" name="Rounded Rectangle 3"/>
          <p:cNvSpPr/>
          <p:nvPr/>
        </p:nvSpPr>
        <p:spPr>
          <a:xfrm rot="19423994">
            <a:off x="7286131" y="1893306"/>
            <a:ext cx="1675955" cy="1232810"/>
          </a:xfrm>
          <a:prstGeom prst="roundRect">
            <a:avLst>
              <a:gd name="adj" fmla="val 37972"/>
            </a:avLst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94700" y="2397545"/>
            <a:ext cx="911606" cy="912368"/>
          </a:xfrm>
          <a:prstGeom prst="ellipse">
            <a:avLst/>
          </a:prstGeom>
          <a:noFill/>
          <a:ln w="6350">
            <a:solidFill>
              <a:srgbClr val="C1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900" y="5100843"/>
            <a:ext cx="896087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6F6C63"/>
                </a:solidFill>
                <a:latin typeface="Aptos"/>
              </a:rPr>
              <a:t>AI food expiry assistant for smarter home kitchens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709618"/>
            <a:ext cx="206709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rgbClr val="487C57"/>
                </a:solidFill>
                <a:latin typeface="Aptos"/>
              </a:rPr>
              <a:t>TEAM - </a:t>
            </a:r>
            <a:r>
              <a:rPr b="1" dirty="0">
                <a:solidFill>
                  <a:srgbClr val="487C57"/>
                </a:solidFill>
                <a:latin typeface="Aptos"/>
              </a:rPr>
              <a:t>BLIND MICE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7611" y="5702522"/>
            <a:ext cx="565708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E77762"/>
                </a:solidFill>
                <a:latin typeface="Aptos"/>
              </a:rPr>
              <a:t>•</a:t>
            </a:r>
            <a:r>
              <a:rPr b="0" dirty="0">
                <a:solidFill>
                  <a:srgbClr val="6F6C63"/>
                </a:solidFill>
                <a:latin typeface="Aptos"/>
              </a:rPr>
              <a:t>   </a:t>
            </a:r>
            <a:r>
              <a:rPr lang="en-US" dirty="0">
                <a:solidFill>
                  <a:srgbClr val="6F6C63"/>
                </a:solidFill>
                <a:latin typeface="Aptos"/>
              </a:rPr>
              <a:t>STI Myanmar College, Youth AI Innovation Competition </a:t>
            </a:r>
            <a:endParaRPr b="0" dirty="0">
              <a:solidFill>
                <a:srgbClr val="6F6C63"/>
              </a:solidFill>
              <a:latin typeface="Apto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B7CD7E-4B9D-43F6-9A0E-F0E353860559}"/>
              </a:ext>
            </a:extLst>
          </p:cNvPr>
          <p:cNvSpPr/>
          <p:nvPr/>
        </p:nvSpPr>
        <p:spPr>
          <a:xfrm>
            <a:off x="888533" y="3077488"/>
            <a:ext cx="838667" cy="91655"/>
          </a:xfrm>
          <a:prstGeom prst="roundRect">
            <a:avLst>
              <a:gd name="adj" fmla="val 50000"/>
            </a:avLst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1">
            <a:extLst>
              <a:ext uri="{FF2B5EF4-FFF2-40B4-BE49-F238E27FC236}">
                <a16:creationId xmlns:a16="http://schemas.microsoft.com/office/drawing/2014/main" id="{1846AB83-9E83-4D40-AFEA-4A2E69BF28AA}"/>
              </a:ext>
            </a:extLst>
          </p:cNvPr>
          <p:cNvSpPr/>
          <p:nvPr/>
        </p:nvSpPr>
        <p:spPr>
          <a:xfrm>
            <a:off x="640080" y="7397496"/>
            <a:ext cx="2377440" cy="5662210"/>
          </a:xfrm>
          <a:prstGeom prst="round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5C290C-C100-44AA-B322-15C40F600215}"/>
              </a:ext>
            </a:extLst>
          </p:cNvPr>
          <p:cNvSpPr txBox="1"/>
          <p:nvPr/>
        </p:nvSpPr>
        <p:spPr>
          <a:xfrm>
            <a:off x="741300" y="8216299"/>
            <a:ext cx="21750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87C57"/>
                </a:solidFill>
                <a:latin typeface="Aptos"/>
              </a:rPr>
              <a:t>Presentation
Map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B15FEB-1665-4FF1-B415-907768E8150C}"/>
              </a:ext>
            </a:extLst>
          </p:cNvPr>
          <p:cNvSpPr/>
          <p:nvPr/>
        </p:nvSpPr>
        <p:spPr>
          <a:xfrm>
            <a:off x="840398" y="9800861"/>
            <a:ext cx="526487" cy="45719"/>
          </a:xfrm>
          <a:prstGeom prst="rect">
            <a:avLst/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981E91-0CD5-406E-8309-17E8F2432D69}"/>
              </a:ext>
            </a:extLst>
          </p:cNvPr>
          <p:cNvSpPr txBox="1"/>
          <p:nvPr/>
        </p:nvSpPr>
        <p:spPr>
          <a:xfrm>
            <a:off x="752707" y="13434224"/>
            <a:ext cx="226481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BarKyanLal App</a:t>
            </a:r>
          </a:p>
        </p:txBody>
      </p:sp>
      <p:sp>
        <p:nvSpPr>
          <p:cNvPr id="39" name="Rounded Rectangle 5">
            <a:extLst>
              <a:ext uri="{FF2B5EF4-FFF2-40B4-BE49-F238E27FC236}">
                <a16:creationId xmlns:a16="http://schemas.microsoft.com/office/drawing/2014/main" id="{AD2790F8-BBB4-459B-B223-958CAE5882AE}"/>
              </a:ext>
            </a:extLst>
          </p:cNvPr>
          <p:cNvSpPr/>
          <p:nvPr/>
        </p:nvSpPr>
        <p:spPr>
          <a:xfrm>
            <a:off x="12676632" y="126356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ADE96F-25FF-4C19-A380-A4977ADCCA77}"/>
              </a:ext>
            </a:extLst>
          </p:cNvPr>
          <p:cNvSpPr txBox="1"/>
          <p:nvPr/>
        </p:nvSpPr>
        <p:spPr>
          <a:xfrm>
            <a:off x="13480355" y="133395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01.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6DC20A-71F3-4B8B-B78E-8F0987FD0584}"/>
              </a:ext>
            </a:extLst>
          </p:cNvPr>
          <p:cNvSpPr txBox="1"/>
          <p:nvPr/>
        </p:nvSpPr>
        <p:spPr>
          <a:xfrm>
            <a:off x="16283602" y="142815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Food Waste Pressure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A8969F-BF1C-4F38-A125-AE717F6CC9CA}"/>
              </a:ext>
            </a:extLst>
          </p:cNvPr>
          <p:cNvSpPr txBox="1"/>
          <p:nvPr/>
        </p:nvSpPr>
        <p:spPr>
          <a:xfrm>
            <a:off x="20420887" y="145220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43" name="Rounded Rectangle 9">
            <a:extLst>
              <a:ext uri="{FF2B5EF4-FFF2-40B4-BE49-F238E27FC236}">
                <a16:creationId xmlns:a16="http://schemas.microsoft.com/office/drawing/2014/main" id="{3FA0D658-C0BC-45BF-976D-A9B0A6EC37FF}"/>
              </a:ext>
            </a:extLst>
          </p:cNvPr>
          <p:cNvSpPr/>
          <p:nvPr/>
        </p:nvSpPr>
        <p:spPr>
          <a:xfrm>
            <a:off x="13906347" y="231512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249C9E-EAFD-4567-99D6-10F4532CBB52}"/>
              </a:ext>
            </a:extLst>
          </p:cNvPr>
          <p:cNvSpPr txBox="1"/>
          <p:nvPr/>
        </p:nvSpPr>
        <p:spPr>
          <a:xfrm>
            <a:off x="14552417" y="238551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02.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466BB2-DE98-4A34-8581-5053CB3614C2}"/>
              </a:ext>
            </a:extLst>
          </p:cNvPr>
          <p:cNvSpPr txBox="1"/>
          <p:nvPr/>
        </p:nvSpPr>
        <p:spPr>
          <a:xfrm>
            <a:off x="17119181" y="247971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Smart Kitchen </a:t>
            </a:r>
            <a:r>
              <a:rPr sz="2000" b="1" dirty="0">
                <a:solidFill>
                  <a:srgbClr val="2B2A26"/>
                </a:solidFill>
                <a:latin typeface="Aptos"/>
              </a:rPr>
              <a:t>Solution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DF3AE7-A070-4CFF-847A-CFCC6AFC7BFA}"/>
              </a:ext>
            </a:extLst>
          </p:cNvPr>
          <p:cNvSpPr txBox="1"/>
          <p:nvPr/>
        </p:nvSpPr>
        <p:spPr>
          <a:xfrm>
            <a:off x="21650602" y="250376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47" name="Rounded Rectangle 13">
            <a:extLst>
              <a:ext uri="{FF2B5EF4-FFF2-40B4-BE49-F238E27FC236}">
                <a16:creationId xmlns:a16="http://schemas.microsoft.com/office/drawing/2014/main" id="{B344EABA-9237-4F40-8E45-21F1061BD0E1}"/>
              </a:ext>
            </a:extLst>
          </p:cNvPr>
          <p:cNvSpPr/>
          <p:nvPr/>
        </p:nvSpPr>
        <p:spPr>
          <a:xfrm>
            <a:off x="15433847" y="3366679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E67A3E-FD69-4185-B1B0-FD28FC8538FF}"/>
              </a:ext>
            </a:extLst>
          </p:cNvPr>
          <p:cNvSpPr txBox="1"/>
          <p:nvPr/>
        </p:nvSpPr>
        <p:spPr>
          <a:xfrm>
            <a:off x="16032619" y="343707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03.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29F88F-0C90-43E4-9216-B4394665B83A}"/>
              </a:ext>
            </a:extLst>
          </p:cNvPr>
          <p:cNvSpPr txBox="1"/>
          <p:nvPr/>
        </p:nvSpPr>
        <p:spPr>
          <a:xfrm>
            <a:off x="18662445" y="353127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Prototype Journey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9889D9-EEE4-41BA-AEDD-B07BCF5CBB48}"/>
              </a:ext>
            </a:extLst>
          </p:cNvPr>
          <p:cNvSpPr txBox="1"/>
          <p:nvPr/>
        </p:nvSpPr>
        <p:spPr>
          <a:xfrm>
            <a:off x="23178102" y="355532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51" name="Rounded Rectangle 17">
            <a:extLst>
              <a:ext uri="{FF2B5EF4-FFF2-40B4-BE49-F238E27FC236}">
                <a16:creationId xmlns:a16="http://schemas.microsoft.com/office/drawing/2014/main" id="{9E50881A-4A4B-41CE-96B3-FA827756359F}"/>
              </a:ext>
            </a:extLst>
          </p:cNvPr>
          <p:cNvSpPr/>
          <p:nvPr/>
        </p:nvSpPr>
        <p:spPr>
          <a:xfrm>
            <a:off x="17185573" y="441824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6DFCFC-72AC-465D-BCA3-BA946792B42A}"/>
              </a:ext>
            </a:extLst>
          </p:cNvPr>
          <p:cNvSpPr txBox="1"/>
          <p:nvPr/>
        </p:nvSpPr>
        <p:spPr>
          <a:xfrm>
            <a:off x="17847407" y="448863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04.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CD42F6-5356-4889-A55F-905F3C4769A4}"/>
              </a:ext>
            </a:extLst>
          </p:cNvPr>
          <p:cNvSpPr txBox="1"/>
          <p:nvPr/>
        </p:nvSpPr>
        <p:spPr>
          <a:xfrm>
            <a:off x="20871371" y="458283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4D100B-6859-4C0B-ADEF-969F8D0BD730}"/>
              </a:ext>
            </a:extLst>
          </p:cNvPr>
          <p:cNvSpPr txBox="1"/>
          <p:nvPr/>
        </p:nvSpPr>
        <p:spPr>
          <a:xfrm>
            <a:off x="24929828" y="460688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pic>
        <p:nvPicPr>
          <p:cNvPr id="55" name="Graphic 54" descr="Whole pizza">
            <a:extLst>
              <a:ext uri="{FF2B5EF4-FFF2-40B4-BE49-F238E27FC236}">
                <a16:creationId xmlns:a16="http://schemas.microsoft.com/office/drawing/2014/main" id="{AC2077BD-55D5-4D0A-81E1-0A36211E3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31428" y="1364118"/>
            <a:ext cx="471717" cy="471717"/>
          </a:xfrm>
          <a:prstGeom prst="rect">
            <a:avLst/>
          </a:prstGeom>
        </p:spPr>
      </p:pic>
      <p:pic>
        <p:nvPicPr>
          <p:cNvPr id="56" name="Graphic 55" descr="Table and chairs">
            <a:extLst>
              <a:ext uri="{FF2B5EF4-FFF2-40B4-BE49-F238E27FC236}">
                <a16:creationId xmlns:a16="http://schemas.microsoft.com/office/drawing/2014/main" id="{B49D597B-DC44-4C94-A123-B3E0C45B9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40428" y="2426432"/>
            <a:ext cx="471717" cy="471717"/>
          </a:xfrm>
          <a:prstGeom prst="rect">
            <a:avLst/>
          </a:prstGeom>
        </p:spPr>
      </p:pic>
      <p:pic>
        <p:nvPicPr>
          <p:cNvPr id="57" name="Graphic 56" descr="Monitor">
            <a:extLst>
              <a:ext uri="{FF2B5EF4-FFF2-40B4-BE49-F238E27FC236}">
                <a16:creationId xmlns:a16="http://schemas.microsoft.com/office/drawing/2014/main" id="{9FA2AB45-391D-4169-82A2-C739D741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83691" y="3487436"/>
            <a:ext cx="471717" cy="471717"/>
          </a:xfrm>
          <a:prstGeom prst="rect">
            <a:avLst/>
          </a:prstGeom>
        </p:spPr>
      </p:pic>
      <p:pic>
        <p:nvPicPr>
          <p:cNvPr id="58" name="Graphic 57" descr="Bar graph with upward trend">
            <a:extLst>
              <a:ext uri="{FF2B5EF4-FFF2-40B4-BE49-F238E27FC236}">
                <a16:creationId xmlns:a16="http://schemas.microsoft.com/office/drawing/2014/main" id="{892F3209-10BC-4049-91E1-420277396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24602" y="4546003"/>
            <a:ext cx="471717" cy="47171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754AC32-0C13-4B8E-9D74-1053368E238B}"/>
              </a:ext>
            </a:extLst>
          </p:cNvPr>
          <p:cNvSpPr txBox="1"/>
          <p:nvPr/>
        </p:nvSpPr>
        <p:spPr>
          <a:xfrm>
            <a:off x="752707" y="14401262"/>
            <a:ext cx="226481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Blind Mice</a:t>
            </a:r>
            <a:endParaRPr sz="1400" b="0" dirty="0">
              <a:solidFill>
                <a:srgbClr val="6F6C63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CEF6EAC-9A11-4804-B1E0-ACFD19706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07" y="1722813"/>
            <a:ext cx="1203468" cy="1203468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5AB4354D-2A60-4215-A004-710FC7AB7306}"/>
              </a:ext>
            </a:extLst>
          </p:cNvPr>
          <p:cNvGrpSpPr/>
          <p:nvPr/>
        </p:nvGrpSpPr>
        <p:grpSpPr>
          <a:xfrm>
            <a:off x="1156740" y="10831909"/>
            <a:ext cx="1296610" cy="1296610"/>
            <a:chOff x="1156740" y="2700288"/>
            <a:chExt cx="1296610" cy="129661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C7A42EE-BBA2-4041-9ED3-AAF898305205}"/>
                </a:ext>
              </a:extLst>
            </p:cNvPr>
            <p:cNvSpPr/>
            <p:nvPr/>
          </p:nvSpPr>
          <p:spPr>
            <a:xfrm>
              <a:off x="1195930" y="2728749"/>
              <a:ext cx="1199244" cy="12289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4B7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445CA5A9-3125-48F4-9E56-D7C989E29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56740" y="2700288"/>
              <a:ext cx="1296610" cy="1296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8064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F75753D9-A2F0-447D-8B28-36D65047AD60}"/>
              </a:ext>
            </a:extLst>
          </p:cNvPr>
          <p:cNvSpPr txBox="1"/>
          <p:nvPr/>
        </p:nvSpPr>
        <p:spPr>
          <a:xfrm>
            <a:off x="2737611" y="11299285"/>
            <a:ext cx="565708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E77762"/>
                </a:solidFill>
                <a:latin typeface="Aptos"/>
              </a:rPr>
              <a:t>•</a:t>
            </a:r>
            <a:r>
              <a:rPr b="0" dirty="0">
                <a:solidFill>
                  <a:srgbClr val="6F6C63"/>
                </a:solidFill>
                <a:latin typeface="Aptos"/>
              </a:rPr>
              <a:t>   </a:t>
            </a:r>
            <a:r>
              <a:rPr lang="en-US" dirty="0">
                <a:solidFill>
                  <a:srgbClr val="6F6C63"/>
                </a:solidFill>
                <a:latin typeface="Aptos"/>
              </a:rPr>
              <a:t>STI Myanmar College, Youth AI Innovation Competition </a:t>
            </a:r>
            <a:endParaRPr b="0" dirty="0">
              <a:solidFill>
                <a:srgbClr val="6F6C63"/>
              </a:solidFill>
              <a:latin typeface="Apto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C53B382-0EFA-4646-B456-08FF1A7146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07D945-9FD6-4743-90D5-2E84E92C4D1F}"/>
              </a:ext>
            </a:extLst>
          </p:cNvPr>
          <p:cNvSpPr txBox="1"/>
          <p:nvPr/>
        </p:nvSpPr>
        <p:spPr>
          <a:xfrm>
            <a:off x="-7260778" y="1930399"/>
            <a:ext cx="509002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dirty="0">
                <a:solidFill>
                  <a:srgbClr val="EEEAE0"/>
                </a:solidFill>
                <a:latin typeface="Copperplate Gothic Bold" panose="020E0705020206020404" pitchFamily="34" charset="0"/>
              </a:rPr>
              <a:t>B</a:t>
            </a:r>
            <a:r>
              <a:rPr sz="5400" dirty="0">
                <a:solidFill>
                  <a:srgbClr val="2B2A26"/>
                </a:solidFill>
                <a:latin typeface="Copperplate Gothic Bold" panose="020E0705020206020404" pitchFamily="34" charset="0"/>
              </a:rPr>
              <a:t>arKyanLal</a:t>
            </a:r>
          </a:p>
        </p:txBody>
      </p: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0CBE07C9-49F7-4EBA-8186-9849D379E6B3}"/>
              </a:ext>
            </a:extLst>
          </p:cNvPr>
          <p:cNvSpPr/>
          <p:nvPr/>
        </p:nvSpPr>
        <p:spPr>
          <a:xfrm rot="19423994">
            <a:off x="14764625" y="1893306"/>
            <a:ext cx="1675955" cy="1232810"/>
          </a:xfrm>
          <a:prstGeom prst="roundRect">
            <a:avLst>
              <a:gd name="adj" fmla="val 37972"/>
            </a:avLst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ED1A89B-9AAC-455F-85E4-DA188522596F}"/>
              </a:ext>
            </a:extLst>
          </p:cNvPr>
          <p:cNvSpPr/>
          <p:nvPr/>
        </p:nvSpPr>
        <p:spPr>
          <a:xfrm>
            <a:off x="18779679" y="2397545"/>
            <a:ext cx="911606" cy="912368"/>
          </a:xfrm>
          <a:prstGeom prst="ellipse">
            <a:avLst/>
          </a:prstGeom>
          <a:noFill/>
          <a:ln w="6350">
            <a:solidFill>
              <a:srgbClr val="C1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9BB315-A365-44DD-9BC1-A9A20A842403}"/>
              </a:ext>
            </a:extLst>
          </p:cNvPr>
          <p:cNvSpPr txBox="1"/>
          <p:nvPr/>
        </p:nvSpPr>
        <p:spPr>
          <a:xfrm>
            <a:off x="723900" y="8627816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6F6C63"/>
                </a:solidFill>
                <a:latin typeface="Aptos"/>
              </a:rPr>
              <a:t>AI food expiry assistant for smarter home kitchens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D750E6-45C3-4B37-83B8-7BF181231AB9}"/>
              </a:ext>
            </a:extLst>
          </p:cNvPr>
          <p:cNvSpPr txBox="1"/>
          <p:nvPr/>
        </p:nvSpPr>
        <p:spPr>
          <a:xfrm>
            <a:off x="723900" y="10346933"/>
            <a:ext cx="206709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rgbClr val="487C57"/>
                </a:solidFill>
                <a:latin typeface="Aptos"/>
              </a:rPr>
              <a:t>TEAM - </a:t>
            </a:r>
            <a:r>
              <a:rPr b="1" dirty="0">
                <a:solidFill>
                  <a:srgbClr val="487C57"/>
                </a:solidFill>
                <a:latin typeface="Aptos"/>
              </a:rPr>
              <a:t>BLIND MICE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686AE0D-BC5C-4559-8EC5-8EF34F5070CA}"/>
              </a:ext>
            </a:extLst>
          </p:cNvPr>
          <p:cNvSpPr/>
          <p:nvPr/>
        </p:nvSpPr>
        <p:spPr>
          <a:xfrm>
            <a:off x="-9088234" y="3077488"/>
            <a:ext cx="838667" cy="91655"/>
          </a:xfrm>
          <a:prstGeom prst="roundRect">
            <a:avLst>
              <a:gd name="adj" fmla="val 50000"/>
            </a:avLst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640080" y="502920"/>
            <a:ext cx="2377440" cy="5662210"/>
          </a:xfrm>
          <a:prstGeom prst="round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1299" y="827947"/>
            <a:ext cx="2610865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87C57"/>
                </a:solidFill>
                <a:latin typeface="Aptos"/>
              </a:rPr>
              <a:t>Presentation
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0398" y="1918733"/>
            <a:ext cx="526487" cy="45719"/>
          </a:xfrm>
          <a:prstGeom prst="rect">
            <a:avLst/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2707" y="5131472"/>
            <a:ext cx="226481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BarKyanLal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9480" y="126356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32580" y="133395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01.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99E5301-A1F9-426D-BCF0-E8C1B617C946}"/>
              </a:ext>
            </a:extLst>
          </p:cNvPr>
          <p:cNvSpPr/>
          <p:nvPr/>
        </p:nvSpPr>
        <p:spPr>
          <a:xfrm>
            <a:off x="4959909" y="3869614"/>
            <a:ext cx="5878468" cy="2300244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53406" y="142815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Food Waste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3011" y="145220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80" y="231512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2580" y="238551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3406" y="247971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3011" y="250376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9480" y="3366679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2580" y="343707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3406" y="353127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Prototype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3011" y="355532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9480" y="441824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2580" y="448863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3406" y="458283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83011" y="460688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pic>
        <p:nvPicPr>
          <p:cNvPr id="31" name="Graphic 30" descr="Whole pizza">
            <a:extLst>
              <a:ext uri="{FF2B5EF4-FFF2-40B4-BE49-F238E27FC236}">
                <a16:creationId xmlns:a16="http://schemas.microsoft.com/office/drawing/2014/main" id="{787D5543-271E-408B-8949-469B112DC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1043" y="1364118"/>
            <a:ext cx="471717" cy="471717"/>
          </a:xfrm>
          <a:prstGeom prst="rect">
            <a:avLst/>
          </a:prstGeom>
        </p:spPr>
      </p:pic>
      <p:pic>
        <p:nvPicPr>
          <p:cNvPr id="33" name="Graphic 32" descr="Table and chairs">
            <a:extLst>
              <a:ext uri="{FF2B5EF4-FFF2-40B4-BE49-F238E27FC236}">
                <a16:creationId xmlns:a16="http://schemas.microsoft.com/office/drawing/2014/main" id="{1BD86A7F-10B9-440D-9C53-D37F7790F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1043" y="2426432"/>
            <a:ext cx="471717" cy="471717"/>
          </a:xfrm>
          <a:prstGeom prst="rect">
            <a:avLst/>
          </a:prstGeom>
        </p:spPr>
      </p:pic>
      <p:pic>
        <p:nvPicPr>
          <p:cNvPr id="35" name="Graphic 34" descr="Monitor">
            <a:extLst>
              <a:ext uri="{FF2B5EF4-FFF2-40B4-BE49-F238E27FC236}">
                <a16:creationId xmlns:a16="http://schemas.microsoft.com/office/drawing/2014/main" id="{AC1892F4-DEA2-422A-863A-DB5BB217C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042" y="3487436"/>
            <a:ext cx="471717" cy="471717"/>
          </a:xfrm>
          <a:prstGeom prst="rect">
            <a:avLst/>
          </a:prstGeom>
        </p:spPr>
      </p:pic>
      <p:pic>
        <p:nvPicPr>
          <p:cNvPr id="37" name="Graphic 36" descr="Bar graph with upward trend">
            <a:extLst>
              <a:ext uri="{FF2B5EF4-FFF2-40B4-BE49-F238E27FC236}">
                <a16:creationId xmlns:a16="http://schemas.microsoft.com/office/drawing/2014/main" id="{628E2B0C-FEE2-42A6-9DED-2DBC84423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1041" y="4546003"/>
            <a:ext cx="471717" cy="47171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4F0C93-B003-49D2-9C4B-5E49174B0DE8}"/>
              </a:ext>
            </a:extLst>
          </p:cNvPr>
          <p:cNvSpPr txBox="1"/>
          <p:nvPr/>
        </p:nvSpPr>
        <p:spPr>
          <a:xfrm>
            <a:off x="752707" y="5531582"/>
            <a:ext cx="226481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Blind Mice</a:t>
            </a:r>
            <a:endParaRPr sz="1400" b="0" dirty="0">
              <a:solidFill>
                <a:srgbClr val="6F6C63"/>
              </a:solidFill>
              <a:latin typeface="Bahnschrift Condensed" panose="020B0502040204020203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73E7C0-E62F-4CD4-A8E9-26D334388A97}"/>
              </a:ext>
            </a:extLst>
          </p:cNvPr>
          <p:cNvGrpSpPr/>
          <p:nvPr/>
        </p:nvGrpSpPr>
        <p:grpSpPr>
          <a:xfrm>
            <a:off x="4884421" y="7053863"/>
            <a:ext cx="2423158" cy="164592"/>
            <a:chOff x="3627118" y="6519672"/>
            <a:chExt cx="4892040" cy="16459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D81CCB5-CBE1-4B0D-BF63-77E00F7B6BC5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42B9467-BF75-4B32-89D2-4EFF07398DF8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B8FBE8-BF06-4CAA-81E8-3201AEBD9B90}"/>
              </a:ext>
            </a:extLst>
          </p:cNvPr>
          <p:cNvGrpSpPr/>
          <p:nvPr/>
        </p:nvGrpSpPr>
        <p:grpSpPr>
          <a:xfrm>
            <a:off x="1156740" y="2700288"/>
            <a:ext cx="1296610" cy="1296610"/>
            <a:chOff x="1156740" y="2700288"/>
            <a:chExt cx="1296610" cy="129661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9D457A2-CF11-4B20-95F7-CFA9968FCEED}"/>
                </a:ext>
              </a:extLst>
            </p:cNvPr>
            <p:cNvSpPr/>
            <p:nvPr/>
          </p:nvSpPr>
          <p:spPr>
            <a:xfrm>
              <a:off x="1195930" y="2728749"/>
              <a:ext cx="1199244" cy="12289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4B7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5C1E1DB-9C75-4691-BF7D-C616CDBDF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56740" y="2700288"/>
              <a:ext cx="1296610" cy="1296610"/>
            </a:xfrm>
            <a:prstGeom prst="rect">
              <a:avLst/>
            </a:prstGeom>
          </p:spPr>
        </p:pic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7D0C2842-6823-47DC-BBDF-4B2A50EF3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760344" y="1722813"/>
            <a:ext cx="1203468" cy="120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EEC6E0D5-F90B-4961-8451-450C2EFBFC73}"/>
              </a:ext>
            </a:extLst>
          </p:cNvPr>
          <p:cNvSpPr txBox="1"/>
          <p:nvPr/>
        </p:nvSpPr>
        <p:spPr>
          <a:xfrm>
            <a:off x="120498" y="230566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Situation (</a:t>
            </a:r>
            <a:r>
              <a:rPr sz="2800" b="1" dirty="0">
                <a:solidFill>
                  <a:srgbClr val="2B2A26"/>
                </a:solidFill>
                <a:latin typeface="Aptos"/>
              </a:rPr>
              <a:t>Expired Food at Home</a:t>
            </a:r>
            <a:r>
              <a:rPr lang="en-US" sz="2800" b="1" dirty="0">
                <a:solidFill>
                  <a:srgbClr val="2B2A26"/>
                </a:solidFill>
                <a:latin typeface="Aptos"/>
              </a:rPr>
              <a:t>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36" name="Picture 35" descr="Avoid mouldy food with these fridge storage tips - Recommend.my">
            <a:extLst>
              <a:ext uri="{FF2B5EF4-FFF2-40B4-BE49-F238E27FC236}">
                <a16:creationId xmlns:a16="http://schemas.microsoft.com/office/drawing/2014/main" id="{6501CDC6-E59C-4427-8717-FF5A6C39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931" t="-64" r="5941" b="64"/>
          <a:stretch/>
        </p:blipFill>
        <p:spPr bwMode="auto">
          <a:xfrm>
            <a:off x="609600" y="1228915"/>
            <a:ext cx="3934968" cy="4937760"/>
          </a:xfrm>
          <a:custGeom>
            <a:avLst/>
            <a:gdLst>
              <a:gd name="connsiteX0" fmla="*/ 305314 w 3934968"/>
              <a:gd name="connsiteY0" fmla="*/ 0 h 4937760"/>
              <a:gd name="connsiteX1" fmla="*/ 3629654 w 3934968"/>
              <a:gd name="connsiteY1" fmla="*/ 0 h 4937760"/>
              <a:gd name="connsiteX2" fmla="*/ 3934968 w 3934968"/>
              <a:gd name="connsiteY2" fmla="*/ 305314 h 4937760"/>
              <a:gd name="connsiteX3" fmla="*/ 3934968 w 3934968"/>
              <a:gd name="connsiteY3" fmla="*/ 4632446 h 4937760"/>
              <a:gd name="connsiteX4" fmla="*/ 3629654 w 3934968"/>
              <a:gd name="connsiteY4" fmla="*/ 4937760 h 4937760"/>
              <a:gd name="connsiteX5" fmla="*/ 305314 w 3934968"/>
              <a:gd name="connsiteY5" fmla="*/ 4937760 h 4937760"/>
              <a:gd name="connsiteX6" fmla="*/ 0 w 3934968"/>
              <a:gd name="connsiteY6" fmla="*/ 4632446 h 4937760"/>
              <a:gd name="connsiteX7" fmla="*/ 0 w 3934968"/>
              <a:gd name="connsiteY7" fmla="*/ 305314 h 4937760"/>
              <a:gd name="connsiteX8" fmla="*/ 305314 w 3934968"/>
              <a:gd name="connsiteY8" fmla="*/ 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968" h="4937760">
                <a:moveTo>
                  <a:pt x="305314" y="0"/>
                </a:moveTo>
                <a:lnTo>
                  <a:pt x="3629654" y="0"/>
                </a:lnTo>
                <a:cubicBezTo>
                  <a:pt x="3798274" y="0"/>
                  <a:pt x="3934968" y="136694"/>
                  <a:pt x="3934968" y="305314"/>
                </a:cubicBezTo>
                <a:lnTo>
                  <a:pt x="3934968" y="4632446"/>
                </a:lnTo>
                <a:cubicBezTo>
                  <a:pt x="3934968" y="4801066"/>
                  <a:pt x="3798274" y="4937760"/>
                  <a:pt x="3629654" y="4937760"/>
                </a:cubicBezTo>
                <a:lnTo>
                  <a:pt x="305314" y="4937760"/>
                </a:lnTo>
                <a:cubicBezTo>
                  <a:pt x="136694" y="4937760"/>
                  <a:pt x="0" y="4801066"/>
                  <a:pt x="0" y="4632446"/>
                </a:cubicBezTo>
                <a:lnTo>
                  <a:pt x="0" y="305314"/>
                </a:lnTo>
                <a:cubicBezTo>
                  <a:pt x="0" y="136694"/>
                  <a:pt x="136694" y="0"/>
                  <a:pt x="305314" y="0"/>
                </a:cubicBezTo>
                <a:close/>
              </a:path>
            </a:pathLst>
          </a:custGeom>
          <a:noFill/>
          <a:effectLst>
            <a:softEdge rad="101600"/>
          </a:effectLst>
        </p:spPr>
      </p:pic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FEB05FD3-A89D-45BC-AA8C-B915226F2F40}"/>
              </a:ext>
            </a:extLst>
          </p:cNvPr>
          <p:cNvSpPr/>
          <p:nvPr/>
        </p:nvSpPr>
        <p:spPr>
          <a:xfrm>
            <a:off x="742188" y="4831853"/>
            <a:ext cx="462498" cy="972312"/>
          </a:xfrm>
          <a:prstGeom prst="roundRect">
            <a:avLst>
              <a:gd name="adj" fmla="val 2263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874AD83-5AD8-4402-A45F-6198835F1634}"/>
              </a:ext>
            </a:extLst>
          </p:cNvPr>
          <p:cNvGrpSpPr/>
          <p:nvPr/>
        </p:nvGrpSpPr>
        <p:grpSpPr>
          <a:xfrm>
            <a:off x="5125212" y="1099065"/>
            <a:ext cx="5989320" cy="1451397"/>
            <a:chOff x="5125212" y="971470"/>
            <a:chExt cx="5989320" cy="1451397"/>
          </a:xfrm>
        </p:grpSpPr>
        <p:sp>
          <p:nvSpPr>
            <p:cNvPr id="49" name="Rounded Rectangle 8">
              <a:extLst>
                <a:ext uri="{FF2B5EF4-FFF2-40B4-BE49-F238E27FC236}">
                  <a16:creationId xmlns:a16="http://schemas.microsoft.com/office/drawing/2014/main" id="{625460CA-AC1C-464B-B789-CC478B19C3DF}"/>
                </a:ext>
              </a:extLst>
            </p:cNvPr>
            <p:cNvSpPr/>
            <p:nvPr/>
          </p:nvSpPr>
          <p:spPr>
            <a:xfrm>
              <a:off x="5125212" y="97147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25CD9FA-95FB-49A6-BF20-552BF448BE20}"/>
                </a:ext>
              </a:extLst>
            </p:cNvPr>
            <p:cNvSpPr/>
            <p:nvPr/>
          </p:nvSpPr>
          <p:spPr>
            <a:xfrm>
              <a:off x="5420809" y="1296546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236AFA5-C884-4010-81B8-34BA948E3ED8}"/>
                </a:ext>
              </a:extLst>
            </p:cNvPr>
            <p:cNvSpPr txBox="1"/>
            <p:nvPr/>
          </p:nvSpPr>
          <p:spPr>
            <a:xfrm>
              <a:off x="5524837" y="1444349"/>
              <a:ext cx="607855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01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6EE70B7-26DE-47A7-A02D-CDF0941D089F}"/>
              </a:ext>
            </a:extLst>
          </p:cNvPr>
          <p:cNvSpPr txBox="1"/>
          <p:nvPr/>
        </p:nvSpPr>
        <p:spPr>
          <a:xfrm>
            <a:off x="6535324" y="1580083"/>
            <a:ext cx="356334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Forgotten Expiry Dates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C1B09C9-F387-482C-A41F-A036E65111C0}"/>
              </a:ext>
            </a:extLst>
          </p:cNvPr>
          <p:cNvGrpSpPr/>
          <p:nvPr/>
        </p:nvGrpSpPr>
        <p:grpSpPr>
          <a:xfrm>
            <a:off x="5125212" y="2955855"/>
            <a:ext cx="5989320" cy="1451397"/>
            <a:chOff x="5125212" y="2658132"/>
            <a:chExt cx="5989320" cy="1451397"/>
          </a:xfrm>
        </p:grpSpPr>
        <p:sp>
          <p:nvSpPr>
            <p:cNvPr id="55" name="Rounded Rectangle 13">
              <a:extLst>
                <a:ext uri="{FF2B5EF4-FFF2-40B4-BE49-F238E27FC236}">
                  <a16:creationId xmlns:a16="http://schemas.microsoft.com/office/drawing/2014/main" id="{8EFC69C5-B09D-491F-8A29-4C1A94F166AC}"/>
                </a:ext>
              </a:extLst>
            </p:cNvPr>
            <p:cNvSpPr/>
            <p:nvPr/>
          </p:nvSpPr>
          <p:spPr>
            <a:xfrm>
              <a:off x="5125212" y="2658132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E3099FC-C2B1-4AC0-B197-09F0E5D8A669}"/>
                </a:ext>
              </a:extLst>
            </p:cNvPr>
            <p:cNvSpPr/>
            <p:nvPr/>
          </p:nvSpPr>
          <p:spPr>
            <a:xfrm>
              <a:off x="5418699" y="2977865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036CB82-42F8-4A09-AC1E-877F9D5A41FA}"/>
                </a:ext>
              </a:extLst>
            </p:cNvPr>
            <p:cNvSpPr txBox="1"/>
            <p:nvPr/>
          </p:nvSpPr>
          <p:spPr>
            <a:xfrm>
              <a:off x="5526952" y="3122219"/>
              <a:ext cx="60785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02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40C71B3-C88F-4C3D-84C7-A628CE8D336A}"/>
              </a:ext>
            </a:extLst>
          </p:cNvPr>
          <p:cNvSpPr txBox="1"/>
          <p:nvPr/>
        </p:nvSpPr>
        <p:spPr>
          <a:xfrm>
            <a:off x="6535323" y="3442976"/>
            <a:ext cx="335743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Redundant Shopping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2C5BB2B-10A0-42ED-B695-BF88D411D0BF}"/>
              </a:ext>
            </a:extLst>
          </p:cNvPr>
          <p:cNvGrpSpPr/>
          <p:nvPr/>
        </p:nvGrpSpPr>
        <p:grpSpPr>
          <a:xfrm>
            <a:off x="5125212" y="4700003"/>
            <a:ext cx="5989320" cy="1451397"/>
            <a:chOff x="5125212" y="4295950"/>
            <a:chExt cx="5989320" cy="1451397"/>
          </a:xfrm>
        </p:grpSpPr>
        <p:sp>
          <p:nvSpPr>
            <p:cNvPr id="61" name="Rounded Rectangle 18">
              <a:extLst>
                <a:ext uri="{FF2B5EF4-FFF2-40B4-BE49-F238E27FC236}">
                  <a16:creationId xmlns:a16="http://schemas.microsoft.com/office/drawing/2014/main" id="{081DEB24-CB8E-4C87-9589-1F0ADB4EA9F0}"/>
                </a:ext>
              </a:extLst>
            </p:cNvPr>
            <p:cNvSpPr/>
            <p:nvPr/>
          </p:nvSpPr>
          <p:spPr>
            <a:xfrm>
              <a:off x="5125212" y="429595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9BF7E2A-34BF-4281-9B5A-E0DB5D8F2704}"/>
                </a:ext>
              </a:extLst>
            </p:cNvPr>
            <p:cNvSpPr/>
            <p:nvPr/>
          </p:nvSpPr>
          <p:spPr>
            <a:xfrm>
              <a:off x="5420809" y="4615683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95427B6-02DF-4EE3-83FC-267770E4BF71}"/>
                </a:ext>
              </a:extLst>
            </p:cNvPr>
            <p:cNvSpPr txBox="1"/>
            <p:nvPr/>
          </p:nvSpPr>
          <p:spPr>
            <a:xfrm>
              <a:off x="5506566" y="4760037"/>
              <a:ext cx="64439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03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9F3CD10-02ED-40E6-8DFD-6224671717D0}"/>
              </a:ext>
            </a:extLst>
          </p:cNvPr>
          <p:cNvSpPr txBox="1"/>
          <p:nvPr/>
        </p:nvSpPr>
        <p:spPr>
          <a:xfrm>
            <a:off x="6535324" y="5162025"/>
            <a:ext cx="387617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Invisible Resource Drain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A2EB1BF-464B-4436-B9D1-4301A9FF9724}"/>
              </a:ext>
            </a:extLst>
          </p:cNvPr>
          <p:cNvCxnSpPr>
            <a:cxnSpLocks/>
          </p:cNvCxnSpPr>
          <p:nvPr/>
        </p:nvCxnSpPr>
        <p:spPr>
          <a:xfrm>
            <a:off x="876553" y="5361538"/>
            <a:ext cx="0" cy="11694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16060A5-44A3-4FD7-A07C-739404303A2D}"/>
              </a:ext>
            </a:extLst>
          </p:cNvPr>
          <p:cNvSpPr/>
          <p:nvPr/>
        </p:nvSpPr>
        <p:spPr>
          <a:xfrm>
            <a:off x="-22862" y="68012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1C7856A-CB34-40B7-A079-325055E72072}"/>
              </a:ext>
            </a:extLst>
          </p:cNvPr>
          <p:cNvSpPr/>
          <p:nvPr/>
        </p:nvSpPr>
        <p:spPr>
          <a:xfrm>
            <a:off x="4959909" y="3869614"/>
            <a:ext cx="5878468" cy="2300244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1734A-95D6-440A-A67A-8C0DE5FE9F2E}"/>
              </a:ext>
            </a:extLst>
          </p:cNvPr>
          <p:cNvSpPr txBox="1"/>
          <p:nvPr/>
        </p:nvSpPr>
        <p:spPr>
          <a:xfrm>
            <a:off x="4427455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1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78780" y="1962523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5307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01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49980" y="3200271"/>
            <a:ext cx="48920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solidFill>
                  <a:srgbClr val="2B2A26"/>
                </a:solidFill>
                <a:latin typeface="Aptos"/>
              </a:rPr>
              <a:t>Food Waste Pressure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549C7-95AE-4AC7-9B2B-01F08B86F9D2}"/>
              </a:ext>
            </a:extLst>
          </p:cNvPr>
          <p:cNvCxnSpPr/>
          <p:nvPr/>
        </p:nvCxnSpPr>
        <p:spPr>
          <a:xfrm>
            <a:off x="6391373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EE581-07D7-4CDA-8107-2113306628A3}"/>
              </a:ext>
            </a:extLst>
          </p:cNvPr>
          <p:cNvCxnSpPr/>
          <p:nvPr/>
        </p:nvCxnSpPr>
        <p:spPr>
          <a:xfrm>
            <a:off x="5384276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Whole pizza">
            <a:extLst>
              <a:ext uri="{FF2B5EF4-FFF2-40B4-BE49-F238E27FC236}">
                <a16:creationId xmlns:a16="http://schemas.microsoft.com/office/drawing/2014/main" id="{EC4E67AE-AF2A-4082-87CD-215349F0C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7280" y="4246512"/>
            <a:ext cx="471717" cy="471717"/>
          </a:xfrm>
          <a:prstGeom prst="rect">
            <a:avLst/>
          </a:prstGeom>
        </p:spPr>
      </p:pic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1CCE0158-14D9-4CC1-AC4B-9921DD7055C7}"/>
              </a:ext>
            </a:extLst>
          </p:cNvPr>
          <p:cNvSpPr/>
          <p:nvPr/>
        </p:nvSpPr>
        <p:spPr>
          <a:xfrm>
            <a:off x="640080" y="-8418248"/>
            <a:ext cx="2377440" cy="5662210"/>
          </a:xfrm>
          <a:prstGeom prst="round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61882-92D3-4B9D-AB63-7EAFA0FD692F}"/>
              </a:ext>
            </a:extLst>
          </p:cNvPr>
          <p:cNvSpPr txBox="1"/>
          <p:nvPr/>
        </p:nvSpPr>
        <p:spPr>
          <a:xfrm>
            <a:off x="741300" y="-7599445"/>
            <a:ext cx="21750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87C57"/>
                </a:solidFill>
                <a:latin typeface="Aptos"/>
              </a:rPr>
              <a:t>Presentation
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71635E-75CA-485C-8B25-ECE8428F468A}"/>
              </a:ext>
            </a:extLst>
          </p:cNvPr>
          <p:cNvSpPr/>
          <p:nvPr/>
        </p:nvSpPr>
        <p:spPr>
          <a:xfrm>
            <a:off x="840398" y="-6014883"/>
            <a:ext cx="526487" cy="45719"/>
          </a:xfrm>
          <a:prstGeom prst="rect">
            <a:avLst/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0EB297-FA40-427D-87D6-236C4A55BCD8}"/>
              </a:ext>
            </a:extLst>
          </p:cNvPr>
          <p:cNvSpPr txBox="1"/>
          <p:nvPr/>
        </p:nvSpPr>
        <p:spPr>
          <a:xfrm>
            <a:off x="752707" y="-2381520"/>
            <a:ext cx="226481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BarKyanLal App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43FE10EA-B988-432D-978C-B584096DC986}"/>
              </a:ext>
            </a:extLst>
          </p:cNvPr>
          <p:cNvSpPr/>
          <p:nvPr/>
        </p:nvSpPr>
        <p:spPr>
          <a:xfrm>
            <a:off x="17042160" y="126356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2F84C7-F2CF-4292-B46C-D7E3036C8D64}"/>
              </a:ext>
            </a:extLst>
          </p:cNvPr>
          <p:cNvSpPr txBox="1"/>
          <p:nvPr/>
        </p:nvSpPr>
        <p:spPr>
          <a:xfrm>
            <a:off x="24786415" y="145220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B46441DD-3A63-4B11-95F8-678E08182FC0}"/>
              </a:ext>
            </a:extLst>
          </p:cNvPr>
          <p:cNvSpPr/>
          <p:nvPr/>
        </p:nvSpPr>
        <p:spPr>
          <a:xfrm>
            <a:off x="15469677" y="231512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D4D004-F6E3-48E9-B7A3-FA9346B3E326}"/>
              </a:ext>
            </a:extLst>
          </p:cNvPr>
          <p:cNvSpPr txBox="1"/>
          <p:nvPr/>
        </p:nvSpPr>
        <p:spPr>
          <a:xfrm>
            <a:off x="16115747" y="238551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02.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D0A745-5B12-42DB-A6DA-02433647AB28}"/>
              </a:ext>
            </a:extLst>
          </p:cNvPr>
          <p:cNvSpPr txBox="1"/>
          <p:nvPr/>
        </p:nvSpPr>
        <p:spPr>
          <a:xfrm>
            <a:off x="18682511" y="247971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02FDB7-FFC1-4805-B21B-1816A4949F29}"/>
              </a:ext>
            </a:extLst>
          </p:cNvPr>
          <p:cNvSpPr txBox="1"/>
          <p:nvPr/>
        </p:nvSpPr>
        <p:spPr>
          <a:xfrm>
            <a:off x="23213932" y="250376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E6B5AA80-15ED-46AA-9BDB-36BAC2B2D03F}"/>
              </a:ext>
            </a:extLst>
          </p:cNvPr>
          <p:cNvSpPr/>
          <p:nvPr/>
        </p:nvSpPr>
        <p:spPr>
          <a:xfrm>
            <a:off x="14076997" y="3366679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89B03B-7B7A-41DC-9D87-728B65FE78F4}"/>
              </a:ext>
            </a:extLst>
          </p:cNvPr>
          <p:cNvSpPr txBox="1"/>
          <p:nvPr/>
        </p:nvSpPr>
        <p:spPr>
          <a:xfrm>
            <a:off x="14675769" y="343707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03.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7A2983-813A-40B5-A70D-CFDA2ACE1330}"/>
              </a:ext>
            </a:extLst>
          </p:cNvPr>
          <p:cNvSpPr txBox="1"/>
          <p:nvPr/>
        </p:nvSpPr>
        <p:spPr>
          <a:xfrm>
            <a:off x="17305595" y="353127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Prototype Journey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9FCB27-0362-481A-A109-1C4970974797}"/>
              </a:ext>
            </a:extLst>
          </p:cNvPr>
          <p:cNvSpPr txBox="1"/>
          <p:nvPr/>
        </p:nvSpPr>
        <p:spPr>
          <a:xfrm>
            <a:off x="21821252" y="355532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F19479B0-3E53-474E-BF13-9D38EC828A30}"/>
              </a:ext>
            </a:extLst>
          </p:cNvPr>
          <p:cNvSpPr/>
          <p:nvPr/>
        </p:nvSpPr>
        <p:spPr>
          <a:xfrm>
            <a:off x="12761057" y="441824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017BFE-DD24-4CFA-BB3E-16BDB04F9768}"/>
              </a:ext>
            </a:extLst>
          </p:cNvPr>
          <p:cNvSpPr txBox="1"/>
          <p:nvPr/>
        </p:nvSpPr>
        <p:spPr>
          <a:xfrm>
            <a:off x="13422891" y="448863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04.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449AE2-943A-4AC1-B2C5-7C862895F6F7}"/>
              </a:ext>
            </a:extLst>
          </p:cNvPr>
          <p:cNvSpPr txBox="1"/>
          <p:nvPr/>
        </p:nvSpPr>
        <p:spPr>
          <a:xfrm>
            <a:off x="16446855" y="458283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1CCDB5-C81C-4A34-A67F-F5A36C4D1559}"/>
              </a:ext>
            </a:extLst>
          </p:cNvPr>
          <p:cNvSpPr txBox="1"/>
          <p:nvPr/>
        </p:nvSpPr>
        <p:spPr>
          <a:xfrm>
            <a:off x="20505312" y="460688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pic>
        <p:nvPicPr>
          <p:cNvPr id="37" name="Graphic 36" descr="Table and chairs">
            <a:extLst>
              <a:ext uri="{FF2B5EF4-FFF2-40B4-BE49-F238E27FC236}">
                <a16:creationId xmlns:a16="http://schemas.microsoft.com/office/drawing/2014/main" id="{897D8F0D-6717-487F-9E86-CDDB59702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03758" y="2426432"/>
            <a:ext cx="471717" cy="471717"/>
          </a:xfrm>
          <a:prstGeom prst="rect">
            <a:avLst/>
          </a:prstGeom>
        </p:spPr>
      </p:pic>
      <p:pic>
        <p:nvPicPr>
          <p:cNvPr id="38" name="Graphic 37" descr="Monitor">
            <a:extLst>
              <a:ext uri="{FF2B5EF4-FFF2-40B4-BE49-F238E27FC236}">
                <a16:creationId xmlns:a16="http://schemas.microsoft.com/office/drawing/2014/main" id="{9DAAF167-00F0-4C2B-928E-2F990737D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26841" y="3487436"/>
            <a:ext cx="471717" cy="471717"/>
          </a:xfrm>
          <a:prstGeom prst="rect">
            <a:avLst/>
          </a:prstGeom>
        </p:spPr>
      </p:pic>
      <p:pic>
        <p:nvPicPr>
          <p:cNvPr id="39" name="Graphic 38" descr="Bar graph with upward trend">
            <a:extLst>
              <a:ext uri="{FF2B5EF4-FFF2-40B4-BE49-F238E27FC236}">
                <a16:creationId xmlns:a16="http://schemas.microsoft.com/office/drawing/2014/main" id="{2B065CB1-3731-4F7E-A971-2B7470169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00086" y="4546003"/>
            <a:ext cx="471717" cy="47171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0F71F76-B9BF-4799-9BC5-C22AF0D8799D}"/>
              </a:ext>
            </a:extLst>
          </p:cNvPr>
          <p:cNvSpPr txBox="1"/>
          <p:nvPr/>
        </p:nvSpPr>
        <p:spPr>
          <a:xfrm>
            <a:off x="752707" y="-1414482"/>
            <a:ext cx="226481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Blind Mice</a:t>
            </a:r>
            <a:endParaRPr sz="1400" b="0" dirty="0">
              <a:solidFill>
                <a:srgbClr val="6F6C63"/>
              </a:solidFill>
              <a:latin typeface="Bahnschrift Condensed" panose="020B0502040204020203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7F6134E-04CA-479B-BB27-87C5A73D1EB3}"/>
              </a:ext>
            </a:extLst>
          </p:cNvPr>
          <p:cNvGrpSpPr/>
          <p:nvPr/>
        </p:nvGrpSpPr>
        <p:grpSpPr>
          <a:xfrm>
            <a:off x="3627118" y="6519672"/>
            <a:ext cx="4892040" cy="164592"/>
            <a:chOff x="3627118" y="6519672"/>
            <a:chExt cx="4892040" cy="16459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1FB9B0B-ACCC-4DAC-8929-7D07A638108F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898A1C6-2809-4312-9342-4B7E06027459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AF11E2F-90C0-4F32-8095-5FF343F4EAC5}"/>
              </a:ext>
            </a:extLst>
          </p:cNvPr>
          <p:cNvGrpSpPr/>
          <p:nvPr/>
        </p:nvGrpSpPr>
        <p:grpSpPr>
          <a:xfrm>
            <a:off x="1156740" y="-5757905"/>
            <a:ext cx="1296610" cy="1296610"/>
            <a:chOff x="1156740" y="2700288"/>
            <a:chExt cx="1296610" cy="129661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595B4B1-DFE3-4781-956B-75AEEC53E40D}"/>
                </a:ext>
              </a:extLst>
            </p:cNvPr>
            <p:cNvSpPr/>
            <p:nvPr/>
          </p:nvSpPr>
          <p:spPr>
            <a:xfrm>
              <a:off x="1195930" y="2728749"/>
              <a:ext cx="1199244" cy="12289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4B7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0E35F70-5569-4B41-B338-96F015E9F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56740" y="2700288"/>
              <a:ext cx="1296610" cy="129661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void mouldy food with these fridge storage tips - Recommend.my">
            <a:extLst>
              <a:ext uri="{FF2B5EF4-FFF2-40B4-BE49-F238E27FC236}">
                <a16:creationId xmlns:a16="http://schemas.microsoft.com/office/drawing/2014/main" id="{B6F6DD43-0EEF-457D-9FB9-2F1FD3BF5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580" t="86" r="5292" b="-86"/>
          <a:stretch/>
        </p:blipFill>
        <p:spPr bwMode="auto">
          <a:xfrm>
            <a:off x="609600" y="941832"/>
            <a:ext cx="3934968" cy="4937760"/>
          </a:xfrm>
          <a:custGeom>
            <a:avLst/>
            <a:gdLst>
              <a:gd name="connsiteX0" fmla="*/ 305314 w 3934968"/>
              <a:gd name="connsiteY0" fmla="*/ 0 h 4937760"/>
              <a:gd name="connsiteX1" fmla="*/ 3629654 w 3934968"/>
              <a:gd name="connsiteY1" fmla="*/ 0 h 4937760"/>
              <a:gd name="connsiteX2" fmla="*/ 3934968 w 3934968"/>
              <a:gd name="connsiteY2" fmla="*/ 305314 h 4937760"/>
              <a:gd name="connsiteX3" fmla="*/ 3934968 w 3934968"/>
              <a:gd name="connsiteY3" fmla="*/ 4632446 h 4937760"/>
              <a:gd name="connsiteX4" fmla="*/ 3629654 w 3934968"/>
              <a:gd name="connsiteY4" fmla="*/ 4937760 h 4937760"/>
              <a:gd name="connsiteX5" fmla="*/ 305314 w 3934968"/>
              <a:gd name="connsiteY5" fmla="*/ 4937760 h 4937760"/>
              <a:gd name="connsiteX6" fmla="*/ 0 w 3934968"/>
              <a:gd name="connsiteY6" fmla="*/ 4632446 h 4937760"/>
              <a:gd name="connsiteX7" fmla="*/ 0 w 3934968"/>
              <a:gd name="connsiteY7" fmla="*/ 305314 h 4937760"/>
              <a:gd name="connsiteX8" fmla="*/ 305314 w 3934968"/>
              <a:gd name="connsiteY8" fmla="*/ 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968" h="4937760">
                <a:moveTo>
                  <a:pt x="305314" y="0"/>
                </a:moveTo>
                <a:lnTo>
                  <a:pt x="3629654" y="0"/>
                </a:lnTo>
                <a:cubicBezTo>
                  <a:pt x="3798274" y="0"/>
                  <a:pt x="3934968" y="136694"/>
                  <a:pt x="3934968" y="305314"/>
                </a:cubicBezTo>
                <a:lnTo>
                  <a:pt x="3934968" y="4632446"/>
                </a:lnTo>
                <a:cubicBezTo>
                  <a:pt x="3934968" y="4801066"/>
                  <a:pt x="3798274" y="4937760"/>
                  <a:pt x="3629654" y="4937760"/>
                </a:cubicBezTo>
                <a:lnTo>
                  <a:pt x="305314" y="4937760"/>
                </a:lnTo>
                <a:cubicBezTo>
                  <a:pt x="136694" y="4937760"/>
                  <a:pt x="0" y="4801066"/>
                  <a:pt x="0" y="4632446"/>
                </a:cubicBezTo>
                <a:lnTo>
                  <a:pt x="0" y="305314"/>
                </a:lnTo>
                <a:cubicBezTo>
                  <a:pt x="0" y="136694"/>
                  <a:pt x="136694" y="0"/>
                  <a:pt x="305314" y="0"/>
                </a:cubicBezTo>
                <a:close/>
              </a:path>
            </a:pathLst>
          </a:custGeom>
          <a:noFill/>
          <a:effectLst>
            <a:softEdge rad="101600"/>
          </a:effectLst>
        </p:spPr>
      </p:pic>
      <p:sp>
        <p:nvSpPr>
          <p:cNvPr id="3" name="TextBox 2"/>
          <p:cNvSpPr txBox="1"/>
          <p:nvPr/>
        </p:nvSpPr>
        <p:spPr>
          <a:xfrm>
            <a:off x="609600" y="230566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Situation (Expired Food at Home)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2188" y="4661730"/>
            <a:ext cx="417309" cy="972312"/>
          </a:xfrm>
          <a:prstGeom prst="roundRect">
            <a:avLst>
              <a:gd name="adj" fmla="val 2263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B8714B-0B99-410E-9771-142BB67722FD}"/>
              </a:ext>
            </a:extLst>
          </p:cNvPr>
          <p:cNvGrpSpPr/>
          <p:nvPr/>
        </p:nvGrpSpPr>
        <p:grpSpPr>
          <a:xfrm>
            <a:off x="5125212" y="971470"/>
            <a:ext cx="5989320" cy="1451397"/>
            <a:chOff x="5125212" y="971470"/>
            <a:chExt cx="5989320" cy="1451397"/>
          </a:xfrm>
        </p:grpSpPr>
        <p:sp>
          <p:nvSpPr>
            <p:cNvPr id="9" name="Rounded Rectangle 8"/>
            <p:cNvSpPr/>
            <p:nvPr/>
          </p:nvSpPr>
          <p:spPr>
            <a:xfrm>
              <a:off x="5125212" y="97147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5420809" y="1296546"/>
              <a:ext cx="820132" cy="81192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24837" y="1444349"/>
              <a:ext cx="607855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01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535323" y="1399323"/>
            <a:ext cx="366676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Forgotten Expiry Dates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15F9CB-6E4C-497C-858D-8A8472E4B5F8}"/>
              </a:ext>
            </a:extLst>
          </p:cNvPr>
          <p:cNvGrpSpPr/>
          <p:nvPr/>
        </p:nvGrpSpPr>
        <p:grpSpPr>
          <a:xfrm>
            <a:off x="5125212" y="2658132"/>
            <a:ext cx="5989320" cy="1451397"/>
            <a:chOff x="5125212" y="2658132"/>
            <a:chExt cx="5989320" cy="1451397"/>
          </a:xfrm>
        </p:grpSpPr>
        <p:sp>
          <p:nvSpPr>
            <p:cNvPr id="14" name="Rounded Rectangle 13"/>
            <p:cNvSpPr/>
            <p:nvPr/>
          </p:nvSpPr>
          <p:spPr>
            <a:xfrm>
              <a:off x="5125212" y="2658132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5418699" y="2977865"/>
              <a:ext cx="820132" cy="81192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952" y="3122219"/>
              <a:ext cx="60785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02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535323" y="3113354"/>
            <a:ext cx="345487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Redundant Shopping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91397-6F0E-4A74-A9C8-CB89EC33AE8B}"/>
              </a:ext>
            </a:extLst>
          </p:cNvPr>
          <p:cNvGrpSpPr/>
          <p:nvPr/>
        </p:nvGrpSpPr>
        <p:grpSpPr>
          <a:xfrm>
            <a:off x="5125212" y="4295950"/>
            <a:ext cx="5989320" cy="1451397"/>
            <a:chOff x="5125212" y="4295950"/>
            <a:chExt cx="5989320" cy="1451397"/>
          </a:xfrm>
        </p:grpSpPr>
        <p:sp>
          <p:nvSpPr>
            <p:cNvPr id="19" name="Rounded Rectangle 18"/>
            <p:cNvSpPr/>
            <p:nvPr/>
          </p:nvSpPr>
          <p:spPr>
            <a:xfrm>
              <a:off x="5125212" y="429595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19"/>
            <p:cNvSpPr/>
            <p:nvPr/>
          </p:nvSpPr>
          <p:spPr>
            <a:xfrm>
              <a:off x="5420809" y="4615683"/>
              <a:ext cx="820132" cy="81192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06566" y="4760037"/>
              <a:ext cx="64439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03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535323" y="4739136"/>
            <a:ext cx="398867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Invisible Resource Drain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7DFE39-8220-40F2-83AE-6D81E6DAB88F}"/>
              </a:ext>
            </a:extLst>
          </p:cNvPr>
          <p:cNvSpPr/>
          <p:nvPr/>
        </p:nvSpPr>
        <p:spPr>
          <a:xfrm>
            <a:off x="0" y="-6882933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49ED8F-6CFA-4E5E-B9DD-CBE9DA5E6780}"/>
              </a:ext>
            </a:extLst>
          </p:cNvPr>
          <p:cNvSpPr txBox="1"/>
          <p:nvPr/>
        </p:nvSpPr>
        <p:spPr>
          <a:xfrm>
            <a:off x="4427455" y="-6802313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1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2668D6-DE70-4F72-B56B-82C373712A9E}"/>
              </a:ext>
            </a:extLst>
          </p:cNvPr>
          <p:cNvSpPr txBox="1"/>
          <p:nvPr/>
        </p:nvSpPr>
        <p:spPr>
          <a:xfrm>
            <a:off x="5478780" y="-6699319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7AD7F4-8ABB-4108-A132-CFA718468322}"/>
              </a:ext>
            </a:extLst>
          </p:cNvPr>
          <p:cNvSpPr txBox="1"/>
          <p:nvPr/>
        </p:nvSpPr>
        <p:spPr>
          <a:xfrm>
            <a:off x="5465307" y="-6055087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01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2D77CA-FD2F-4C4E-9052-A6FC3BD33BA2}"/>
              </a:ext>
            </a:extLst>
          </p:cNvPr>
          <p:cNvSpPr txBox="1"/>
          <p:nvPr/>
        </p:nvSpPr>
        <p:spPr>
          <a:xfrm>
            <a:off x="3649980" y="-4397551"/>
            <a:ext cx="48920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solidFill>
                  <a:srgbClr val="2B2A26"/>
                </a:solidFill>
                <a:latin typeface="Aptos"/>
              </a:rPr>
              <a:t>Food Waste Pressure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9463204-DA8E-49A8-B0DF-7D531C3FBA2A}"/>
              </a:ext>
            </a:extLst>
          </p:cNvPr>
          <p:cNvCxnSpPr/>
          <p:nvPr/>
        </p:nvCxnSpPr>
        <p:spPr>
          <a:xfrm>
            <a:off x="6391373" y="-6468763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0266BB-52EB-4F53-8A98-FA88FD7E22E1}"/>
              </a:ext>
            </a:extLst>
          </p:cNvPr>
          <p:cNvCxnSpPr/>
          <p:nvPr/>
        </p:nvCxnSpPr>
        <p:spPr>
          <a:xfrm>
            <a:off x="5384276" y="-6468763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Whole pizza">
            <a:extLst>
              <a:ext uri="{FF2B5EF4-FFF2-40B4-BE49-F238E27FC236}">
                <a16:creationId xmlns:a16="http://schemas.microsoft.com/office/drawing/2014/main" id="{52EDCC1E-76A5-4F4C-917F-208875510B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7280" y="-2902425"/>
            <a:ext cx="471717" cy="471717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2E768A58-7BE6-4BDB-98B6-1048B54B870A}"/>
              </a:ext>
            </a:extLst>
          </p:cNvPr>
          <p:cNvGrpSpPr/>
          <p:nvPr/>
        </p:nvGrpSpPr>
        <p:grpSpPr>
          <a:xfrm>
            <a:off x="4884421" y="-361102"/>
            <a:ext cx="2423158" cy="164592"/>
            <a:chOff x="3627118" y="6519672"/>
            <a:chExt cx="4892040" cy="16459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F8D3F26-EC4D-4468-B0A7-D97F33D8AE0D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D6A332F-CD05-4AB3-A091-847F2472D4C0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CEC0BE5-1292-4F1E-9786-4A7563C9A5D5}"/>
              </a:ext>
            </a:extLst>
          </p:cNvPr>
          <p:cNvCxnSpPr>
            <a:cxnSpLocks/>
          </p:cNvCxnSpPr>
          <p:nvPr/>
        </p:nvCxnSpPr>
        <p:spPr>
          <a:xfrm>
            <a:off x="876553" y="5071621"/>
            <a:ext cx="0" cy="131975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809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void mouldy food with these fridge storage tips - Recommend.my">
            <a:extLst>
              <a:ext uri="{FF2B5EF4-FFF2-40B4-BE49-F238E27FC236}">
                <a16:creationId xmlns:a16="http://schemas.microsoft.com/office/drawing/2014/main" id="{B6F6DD43-0EEF-457D-9FB9-2F1FD3BF5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97" t="-141" r="22875" b="141"/>
          <a:stretch/>
        </p:blipFill>
        <p:spPr bwMode="auto">
          <a:xfrm>
            <a:off x="737616" y="941832"/>
            <a:ext cx="4145280" cy="4937760"/>
          </a:xfrm>
          <a:custGeom>
            <a:avLst/>
            <a:gdLst>
              <a:gd name="connsiteX0" fmla="*/ 305314 w 3934968"/>
              <a:gd name="connsiteY0" fmla="*/ 0 h 4937760"/>
              <a:gd name="connsiteX1" fmla="*/ 3629654 w 3934968"/>
              <a:gd name="connsiteY1" fmla="*/ 0 h 4937760"/>
              <a:gd name="connsiteX2" fmla="*/ 3934968 w 3934968"/>
              <a:gd name="connsiteY2" fmla="*/ 305314 h 4937760"/>
              <a:gd name="connsiteX3" fmla="*/ 3934968 w 3934968"/>
              <a:gd name="connsiteY3" fmla="*/ 4632446 h 4937760"/>
              <a:gd name="connsiteX4" fmla="*/ 3629654 w 3934968"/>
              <a:gd name="connsiteY4" fmla="*/ 4937760 h 4937760"/>
              <a:gd name="connsiteX5" fmla="*/ 305314 w 3934968"/>
              <a:gd name="connsiteY5" fmla="*/ 4937760 h 4937760"/>
              <a:gd name="connsiteX6" fmla="*/ 0 w 3934968"/>
              <a:gd name="connsiteY6" fmla="*/ 4632446 h 4937760"/>
              <a:gd name="connsiteX7" fmla="*/ 0 w 3934968"/>
              <a:gd name="connsiteY7" fmla="*/ 305314 h 4937760"/>
              <a:gd name="connsiteX8" fmla="*/ 305314 w 3934968"/>
              <a:gd name="connsiteY8" fmla="*/ 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968" h="4937760">
                <a:moveTo>
                  <a:pt x="305314" y="0"/>
                </a:moveTo>
                <a:lnTo>
                  <a:pt x="3629654" y="0"/>
                </a:lnTo>
                <a:cubicBezTo>
                  <a:pt x="3798274" y="0"/>
                  <a:pt x="3934968" y="136694"/>
                  <a:pt x="3934968" y="305314"/>
                </a:cubicBezTo>
                <a:lnTo>
                  <a:pt x="3934968" y="4632446"/>
                </a:lnTo>
                <a:cubicBezTo>
                  <a:pt x="3934968" y="4801066"/>
                  <a:pt x="3798274" y="4937760"/>
                  <a:pt x="3629654" y="4937760"/>
                </a:cubicBezTo>
                <a:lnTo>
                  <a:pt x="305314" y="4937760"/>
                </a:lnTo>
                <a:cubicBezTo>
                  <a:pt x="136694" y="4937760"/>
                  <a:pt x="0" y="4801066"/>
                  <a:pt x="0" y="4632446"/>
                </a:cubicBezTo>
                <a:lnTo>
                  <a:pt x="0" y="305314"/>
                </a:lnTo>
                <a:cubicBezTo>
                  <a:pt x="0" y="136694"/>
                  <a:pt x="136694" y="0"/>
                  <a:pt x="305314" y="0"/>
                </a:cubicBezTo>
                <a:close/>
              </a:path>
            </a:pathLst>
          </a:custGeom>
          <a:noFill/>
          <a:effectLst>
            <a:softEdge rad="101600"/>
          </a:effectLst>
        </p:spPr>
      </p:pic>
      <p:sp>
        <p:nvSpPr>
          <p:cNvPr id="3" name="TextBox 2"/>
          <p:cNvSpPr txBox="1"/>
          <p:nvPr/>
        </p:nvSpPr>
        <p:spPr>
          <a:xfrm>
            <a:off x="609600" y="230566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Situation (Expired Food at Home)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2188" y="4661730"/>
            <a:ext cx="3669792" cy="972312"/>
          </a:xfrm>
          <a:prstGeom prst="roundRect">
            <a:avLst>
              <a:gd name="adj" fmla="val 22638"/>
            </a:avLst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2396" y="4734467"/>
            <a:ext cx="223142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⚠</a:t>
            </a:r>
            <a:r>
              <a:rPr b="1" dirty="0">
                <a:solidFill>
                  <a:srgbClr val="FFFFFF"/>
                </a:solidFill>
                <a:latin typeface="Aptos"/>
              </a:rPr>
              <a:t> The Daily 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190" y="5123276"/>
            <a:ext cx="3429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ptos"/>
              </a:rPr>
              <a:t>A massive scale of household food waste quietly</a:t>
            </a:r>
            <a:r>
              <a:rPr lang="en-US" sz="10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000" b="0" dirty="0">
                <a:solidFill>
                  <a:srgbClr val="FFFFFF"/>
                </a:solidFill>
                <a:latin typeface="Aptos"/>
              </a:rPr>
              <a:t>draining money, time, and mental energy.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B8714B-0B99-410E-9771-142BB67722FD}"/>
              </a:ext>
            </a:extLst>
          </p:cNvPr>
          <p:cNvGrpSpPr/>
          <p:nvPr/>
        </p:nvGrpSpPr>
        <p:grpSpPr>
          <a:xfrm>
            <a:off x="5582412" y="971470"/>
            <a:ext cx="5989320" cy="1451397"/>
            <a:chOff x="5125212" y="971470"/>
            <a:chExt cx="5989320" cy="1451397"/>
          </a:xfrm>
        </p:grpSpPr>
        <p:sp>
          <p:nvSpPr>
            <p:cNvPr id="9" name="Rounded Rectangle 8"/>
            <p:cNvSpPr/>
            <p:nvPr/>
          </p:nvSpPr>
          <p:spPr>
            <a:xfrm>
              <a:off x="5125212" y="97147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5420809" y="1296546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24837" y="1444349"/>
              <a:ext cx="607855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01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992524" y="1399323"/>
            <a:ext cx="357532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Forgotten Expiry Dates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15F9CB-6E4C-497C-858D-8A8472E4B5F8}"/>
              </a:ext>
            </a:extLst>
          </p:cNvPr>
          <p:cNvGrpSpPr/>
          <p:nvPr/>
        </p:nvGrpSpPr>
        <p:grpSpPr>
          <a:xfrm>
            <a:off x="5582412" y="2658132"/>
            <a:ext cx="5989320" cy="1451397"/>
            <a:chOff x="5125212" y="2658132"/>
            <a:chExt cx="5989320" cy="1451397"/>
          </a:xfrm>
        </p:grpSpPr>
        <p:sp>
          <p:nvSpPr>
            <p:cNvPr id="14" name="Rounded Rectangle 13"/>
            <p:cNvSpPr/>
            <p:nvPr/>
          </p:nvSpPr>
          <p:spPr>
            <a:xfrm>
              <a:off x="5125212" y="2658132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5418699" y="2977865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952" y="3122219"/>
              <a:ext cx="60785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02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992524" y="3113354"/>
            <a:ext cx="336872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Redundant Shopping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91397-6F0E-4A74-A9C8-CB89EC33AE8B}"/>
              </a:ext>
            </a:extLst>
          </p:cNvPr>
          <p:cNvGrpSpPr/>
          <p:nvPr/>
        </p:nvGrpSpPr>
        <p:grpSpPr>
          <a:xfrm>
            <a:off x="5582412" y="4295950"/>
            <a:ext cx="5989320" cy="1451397"/>
            <a:chOff x="5125212" y="4295950"/>
            <a:chExt cx="5989320" cy="1451397"/>
          </a:xfrm>
        </p:grpSpPr>
        <p:sp>
          <p:nvSpPr>
            <p:cNvPr id="19" name="Rounded Rectangle 18"/>
            <p:cNvSpPr/>
            <p:nvPr/>
          </p:nvSpPr>
          <p:spPr>
            <a:xfrm>
              <a:off x="5125212" y="429595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19"/>
            <p:cNvSpPr/>
            <p:nvPr/>
          </p:nvSpPr>
          <p:spPr>
            <a:xfrm>
              <a:off x="5420809" y="4615683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06566" y="4760037"/>
              <a:ext cx="64439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03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992524" y="4739136"/>
            <a:ext cx="388920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Invisible Resource Drain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CEC0BE5-1292-4F1E-9786-4A7563C9A5D5}"/>
              </a:ext>
            </a:extLst>
          </p:cNvPr>
          <p:cNvCxnSpPr>
            <a:cxnSpLocks/>
          </p:cNvCxnSpPr>
          <p:nvPr/>
        </p:nvCxnSpPr>
        <p:spPr>
          <a:xfrm>
            <a:off x="876447" y="4888401"/>
            <a:ext cx="106" cy="54248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083C4AB-3B25-4CA9-8916-EC7ACA1F2C18}"/>
              </a:ext>
            </a:extLst>
          </p:cNvPr>
          <p:cNvSpPr txBox="1"/>
          <p:nvPr/>
        </p:nvSpPr>
        <p:spPr>
          <a:xfrm>
            <a:off x="381000" y="-2426133"/>
            <a:ext cx="3439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Problems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69502C-BDB2-49B0-AEF4-B414A9138864}"/>
              </a:ext>
            </a:extLst>
          </p:cNvPr>
          <p:cNvSpPr txBox="1"/>
          <p:nvPr/>
        </p:nvSpPr>
        <p:spPr>
          <a:xfrm>
            <a:off x="998346" y="-2315231"/>
            <a:ext cx="357001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The Broken Household Memory</a:t>
            </a:r>
            <a:r>
              <a:rPr lang="en-US" sz="2000" b="1" dirty="0">
                <a:solidFill>
                  <a:srgbClr val="487C57"/>
                </a:solidFill>
                <a:latin typeface="Aptos"/>
              </a:rPr>
              <a:t> </a:t>
            </a:r>
            <a:r>
              <a:rPr sz="2000" b="1" dirty="0">
                <a:solidFill>
                  <a:srgbClr val="487C57"/>
                </a:solidFill>
                <a:latin typeface="Aptos"/>
              </a:rPr>
              <a:t>System</a:t>
            </a:r>
          </a:p>
        </p:txBody>
      </p:sp>
      <p:pic>
        <p:nvPicPr>
          <p:cNvPr id="55" name="Graphic 54" descr="Brain in head">
            <a:extLst>
              <a:ext uri="{FF2B5EF4-FFF2-40B4-BE49-F238E27FC236}">
                <a16:creationId xmlns:a16="http://schemas.microsoft.com/office/drawing/2014/main" id="{42DD93FB-E9D1-4FB9-9C90-7996C4957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726" y="-2243461"/>
            <a:ext cx="642620" cy="642620"/>
          </a:xfrm>
          <a:prstGeom prst="rect">
            <a:avLst/>
          </a:prstGeom>
        </p:spPr>
      </p:pic>
      <p:pic>
        <p:nvPicPr>
          <p:cNvPr id="60" name="Picture 2" descr="Organize Your Fridge for Better Food Storage | The Food Lab">
            <a:extLst>
              <a:ext uri="{FF2B5EF4-FFF2-40B4-BE49-F238E27FC236}">
                <a16:creationId xmlns:a16="http://schemas.microsoft.com/office/drawing/2014/main" id="{60180B78-3156-4117-B4DA-E1078498A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16" y="7342227"/>
            <a:ext cx="4233322" cy="3174991"/>
          </a:xfrm>
          <a:prstGeom prst="rect">
            <a:avLst/>
          </a:prstGeom>
          <a:ln>
            <a:noFill/>
          </a:ln>
          <a:effectLst>
            <a:innerShdw blurRad="381000" dist="355600" dir="5400000">
              <a:prstClr val="black">
                <a:alpha val="43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8790B504-3658-4B00-AE2E-649E6973C838}"/>
              </a:ext>
            </a:extLst>
          </p:cNvPr>
          <p:cNvSpPr txBox="1"/>
          <p:nvPr/>
        </p:nvSpPr>
        <p:spPr>
          <a:xfrm>
            <a:off x="381000" y="9621152"/>
            <a:ext cx="413833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BarKyanLal: </a:t>
            </a:r>
          </a:p>
          <a:p>
            <a:r>
              <a:rPr lang="en-US"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Sustainable Development Goal 12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C0C7C98-7094-4A25-BA74-CDE502C322EE}"/>
              </a:ext>
            </a:extLst>
          </p:cNvPr>
          <p:cNvSpPr/>
          <p:nvPr/>
        </p:nvSpPr>
        <p:spPr>
          <a:xfrm>
            <a:off x="248156" y="-1980109"/>
            <a:ext cx="4419536" cy="1283574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0ABDB0-70E6-4DBE-880E-75DB946A3D3B}"/>
              </a:ext>
            </a:extLst>
          </p:cNvPr>
          <p:cNvSpPr txBox="1"/>
          <p:nvPr/>
        </p:nvSpPr>
        <p:spPr>
          <a:xfrm>
            <a:off x="455054" y="-1622942"/>
            <a:ext cx="421263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F6C63"/>
                </a:solidFill>
                <a:latin typeface="Aptos"/>
              </a:rPr>
              <a:t>SDG 12</a:t>
            </a:r>
            <a:r>
              <a:rPr sz="24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2000" b="0" dirty="0">
                <a:solidFill>
                  <a:srgbClr val="6F6C63"/>
                </a:solidFill>
                <a:latin typeface="Aptos"/>
              </a:rPr>
              <a:t>goal.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E008F4F-5BE4-4E31-B147-5D808B1F595B}"/>
              </a:ext>
            </a:extLst>
          </p:cNvPr>
          <p:cNvSpPr/>
          <p:nvPr/>
        </p:nvSpPr>
        <p:spPr>
          <a:xfrm>
            <a:off x="2457924" y="-1920200"/>
            <a:ext cx="1998443" cy="993981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848FB3E-CF02-4DA0-87DA-A97BA782CCAF}"/>
              </a:ext>
            </a:extLst>
          </p:cNvPr>
          <p:cNvSpPr/>
          <p:nvPr/>
        </p:nvSpPr>
        <p:spPr>
          <a:xfrm>
            <a:off x="2456578" y="-1840862"/>
            <a:ext cx="19984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Responsible Consumption</a:t>
            </a:r>
            <a:endParaRPr lang="en-US" dirty="0">
              <a:solidFill>
                <a:srgbClr val="EEEA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Rounded Rectangle 8">
            <a:extLst>
              <a:ext uri="{FF2B5EF4-FFF2-40B4-BE49-F238E27FC236}">
                <a16:creationId xmlns:a16="http://schemas.microsoft.com/office/drawing/2014/main" id="{140DFD8D-0677-42C2-B024-D2BA8F5E8CF6}"/>
              </a:ext>
            </a:extLst>
          </p:cNvPr>
          <p:cNvSpPr/>
          <p:nvPr/>
        </p:nvSpPr>
        <p:spPr>
          <a:xfrm>
            <a:off x="4899190" y="-3696303"/>
            <a:ext cx="3342515" cy="296733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7974A7-D3B9-41B7-A3A6-1827471562C5}"/>
              </a:ext>
            </a:extLst>
          </p:cNvPr>
          <p:cNvSpPr txBox="1"/>
          <p:nvPr/>
        </p:nvSpPr>
        <p:spPr>
          <a:xfrm>
            <a:off x="5141203" y="-2732194"/>
            <a:ext cx="286139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2B2A26"/>
                </a:solidFill>
                <a:latin typeface="Aptos"/>
              </a:rPr>
              <a:t>Financial Waste</a:t>
            </a:r>
          </a:p>
        </p:txBody>
      </p:sp>
      <p:sp>
        <p:nvSpPr>
          <p:cNvPr id="66" name="Rounded Rectangle 18">
            <a:extLst>
              <a:ext uri="{FF2B5EF4-FFF2-40B4-BE49-F238E27FC236}">
                <a16:creationId xmlns:a16="http://schemas.microsoft.com/office/drawing/2014/main" id="{9C197BDB-9A00-48BE-BC74-9C5CC25B411A}"/>
              </a:ext>
            </a:extLst>
          </p:cNvPr>
          <p:cNvSpPr/>
          <p:nvPr/>
        </p:nvSpPr>
        <p:spPr>
          <a:xfrm>
            <a:off x="5852814" y="7629726"/>
            <a:ext cx="3108703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0AD5D1-FFA0-46A1-A33C-DDE0364934C7}"/>
              </a:ext>
            </a:extLst>
          </p:cNvPr>
          <p:cNvSpPr txBox="1"/>
          <p:nvPr/>
        </p:nvSpPr>
        <p:spPr>
          <a:xfrm>
            <a:off x="6570447" y="8802958"/>
            <a:ext cx="167125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Meal Stress</a:t>
            </a:r>
          </a:p>
        </p:txBody>
      </p:sp>
      <p:pic>
        <p:nvPicPr>
          <p:cNvPr id="70" name="Graphic 69" descr="Wallet">
            <a:extLst>
              <a:ext uri="{FF2B5EF4-FFF2-40B4-BE49-F238E27FC236}">
                <a16:creationId xmlns:a16="http://schemas.microsoft.com/office/drawing/2014/main" id="{5682EB5F-6FA2-4ED1-B2F4-3653E0D25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5668" y="-3619763"/>
            <a:ext cx="679776" cy="679776"/>
          </a:xfrm>
          <a:prstGeom prst="rect">
            <a:avLst/>
          </a:prstGeom>
        </p:spPr>
      </p:pic>
      <p:pic>
        <p:nvPicPr>
          <p:cNvPr id="72" name="Graphic 71" descr="Chicken leg">
            <a:extLst>
              <a:ext uri="{FF2B5EF4-FFF2-40B4-BE49-F238E27FC236}">
                <a16:creationId xmlns:a16="http://schemas.microsoft.com/office/drawing/2014/main" id="{4DF72C2B-24C6-493D-9532-2D522052F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5882" y="8005573"/>
            <a:ext cx="479521" cy="479521"/>
          </a:xfrm>
          <a:prstGeom prst="rect">
            <a:avLst/>
          </a:prstGeom>
        </p:spPr>
      </p:pic>
      <p:sp>
        <p:nvSpPr>
          <p:cNvPr id="74" name="Oval 73">
            <a:extLst>
              <a:ext uri="{FF2B5EF4-FFF2-40B4-BE49-F238E27FC236}">
                <a16:creationId xmlns:a16="http://schemas.microsoft.com/office/drawing/2014/main" id="{923D0ED7-18AA-4D47-A822-1C2E813525B0}"/>
              </a:ext>
            </a:extLst>
          </p:cNvPr>
          <p:cNvSpPr/>
          <p:nvPr/>
        </p:nvSpPr>
        <p:spPr>
          <a:xfrm>
            <a:off x="6273309" y="-1675352"/>
            <a:ext cx="467733" cy="443270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 Demi" panose="020E0802020502020306" pitchFamily="34" charset="0"/>
              </a:rPr>
              <a:t>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CA20235-B38E-42EB-83F7-02FE20A53DA4}"/>
              </a:ext>
            </a:extLst>
          </p:cNvPr>
          <p:cNvSpPr/>
          <p:nvPr/>
        </p:nvSpPr>
        <p:spPr>
          <a:xfrm>
            <a:off x="7218142" y="9523325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3</a:t>
            </a:r>
          </a:p>
        </p:txBody>
      </p:sp>
      <p:sp>
        <p:nvSpPr>
          <p:cNvPr id="78" name="Rounded Rectangle 13">
            <a:extLst>
              <a:ext uri="{FF2B5EF4-FFF2-40B4-BE49-F238E27FC236}">
                <a16:creationId xmlns:a16="http://schemas.microsoft.com/office/drawing/2014/main" id="{49E87A64-D976-4826-801F-4466BDF24A50}"/>
              </a:ext>
            </a:extLst>
          </p:cNvPr>
          <p:cNvSpPr/>
          <p:nvPr/>
        </p:nvSpPr>
        <p:spPr>
          <a:xfrm>
            <a:off x="8358870" y="-4186568"/>
            <a:ext cx="3256736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3E8C523-B2B5-4023-9BCC-E282E6BFF425}"/>
              </a:ext>
            </a:extLst>
          </p:cNvPr>
          <p:cNvSpPr txBox="1"/>
          <p:nvPr/>
        </p:nvSpPr>
        <p:spPr>
          <a:xfrm>
            <a:off x="9138695" y="-3741426"/>
            <a:ext cx="169708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Time Loss</a:t>
            </a:r>
          </a:p>
        </p:txBody>
      </p:sp>
      <p:sp>
        <p:nvSpPr>
          <p:cNvPr id="80" name="Rounded Rectangle 23">
            <a:extLst>
              <a:ext uri="{FF2B5EF4-FFF2-40B4-BE49-F238E27FC236}">
                <a16:creationId xmlns:a16="http://schemas.microsoft.com/office/drawing/2014/main" id="{EC8BD739-698B-4DC4-9933-5CFB6D9F9764}"/>
              </a:ext>
            </a:extLst>
          </p:cNvPr>
          <p:cNvSpPr/>
          <p:nvPr/>
        </p:nvSpPr>
        <p:spPr>
          <a:xfrm>
            <a:off x="9171967" y="8710207"/>
            <a:ext cx="2588152" cy="18194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FCA8E1-5FA9-40D0-8040-ABB48D22C8B6}"/>
              </a:ext>
            </a:extLst>
          </p:cNvPr>
          <p:cNvSpPr txBox="1"/>
          <p:nvPr/>
        </p:nvSpPr>
        <p:spPr>
          <a:xfrm>
            <a:off x="9391884" y="9850914"/>
            <a:ext cx="221604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Housewife Burden</a:t>
            </a:r>
          </a:p>
        </p:txBody>
      </p:sp>
      <p:pic>
        <p:nvPicPr>
          <p:cNvPr id="82" name="Graphic 81" descr="Stopwatch">
            <a:extLst>
              <a:ext uri="{FF2B5EF4-FFF2-40B4-BE49-F238E27FC236}">
                <a16:creationId xmlns:a16="http://schemas.microsoft.com/office/drawing/2014/main" id="{0A08575B-DA61-4B9F-9EAF-C60A8F030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04344" y="-4285734"/>
            <a:ext cx="565788" cy="565788"/>
          </a:xfrm>
          <a:prstGeom prst="rect">
            <a:avLst/>
          </a:prstGeom>
        </p:spPr>
      </p:pic>
      <p:pic>
        <p:nvPicPr>
          <p:cNvPr id="83" name="Graphic 82" descr="House">
            <a:extLst>
              <a:ext uri="{FF2B5EF4-FFF2-40B4-BE49-F238E27FC236}">
                <a16:creationId xmlns:a16="http://schemas.microsoft.com/office/drawing/2014/main" id="{92068AB4-8348-4741-A343-3C106F090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43599" y="9186643"/>
            <a:ext cx="401253" cy="401253"/>
          </a:xfrm>
          <a:prstGeom prst="rect">
            <a:avLst/>
          </a:prstGeom>
        </p:spPr>
      </p:pic>
      <p:sp>
        <p:nvSpPr>
          <p:cNvPr id="84" name="Oval 83">
            <a:extLst>
              <a:ext uri="{FF2B5EF4-FFF2-40B4-BE49-F238E27FC236}">
                <a16:creationId xmlns:a16="http://schemas.microsoft.com/office/drawing/2014/main" id="{E2EC6C89-D876-4418-AA41-8C563CA174FD}"/>
              </a:ext>
            </a:extLst>
          </p:cNvPr>
          <p:cNvSpPr/>
          <p:nvPr/>
        </p:nvSpPr>
        <p:spPr>
          <a:xfrm>
            <a:off x="9798215" y="-2985608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2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CB9AD3F-670B-41BB-A95B-6B49F657FD28}"/>
              </a:ext>
            </a:extLst>
          </p:cNvPr>
          <p:cNvSpPr/>
          <p:nvPr/>
        </p:nvSpPr>
        <p:spPr>
          <a:xfrm>
            <a:off x="10360438" y="10401100"/>
            <a:ext cx="211208" cy="211047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erlin Sans FB Demi" panose="020E0802020502020306" pitchFamily="34" charset="0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 descr="Avoid mouldy food with these fridge storage tips - Recommend.my">
            <a:extLst>
              <a:ext uri="{FF2B5EF4-FFF2-40B4-BE49-F238E27FC236}">
                <a16:creationId xmlns:a16="http://schemas.microsoft.com/office/drawing/2014/main" id="{3BD8982A-1A47-48AE-B5BC-C56B9B8C12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97" t="-141" r="22875" b="141"/>
          <a:stretch/>
        </p:blipFill>
        <p:spPr bwMode="auto">
          <a:xfrm>
            <a:off x="-8929247" y="941832"/>
            <a:ext cx="4145280" cy="4937760"/>
          </a:xfrm>
          <a:custGeom>
            <a:avLst/>
            <a:gdLst>
              <a:gd name="connsiteX0" fmla="*/ 305314 w 3934968"/>
              <a:gd name="connsiteY0" fmla="*/ 0 h 4937760"/>
              <a:gd name="connsiteX1" fmla="*/ 3629654 w 3934968"/>
              <a:gd name="connsiteY1" fmla="*/ 0 h 4937760"/>
              <a:gd name="connsiteX2" fmla="*/ 3934968 w 3934968"/>
              <a:gd name="connsiteY2" fmla="*/ 305314 h 4937760"/>
              <a:gd name="connsiteX3" fmla="*/ 3934968 w 3934968"/>
              <a:gd name="connsiteY3" fmla="*/ 4632446 h 4937760"/>
              <a:gd name="connsiteX4" fmla="*/ 3629654 w 3934968"/>
              <a:gd name="connsiteY4" fmla="*/ 4937760 h 4937760"/>
              <a:gd name="connsiteX5" fmla="*/ 305314 w 3934968"/>
              <a:gd name="connsiteY5" fmla="*/ 4937760 h 4937760"/>
              <a:gd name="connsiteX6" fmla="*/ 0 w 3934968"/>
              <a:gd name="connsiteY6" fmla="*/ 4632446 h 4937760"/>
              <a:gd name="connsiteX7" fmla="*/ 0 w 3934968"/>
              <a:gd name="connsiteY7" fmla="*/ 305314 h 4937760"/>
              <a:gd name="connsiteX8" fmla="*/ 305314 w 3934968"/>
              <a:gd name="connsiteY8" fmla="*/ 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968" h="4937760">
                <a:moveTo>
                  <a:pt x="305314" y="0"/>
                </a:moveTo>
                <a:lnTo>
                  <a:pt x="3629654" y="0"/>
                </a:lnTo>
                <a:cubicBezTo>
                  <a:pt x="3798274" y="0"/>
                  <a:pt x="3934968" y="136694"/>
                  <a:pt x="3934968" y="305314"/>
                </a:cubicBezTo>
                <a:lnTo>
                  <a:pt x="3934968" y="4632446"/>
                </a:lnTo>
                <a:cubicBezTo>
                  <a:pt x="3934968" y="4801066"/>
                  <a:pt x="3798274" y="4937760"/>
                  <a:pt x="3629654" y="4937760"/>
                </a:cubicBezTo>
                <a:lnTo>
                  <a:pt x="305314" y="4937760"/>
                </a:lnTo>
                <a:cubicBezTo>
                  <a:pt x="136694" y="4937760"/>
                  <a:pt x="0" y="4801066"/>
                  <a:pt x="0" y="4632446"/>
                </a:cubicBezTo>
                <a:lnTo>
                  <a:pt x="0" y="305314"/>
                </a:lnTo>
                <a:cubicBezTo>
                  <a:pt x="0" y="136694"/>
                  <a:pt x="136694" y="0"/>
                  <a:pt x="305314" y="0"/>
                </a:cubicBezTo>
                <a:close/>
              </a:path>
            </a:pathLst>
          </a:custGeom>
          <a:noFill/>
          <a:effectLst>
            <a:softEdge rad="101600"/>
          </a:effec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036E854-1384-4A3E-B04D-506B41473440}"/>
              </a:ext>
            </a:extLst>
          </p:cNvPr>
          <p:cNvSpPr txBox="1"/>
          <p:nvPr/>
        </p:nvSpPr>
        <p:spPr>
          <a:xfrm>
            <a:off x="-9220194" y="230566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Situation (Expired Food at Home)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E8139D8D-7EF4-4625-AA18-44D563D69467}"/>
              </a:ext>
            </a:extLst>
          </p:cNvPr>
          <p:cNvSpPr/>
          <p:nvPr/>
        </p:nvSpPr>
        <p:spPr>
          <a:xfrm>
            <a:off x="-8526494" y="4661730"/>
            <a:ext cx="3669792" cy="972312"/>
          </a:xfrm>
          <a:prstGeom prst="roundRect">
            <a:avLst>
              <a:gd name="adj" fmla="val 2263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42480A-A3E6-403F-841E-20C52CCD2741}"/>
              </a:ext>
            </a:extLst>
          </p:cNvPr>
          <p:cNvSpPr txBox="1"/>
          <p:nvPr/>
        </p:nvSpPr>
        <p:spPr>
          <a:xfrm>
            <a:off x="-7825172" y="4734467"/>
            <a:ext cx="223142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⚠</a:t>
            </a:r>
            <a:r>
              <a:rPr b="1" dirty="0">
                <a:solidFill>
                  <a:srgbClr val="FFFFFF"/>
                </a:solidFill>
                <a:latin typeface="Aptos"/>
              </a:rPr>
              <a:t> The Daily Friction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CBD8E0-8A85-4D09-BDCD-CC126F7712DD}"/>
              </a:ext>
            </a:extLst>
          </p:cNvPr>
          <p:cNvSpPr txBox="1"/>
          <p:nvPr/>
        </p:nvSpPr>
        <p:spPr>
          <a:xfrm>
            <a:off x="-8016980" y="5123276"/>
            <a:ext cx="3429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ptos"/>
              </a:rPr>
              <a:t>A massive scale of household food waste quietly</a:t>
            </a:r>
            <a:r>
              <a:rPr lang="en-US" sz="10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000" b="0" dirty="0">
                <a:solidFill>
                  <a:srgbClr val="FFFFFF"/>
                </a:solidFill>
                <a:latin typeface="Aptos"/>
              </a:rPr>
              <a:t>draining money, time, and mental energy.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529769B-E23F-47EF-BE71-C5D146445AB4}"/>
              </a:ext>
            </a:extLst>
          </p:cNvPr>
          <p:cNvGrpSpPr/>
          <p:nvPr/>
        </p:nvGrpSpPr>
        <p:grpSpPr>
          <a:xfrm>
            <a:off x="15245953" y="971470"/>
            <a:ext cx="5989320" cy="1451397"/>
            <a:chOff x="5125212" y="971470"/>
            <a:chExt cx="5989320" cy="1451397"/>
          </a:xfrm>
        </p:grpSpPr>
        <p:sp>
          <p:nvSpPr>
            <p:cNvPr id="67" name="Rounded Rectangle 8">
              <a:extLst>
                <a:ext uri="{FF2B5EF4-FFF2-40B4-BE49-F238E27FC236}">
                  <a16:creationId xmlns:a16="http://schemas.microsoft.com/office/drawing/2014/main" id="{E7C4F561-4487-4682-BBB2-BE9E3D205C43}"/>
                </a:ext>
              </a:extLst>
            </p:cNvPr>
            <p:cNvSpPr/>
            <p:nvPr/>
          </p:nvSpPr>
          <p:spPr>
            <a:xfrm>
              <a:off x="5125212" y="97147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5CBC7A1-8CC6-4C51-A3FF-26C10B4AB426}"/>
                </a:ext>
              </a:extLst>
            </p:cNvPr>
            <p:cNvSpPr/>
            <p:nvPr/>
          </p:nvSpPr>
          <p:spPr>
            <a:xfrm>
              <a:off x="5420809" y="1296546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10E9060-5487-406F-BE84-E28311D08A4F}"/>
                </a:ext>
              </a:extLst>
            </p:cNvPr>
            <p:cNvSpPr txBox="1"/>
            <p:nvPr/>
          </p:nvSpPr>
          <p:spPr>
            <a:xfrm>
              <a:off x="5524837" y="1444349"/>
              <a:ext cx="607855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01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EFFEB387-7B33-4389-9D0C-00BEA1440FCF}"/>
              </a:ext>
            </a:extLst>
          </p:cNvPr>
          <p:cNvSpPr txBox="1"/>
          <p:nvPr/>
        </p:nvSpPr>
        <p:spPr>
          <a:xfrm>
            <a:off x="16795599" y="1294819"/>
            <a:ext cx="242620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Forgotten Expiry Dates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605F59-282F-4E97-86EC-B2671F409C9B}"/>
              </a:ext>
            </a:extLst>
          </p:cNvPr>
          <p:cNvSpPr txBox="1"/>
          <p:nvPr/>
        </p:nvSpPr>
        <p:spPr>
          <a:xfrm>
            <a:off x="16666279" y="1709011"/>
            <a:ext cx="412617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F6C63"/>
                </a:solidFill>
                <a:latin typeface="Aptos"/>
              </a:rPr>
              <a:t>Ingredients are forgotten in fridges and cabinets, leading to missed expiry dates and food spoilage.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203883C-B764-43E4-938E-B99070154E84}"/>
              </a:ext>
            </a:extLst>
          </p:cNvPr>
          <p:cNvGrpSpPr/>
          <p:nvPr/>
        </p:nvGrpSpPr>
        <p:grpSpPr>
          <a:xfrm>
            <a:off x="17190059" y="2658132"/>
            <a:ext cx="5989320" cy="1451397"/>
            <a:chOff x="5125212" y="2658132"/>
            <a:chExt cx="5989320" cy="1451397"/>
          </a:xfrm>
        </p:grpSpPr>
        <p:sp>
          <p:nvSpPr>
            <p:cNvPr id="73" name="Rounded Rectangle 13">
              <a:extLst>
                <a:ext uri="{FF2B5EF4-FFF2-40B4-BE49-F238E27FC236}">
                  <a16:creationId xmlns:a16="http://schemas.microsoft.com/office/drawing/2014/main" id="{59397E4F-B89F-4FB3-9C4A-65704A41DAA1}"/>
                </a:ext>
              </a:extLst>
            </p:cNvPr>
            <p:cNvSpPr/>
            <p:nvPr/>
          </p:nvSpPr>
          <p:spPr>
            <a:xfrm>
              <a:off x="5125212" y="2658132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5328A86-1D19-41B7-8372-3D1CD46376EF}"/>
                </a:ext>
              </a:extLst>
            </p:cNvPr>
            <p:cNvSpPr/>
            <p:nvPr/>
          </p:nvSpPr>
          <p:spPr>
            <a:xfrm>
              <a:off x="5418699" y="2977865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27CB6CA-58E8-452C-A376-2F4A0B86C2A5}"/>
                </a:ext>
              </a:extLst>
            </p:cNvPr>
            <p:cNvSpPr txBox="1"/>
            <p:nvPr/>
          </p:nvSpPr>
          <p:spPr>
            <a:xfrm>
              <a:off x="5526952" y="3122219"/>
              <a:ext cx="60785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02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872BEBF1-C0A8-4865-BC8D-57A7B942B3F0}"/>
              </a:ext>
            </a:extLst>
          </p:cNvPr>
          <p:cNvSpPr txBox="1"/>
          <p:nvPr/>
        </p:nvSpPr>
        <p:spPr>
          <a:xfrm>
            <a:off x="18947527" y="2982724"/>
            <a:ext cx="2286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Redundant Shopping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4CC8F0-EF9D-4D74-BFE5-677D41519FAD}"/>
              </a:ext>
            </a:extLst>
          </p:cNvPr>
          <p:cNvSpPr txBox="1"/>
          <p:nvPr/>
        </p:nvSpPr>
        <p:spPr>
          <a:xfrm>
            <a:off x="18677361" y="3406472"/>
            <a:ext cx="4121543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F6C63"/>
                </a:solidFill>
                <a:latin typeface="Aptos"/>
              </a:rPr>
              <a:t>Without a reliable tracking system, grocery shopping is repeated, resulting in unnecessary duplicate purchases.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E526E0C-68F2-43CC-B842-F91E962EE390}"/>
              </a:ext>
            </a:extLst>
          </p:cNvPr>
          <p:cNvGrpSpPr/>
          <p:nvPr/>
        </p:nvGrpSpPr>
        <p:grpSpPr>
          <a:xfrm>
            <a:off x="15723935" y="4295950"/>
            <a:ext cx="5989320" cy="1451397"/>
            <a:chOff x="5125212" y="4295950"/>
            <a:chExt cx="5989320" cy="1451397"/>
          </a:xfrm>
        </p:grpSpPr>
        <p:sp>
          <p:nvSpPr>
            <p:cNvPr id="79" name="Rounded Rectangle 18">
              <a:extLst>
                <a:ext uri="{FF2B5EF4-FFF2-40B4-BE49-F238E27FC236}">
                  <a16:creationId xmlns:a16="http://schemas.microsoft.com/office/drawing/2014/main" id="{BDE89F73-4B67-4004-AECE-51696C9C9054}"/>
                </a:ext>
              </a:extLst>
            </p:cNvPr>
            <p:cNvSpPr/>
            <p:nvPr/>
          </p:nvSpPr>
          <p:spPr>
            <a:xfrm>
              <a:off x="5125212" y="429595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3C196F1-4405-41E3-80BB-A823EC0DE6F0}"/>
                </a:ext>
              </a:extLst>
            </p:cNvPr>
            <p:cNvSpPr/>
            <p:nvPr/>
          </p:nvSpPr>
          <p:spPr>
            <a:xfrm>
              <a:off x="5420809" y="4615683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3CC380F-7125-4DBA-8B3E-0B2C99ED5265}"/>
                </a:ext>
              </a:extLst>
            </p:cNvPr>
            <p:cNvSpPr txBox="1"/>
            <p:nvPr/>
          </p:nvSpPr>
          <p:spPr>
            <a:xfrm>
              <a:off x="5506566" y="4760037"/>
              <a:ext cx="64439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03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FDB1D3E4-5801-4EA3-92F8-386C265C6A2B}"/>
              </a:ext>
            </a:extLst>
          </p:cNvPr>
          <p:cNvSpPr txBox="1"/>
          <p:nvPr/>
        </p:nvSpPr>
        <p:spPr>
          <a:xfrm>
            <a:off x="17564530" y="4556254"/>
            <a:ext cx="263919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Invisible Resource Drain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65A3B5-6D54-4B1A-B97B-0FEB852A2202}"/>
              </a:ext>
            </a:extLst>
          </p:cNvPr>
          <p:cNvSpPr txBox="1"/>
          <p:nvPr/>
        </p:nvSpPr>
        <p:spPr>
          <a:xfrm>
            <a:off x="17165045" y="5000003"/>
            <a:ext cx="412617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F6C63"/>
                </a:solidFill>
                <a:latin typeface="Aptos"/>
              </a:rPr>
              <a:t>This daily friction quietly wastes money and time, adding significant mental load to home managers.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0BA2F6E-C6C5-493E-91EB-D3CDE710E071}"/>
              </a:ext>
            </a:extLst>
          </p:cNvPr>
          <p:cNvCxnSpPr>
            <a:cxnSpLocks/>
          </p:cNvCxnSpPr>
          <p:nvPr/>
        </p:nvCxnSpPr>
        <p:spPr>
          <a:xfrm>
            <a:off x="-9001842" y="4888401"/>
            <a:ext cx="106" cy="54248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59970E-8FAF-43CF-9720-F959A9812959}"/>
              </a:ext>
            </a:extLst>
          </p:cNvPr>
          <p:cNvSpPr/>
          <p:nvPr/>
        </p:nvSpPr>
        <p:spPr>
          <a:xfrm>
            <a:off x="248156" y="1534053"/>
            <a:ext cx="4419536" cy="1283574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130028"/>
            <a:ext cx="3439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Problems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8346" y="760476"/>
            <a:ext cx="357001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The Broken Household Memory</a:t>
            </a:r>
            <a:r>
              <a:rPr lang="en-US" sz="2000" b="1" dirty="0">
                <a:solidFill>
                  <a:srgbClr val="487C57"/>
                </a:solidFill>
                <a:latin typeface="Aptos"/>
              </a:rPr>
              <a:t> </a:t>
            </a:r>
            <a:r>
              <a:rPr sz="2000" b="1" dirty="0">
                <a:solidFill>
                  <a:srgbClr val="487C57"/>
                </a:solidFill>
                <a:latin typeface="Aptos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054" y="1945007"/>
            <a:ext cx="421263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F6C63"/>
                </a:solidFill>
                <a:latin typeface="Aptos"/>
              </a:rPr>
              <a:t>SDG 12</a:t>
            </a:r>
            <a:r>
              <a:rPr sz="24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2000" b="0" dirty="0">
                <a:solidFill>
                  <a:srgbClr val="6F6C63"/>
                </a:solidFill>
                <a:latin typeface="Aptos"/>
              </a:rPr>
              <a:t>goal.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9190" y="182018"/>
            <a:ext cx="3342515" cy="296733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141203" y="1303787"/>
            <a:ext cx="286139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2B2A26"/>
                </a:solidFill>
                <a:latin typeface="Aptos"/>
              </a:rPr>
              <a:t>Financial Waste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8870" y="1189482"/>
            <a:ext cx="3256736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8695" y="2102454"/>
            <a:ext cx="169708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Time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814" y="3909060"/>
            <a:ext cx="3108703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0447" y="4719677"/>
            <a:ext cx="167125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Meal Stress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71967" y="3635982"/>
            <a:ext cx="2588152" cy="18194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91884" y="4308859"/>
            <a:ext cx="221604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Housewife Burden</a:t>
            </a:r>
          </a:p>
        </p:txBody>
      </p:sp>
      <p:pic>
        <p:nvPicPr>
          <p:cNvPr id="29" name="Graphic 28" descr="Brain in head">
            <a:extLst>
              <a:ext uri="{FF2B5EF4-FFF2-40B4-BE49-F238E27FC236}">
                <a16:creationId xmlns:a16="http://schemas.microsoft.com/office/drawing/2014/main" id="{866E2AD3-0D11-4E19-8C7D-1E7F1DE9D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726" y="790682"/>
            <a:ext cx="642620" cy="642620"/>
          </a:xfrm>
          <a:prstGeom prst="rect">
            <a:avLst/>
          </a:prstGeom>
        </p:spPr>
      </p:pic>
      <p:pic>
        <p:nvPicPr>
          <p:cNvPr id="1026" name="Picture 2" descr="Organize Your Fridge for Better Food Storage | The Food Lab">
            <a:extLst>
              <a:ext uri="{FF2B5EF4-FFF2-40B4-BE49-F238E27FC236}">
                <a16:creationId xmlns:a16="http://schemas.microsoft.com/office/drawing/2014/main" id="{F3483C0F-C375-48BD-8D00-35DB62F1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16" y="3040389"/>
            <a:ext cx="4233322" cy="3174991"/>
          </a:xfrm>
          <a:prstGeom prst="rect">
            <a:avLst/>
          </a:prstGeom>
          <a:ln>
            <a:noFill/>
          </a:ln>
          <a:effectLst>
            <a:innerShdw blurRad="381000" dist="355600" dir="5400000">
              <a:prstClr val="black">
                <a:alpha val="43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81000" y="5622192"/>
            <a:ext cx="413833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BarKyanLal: </a:t>
            </a:r>
          </a:p>
          <a:p>
            <a:pPr algn="l"/>
            <a:r>
              <a:rPr lang="en-US"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Sustainable Development Goal 12</a:t>
            </a:r>
            <a:endParaRPr sz="1600" b="1" dirty="0">
              <a:solidFill>
                <a:srgbClr val="EEEA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7" name="Graphic 6" descr="Wallet">
            <a:extLst>
              <a:ext uri="{FF2B5EF4-FFF2-40B4-BE49-F238E27FC236}">
                <a16:creationId xmlns:a16="http://schemas.microsoft.com/office/drawing/2014/main" id="{B35F1B70-6975-4E13-8236-E26361D58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5668" y="337388"/>
            <a:ext cx="679776" cy="679776"/>
          </a:xfrm>
          <a:prstGeom prst="rect">
            <a:avLst/>
          </a:prstGeom>
        </p:spPr>
      </p:pic>
      <p:pic>
        <p:nvPicPr>
          <p:cNvPr id="31" name="Graphic 30" descr="Stopwatch">
            <a:extLst>
              <a:ext uri="{FF2B5EF4-FFF2-40B4-BE49-F238E27FC236}">
                <a16:creationId xmlns:a16="http://schemas.microsoft.com/office/drawing/2014/main" id="{C6DFB701-DA06-47A8-9911-B5722A8454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04344" y="1366761"/>
            <a:ext cx="565788" cy="565788"/>
          </a:xfrm>
          <a:prstGeom prst="rect">
            <a:avLst/>
          </a:prstGeom>
        </p:spPr>
      </p:pic>
      <p:pic>
        <p:nvPicPr>
          <p:cNvPr id="33" name="Graphic 32" descr="Chicken leg">
            <a:extLst>
              <a:ext uri="{FF2B5EF4-FFF2-40B4-BE49-F238E27FC236}">
                <a16:creationId xmlns:a16="http://schemas.microsoft.com/office/drawing/2014/main" id="{30B89BE6-10AE-409E-8B51-562E7212CD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5882" y="4079949"/>
            <a:ext cx="479521" cy="479521"/>
          </a:xfrm>
          <a:prstGeom prst="rect">
            <a:avLst/>
          </a:prstGeom>
        </p:spPr>
      </p:pic>
      <p:pic>
        <p:nvPicPr>
          <p:cNvPr id="35" name="Graphic 34" descr="House">
            <a:extLst>
              <a:ext uri="{FF2B5EF4-FFF2-40B4-BE49-F238E27FC236}">
                <a16:creationId xmlns:a16="http://schemas.microsoft.com/office/drawing/2014/main" id="{135F782A-B50D-4FBF-A7DB-C25A2F57A3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43599" y="3772178"/>
            <a:ext cx="401253" cy="4012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200A2F29-8550-4797-813E-32729953A3E9}"/>
              </a:ext>
            </a:extLst>
          </p:cNvPr>
          <p:cNvSpPr/>
          <p:nvPr/>
        </p:nvSpPr>
        <p:spPr>
          <a:xfrm>
            <a:off x="6273309" y="2597119"/>
            <a:ext cx="467733" cy="443270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 Demi" panose="020E0802020502020306" pitchFamily="34" charset="0"/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22E42F9-DB91-49C2-9CA6-498CE4483FDF}"/>
              </a:ext>
            </a:extLst>
          </p:cNvPr>
          <p:cNvSpPr/>
          <p:nvPr/>
        </p:nvSpPr>
        <p:spPr>
          <a:xfrm>
            <a:off x="9798215" y="3028392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E54286C-1461-4B55-A425-AEB5F2741EF9}"/>
              </a:ext>
            </a:extLst>
          </p:cNvPr>
          <p:cNvSpPr/>
          <p:nvPr/>
        </p:nvSpPr>
        <p:spPr>
          <a:xfrm>
            <a:off x="7218142" y="5708063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5CEB9DC-651A-4FC0-92E7-14C16D0369C7}"/>
              </a:ext>
            </a:extLst>
          </p:cNvPr>
          <p:cNvSpPr/>
          <p:nvPr/>
        </p:nvSpPr>
        <p:spPr>
          <a:xfrm>
            <a:off x="10360438" y="5178020"/>
            <a:ext cx="211208" cy="211047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erlin Sans FB Demi" panose="020E0802020502020306" pitchFamily="34" charset="0"/>
              </a:rPr>
              <a:t>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A296B9B-FD7E-49A3-A68E-599EE38B4CE2}"/>
              </a:ext>
            </a:extLst>
          </p:cNvPr>
          <p:cNvSpPr/>
          <p:nvPr/>
        </p:nvSpPr>
        <p:spPr>
          <a:xfrm>
            <a:off x="-12201793" y="1001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619453F-9469-4EE7-8F5C-42372B797849}"/>
              </a:ext>
            </a:extLst>
          </p:cNvPr>
          <p:cNvGrpSpPr/>
          <p:nvPr/>
        </p:nvGrpSpPr>
        <p:grpSpPr>
          <a:xfrm rot="5400000">
            <a:off x="-1541551" y="3265790"/>
            <a:ext cx="2321655" cy="164592"/>
            <a:chOff x="3627118" y="6519672"/>
            <a:chExt cx="4892040" cy="164592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BB4A14CE-FC88-407B-831E-94FB40F25927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93F4AFF-62D8-4ECF-B69C-EBAB4B3521AE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1B7F067C-AA7A-4991-9C01-05E1FB0AF7E3}"/>
              </a:ext>
            </a:extLst>
          </p:cNvPr>
          <p:cNvSpPr txBox="1"/>
          <p:nvPr/>
        </p:nvSpPr>
        <p:spPr>
          <a:xfrm>
            <a:off x="-10306866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2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8A1D96-7354-4537-8C34-4F7CBCBE8ED7}"/>
              </a:ext>
            </a:extLst>
          </p:cNvPr>
          <p:cNvSpPr txBox="1"/>
          <p:nvPr/>
        </p:nvSpPr>
        <p:spPr>
          <a:xfrm>
            <a:off x="-8520856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2.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53201C-D540-428E-AD35-B4081AEA7E1F}"/>
              </a:ext>
            </a:extLst>
          </p:cNvPr>
          <p:cNvSpPr txBox="1"/>
          <p:nvPr/>
        </p:nvSpPr>
        <p:spPr>
          <a:xfrm>
            <a:off x="-9845834" y="3200271"/>
            <a:ext cx="455835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DCFA33-F472-4F32-985C-012F79FDF2F5}"/>
              </a:ext>
            </a:extLst>
          </p:cNvPr>
          <p:cNvGrpSpPr/>
          <p:nvPr/>
        </p:nvGrpSpPr>
        <p:grpSpPr>
          <a:xfrm>
            <a:off x="-8892837" y="1962523"/>
            <a:ext cx="1355889" cy="261610"/>
            <a:chOff x="-8892837" y="1962523"/>
            <a:chExt cx="1355889" cy="26161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9F8B6E6-D020-4609-AE66-5F2A6595DE2B}"/>
                </a:ext>
              </a:extLst>
            </p:cNvPr>
            <p:cNvSpPr txBox="1"/>
            <p:nvPr/>
          </p:nvSpPr>
          <p:spPr>
            <a:xfrm>
              <a:off x="-8798333" y="1962523"/>
              <a:ext cx="118872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E77762"/>
                  </a:solidFill>
                  <a:latin typeface="Aptos"/>
                </a:rPr>
                <a:t>CHAPTER</a:t>
              </a:r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BA0988D-6168-4E85-BA9A-AE49AC5B5F14}"/>
                </a:ext>
              </a:extLst>
            </p:cNvPr>
            <p:cNvCxnSpPr/>
            <p:nvPr/>
          </p:nvCxnSpPr>
          <p:spPr>
            <a:xfrm>
              <a:off x="-7885740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D343F35-8A93-4B5B-BBFE-A0246AC6FF12}"/>
                </a:ext>
              </a:extLst>
            </p:cNvPr>
            <p:cNvCxnSpPr/>
            <p:nvPr/>
          </p:nvCxnSpPr>
          <p:spPr>
            <a:xfrm>
              <a:off x="-8892837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5" name="Graphic 94" descr="Table and chairs">
            <a:extLst>
              <a:ext uri="{FF2B5EF4-FFF2-40B4-BE49-F238E27FC236}">
                <a16:creationId xmlns:a16="http://schemas.microsoft.com/office/drawing/2014/main" id="{149C3A7A-C438-44CD-85B2-ED482619C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8721778" y="4246512"/>
            <a:ext cx="471717" cy="471717"/>
          </a:xfrm>
          <a:prstGeom prst="rect">
            <a:avLst/>
          </a:prstGeom>
        </p:spPr>
      </p:pic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64B823E-6F47-4B0B-A635-07C848C0BBC1}"/>
              </a:ext>
            </a:extLst>
          </p:cNvPr>
          <p:cNvSpPr/>
          <p:nvPr/>
        </p:nvSpPr>
        <p:spPr>
          <a:xfrm>
            <a:off x="2457924" y="1683607"/>
            <a:ext cx="1998443" cy="993981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4CF348-0E9D-41DE-ACF9-26F70A101961}"/>
              </a:ext>
            </a:extLst>
          </p:cNvPr>
          <p:cNvSpPr/>
          <p:nvPr/>
        </p:nvSpPr>
        <p:spPr>
          <a:xfrm>
            <a:off x="2456578" y="1816732"/>
            <a:ext cx="19984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Responsible Consumption</a:t>
            </a:r>
            <a:endParaRPr lang="en-US" dirty="0">
              <a:solidFill>
                <a:srgbClr val="EEEA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36E627-C264-4F5C-8678-9955CCE06E0F}"/>
              </a:ext>
            </a:extLst>
          </p:cNvPr>
          <p:cNvSpPr/>
          <p:nvPr/>
        </p:nvSpPr>
        <p:spPr>
          <a:xfrm>
            <a:off x="248156" y="1263887"/>
            <a:ext cx="4419536" cy="1283574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2C5979-B485-4AE9-B85B-4A35EC20542D}"/>
              </a:ext>
            </a:extLst>
          </p:cNvPr>
          <p:cNvSpPr txBox="1"/>
          <p:nvPr/>
        </p:nvSpPr>
        <p:spPr>
          <a:xfrm>
            <a:off x="381000" y="26118"/>
            <a:ext cx="3439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Problems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FFDE18-24F7-40F3-BE76-5BC2BF34C681}"/>
              </a:ext>
            </a:extLst>
          </p:cNvPr>
          <p:cNvSpPr txBox="1"/>
          <p:nvPr/>
        </p:nvSpPr>
        <p:spPr>
          <a:xfrm>
            <a:off x="998346" y="573438"/>
            <a:ext cx="357001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The Broken Household Memory</a:t>
            </a:r>
            <a:r>
              <a:rPr lang="en-US" sz="2000" b="1" dirty="0">
                <a:solidFill>
                  <a:srgbClr val="487C57"/>
                </a:solidFill>
                <a:latin typeface="Aptos"/>
              </a:rPr>
              <a:t> </a:t>
            </a:r>
            <a:r>
              <a:rPr sz="2000" b="1" dirty="0">
                <a:solidFill>
                  <a:srgbClr val="487C57"/>
                </a:solidFill>
                <a:latin typeface="Aptos"/>
              </a:rPr>
              <a:t>System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C08707-53B8-4E20-BFF4-5BA08077E730}"/>
              </a:ext>
            </a:extLst>
          </p:cNvPr>
          <p:cNvSpPr txBox="1"/>
          <p:nvPr/>
        </p:nvSpPr>
        <p:spPr>
          <a:xfrm>
            <a:off x="355726" y="1273284"/>
            <a:ext cx="4212638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Food waste stems from a broken household memory</a:t>
            </a:r>
            <a:r>
              <a:rPr lang="en-US" sz="12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system, not just carelessness.</a:t>
            </a:r>
            <a:endParaRPr lang="en-US" sz="1200" b="0" dirty="0">
              <a:solidFill>
                <a:srgbClr val="6F6C63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
Ingredients disappear into the fridge until they expire,</a:t>
            </a:r>
            <a:r>
              <a:rPr lang="en-US" sz="12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disrupting sustainable consumption and </a:t>
            </a:r>
            <a:r>
              <a:rPr sz="1400" b="1" dirty="0">
                <a:solidFill>
                  <a:srgbClr val="6F6C63"/>
                </a:solidFill>
                <a:latin typeface="Aptos"/>
              </a:rPr>
              <a:t>SDG 12</a:t>
            </a:r>
            <a:r>
              <a:rPr sz="14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goals.</a:t>
            </a:r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8F7E53DA-6656-49B0-98FA-4292B3A8A0D1}"/>
              </a:ext>
            </a:extLst>
          </p:cNvPr>
          <p:cNvSpPr/>
          <p:nvPr/>
        </p:nvSpPr>
        <p:spPr>
          <a:xfrm>
            <a:off x="4899190" y="56843"/>
            <a:ext cx="3342515" cy="280903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00B337-D5A8-49D7-95B8-44C777C0BF31}"/>
              </a:ext>
            </a:extLst>
          </p:cNvPr>
          <p:cNvSpPr txBox="1"/>
          <p:nvPr/>
        </p:nvSpPr>
        <p:spPr>
          <a:xfrm>
            <a:off x="5158293" y="888194"/>
            <a:ext cx="2848136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2B2A26"/>
                </a:solidFill>
                <a:latin typeface="Aptos"/>
              </a:rPr>
              <a:t>Financial Waste</a:t>
            </a:r>
          </a:p>
        </p:txBody>
      </p:sp>
      <p:sp>
        <p:nvSpPr>
          <p:cNvPr id="30" name="Rounded Rectangle 13">
            <a:extLst>
              <a:ext uri="{FF2B5EF4-FFF2-40B4-BE49-F238E27FC236}">
                <a16:creationId xmlns:a16="http://schemas.microsoft.com/office/drawing/2014/main" id="{64CD7A7D-240D-4214-9DBA-842A9EA86FB1}"/>
              </a:ext>
            </a:extLst>
          </p:cNvPr>
          <p:cNvSpPr/>
          <p:nvPr/>
        </p:nvSpPr>
        <p:spPr>
          <a:xfrm>
            <a:off x="8358870" y="856970"/>
            <a:ext cx="3256736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55BF44-35CB-473B-9BED-D01D5D8B1958}"/>
              </a:ext>
            </a:extLst>
          </p:cNvPr>
          <p:cNvSpPr txBox="1"/>
          <p:nvPr/>
        </p:nvSpPr>
        <p:spPr>
          <a:xfrm>
            <a:off x="9149189" y="1680246"/>
            <a:ext cx="233179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Time Loss</a:t>
            </a:r>
          </a:p>
        </p:txBody>
      </p:sp>
      <p:sp>
        <p:nvSpPr>
          <p:cNvPr id="33" name="Rounded Rectangle 18">
            <a:extLst>
              <a:ext uri="{FF2B5EF4-FFF2-40B4-BE49-F238E27FC236}">
                <a16:creationId xmlns:a16="http://schemas.microsoft.com/office/drawing/2014/main" id="{1007BCD3-E522-4D82-966A-407DF70338C8}"/>
              </a:ext>
            </a:extLst>
          </p:cNvPr>
          <p:cNvSpPr/>
          <p:nvPr/>
        </p:nvSpPr>
        <p:spPr>
          <a:xfrm>
            <a:off x="5852814" y="3368728"/>
            <a:ext cx="3108703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DA3ED-1024-4D0F-B77D-7DA4EA1DA6F2}"/>
              </a:ext>
            </a:extLst>
          </p:cNvPr>
          <p:cNvSpPr txBox="1"/>
          <p:nvPr/>
        </p:nvSpPr>
        <p:spPr>
          <a:xfrm>
            <a:off x="6570558" y="4084371"/>
            <a:ext cx="233179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Meal Stress</a:t>
            </a:r>
          </a:p>
        </p:txBody>
      </p:sp>
      <p:sp>
        <p:nvSpPr>
          <p:cNvPr id="36" name="Rounded Rectangle 23">
            <a:extLst>
              <a:ext uri="{FF2B5EF4-FFF2-40B4-BE49-F238E27FC236}">
                <a16:creationId xmlns:a16="http://schemas.microsoft.com/office/drawing/2014/main" id="{01465A60-5B70-41B8-9B9C-52F1032CDC81}"/>
              </a:ext>
            </a:extLst>
          </p:cNvPr>
          <p:cNvSpPr/>
          <p:nvPr/>
        </p:nvSpPr>
        <p:spPr>
          <a:xfrm>
            <a:off x="9171967" y="3199560"/>
            <a:ext cx="2588152" cy="18194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6D42E2-30B2-4209-8282-6477352BD0E8}"/>
              </a:ext>
            </a:extLst>
          </p:cNvPr>
          <p:cNvSpPr txBox="1"/>
          <p:nvPr/>
        </p:nvSpPr>
        <p:spPr>
          <a:xfrm>
            <a:off x="9396580" y="3878973"/>
            <a:ext cx="233179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Housewife Burden</a:t>
            </a:r>
          </a:p>
        </p:txBody>
      </p:sp>
      <p:pic>
        <p:nvPicPr>
          <p:cNvPr id="39" name="Graphic 38" descr="Brain in head">
            <a:extLst>
              <a:ext uri="{FF2B5EF4-FFF2-40B4-BE49-F238E27FC236}">
                <a16:creationId xmlns:a16="http://schemas.microsoft.com/office/drawing/2014/main" id="{C6BF4DED-0C27-4071-B366-E03BE61A45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726" y="603644"/>
            <a:ext cx="642620" cy="642620"/>
          </a:xfrm>
          <a:prstGeom prst="rect">
            <a:avLst/>
          </a:prstGeom>
        </p:spPr>
      </p:pic>
      <p:pic>
        <p:nvPicPr>
          <p:cNvPr id="40" name="Picture 2" descr="Organize Your Fridge for Better Food Storage | The Food Lab">
            <a:extLst>
              <a:ext uri="{FF2B5EF4-FFF2-40B4-BE49-F238E27FC236}">
                <a16:creationId xmlns:a16="http://schemas.microsoft.com/office/drawing/2014/main" id="{5F6FA750-348C-4D70-9EC5-30D13E8D8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16" y="2645531"/>
            <a:ext cx="4233322" cy="3174991"/>
          </a:xfrm>
          <a:prstGeom prst="rect">
            <a:avLst/>
          </a:prstGeom>
          <a:ln>
            <a:noFill/>
          </a:ln>
          <a:effectLst>
            <a:innerShdw blurRad="381000" dist="355600" dir="5400000">
              <a:prstClr val="black">
                <a:alpha val="43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E64153A-BFEF-4A23-B6FF-9634530B5CED}"/>
              </a:ext>
            </a:extLst>
          </p:cNvPr>
          <p:cNvSpPr txBox="1"/>
          <p:nvPr/>
        </p:nvSpPr>
        <p:spPr>
          <a:xfrm>
            <a:off x="381000" y="5215400"/>
            <a:ext cx="413833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SDG 12: Responsible Consumption</a:t>
            </a:r>
          </a:p>
        </p:txBody>
      </p:sp>
      <p:pic>
        <p:nvPicPr>
          <p:cNvPr id="42" name="Graphic 41" descr="Wallet">
            <a:extLst>
              <a:ext uri="{FF2B5EF4-FFF2-40B4-BE49-F238E27FC236}">
                <a16:creationId xmlns:a16="http://schemas.microsoft.com/office/drawing/2014/main" id="{FF00C088-450C-4F5C-B289-EB816C72F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5752" y="79617"/>
            <a:ext cx="680876" cy="680876"/>
          </a:xfrm>
          <a:prstGeom prst="rect">
            <a:avLst/>
          </a:prstGeom>
        </p:spPr>
      </p:pic>
      <p:pic>
        <p:nvPicPr>
          <p:cNvPr id="43" name="Graphic 42" descr="Stopwatch">
            <a:extLst>
              <a:ext uri="{FF2B5EF4-FFF2-40B4-BE49-F238E27FC236}">
                <a16:creationId xmlns:a16="http://schemas.microsoft.com/office/drawing/2014/main" id="{9AA90489-B88C-432E-B3AB-A16E5BE8A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4892" y="985241"/>
            <a:ext cx="566704" cy="566704"/>
          </a:xfrm>
          <a:prstGeom prst="rect">
            <a:avLst/>
          </a:prstGeom>
        </p:spPr>
      </p:pic>
      <p:pic>
        <p:nvPicPr>
          <p:cNvPr id="44" name="Graphic 43" descr="Chicken leg">
            <a:extLst>
              <a:ext uri="{FF2B5EF4-FFF2-40B4-BE49-F238E27FC236}">
                <a16:creationId xmlns:a16="http://schemas.microsoft.com/office/drawing/2014/main" id="{C983095C-2055-4E5C-9EF4-5FE92F4FA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4891" y="3552741"/>
            <a:ext cx="480298" cy="480298"/>
          </a:xfrm>
          <a:prstGeom prst="rect">
            <a:avLst/>
          </a:prstGeom>
        </p:spPr>
      </p:pic>
      <p:pic>
        <p:nvPicPr>
          <p:cNvPr id="45" name="Graphic 44" descr="House">
            <a:extLst>
              <a:ext uri="{FF2B5EF4-FFF2-40B4-BE49-F238E27FC236}">
                <a16:creationId xmlns:a16="http://schemas.microsoft.com/office/drawing/2014/main" id="{63881255-5B5A-4FD2-B784-48DED4224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0565" y="3353743"/>
            <a:ext cx="401902" cy="401902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0810A5B8-2A3F-48D9-A501-BDAF15DEE265}"/>
              </a:ext>
            </a:extLst>
          </p:cNvPr>
          <p:cNvSpPr/>
          <p:nvPr/>
        </p:nvSpPr>
        <p:spPr>
          <a:xfrm>
            <a:off x="6273309" y="2145714"/>
            <a:ext cx="467733" cy="443270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 Demi" panose="020E0802020502020306" pitchFamily="34" charset="0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B42D69E-343C-43AD-82D5-F60685F181EC}"/>
              </a:ext>
            </a:extLst>
          </p:cNvPr>
          <p:cNvSpPr/>
          <p:nvPr/>
        </p:nvSpPr>
        <p:spPr>
          <a:xfrm>
            <a:off x="9798215" y="2612752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2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2526548-8B2B-443D-A322-C09AD904C7A2}"/>
              </a:ext>
            </a:extLst>
          </p:cNvPr>
          <p:cNvSpPr/>
          <p:nvPr/>
        </p:nvSpPr>
        <p:spPr>
          <a:xfrm>
            <a:off x="10339172" y="4688912"/>
            <a:ext cx="211208" cy="211047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erlin Sans FB Demi" panose="020E0802020502020306" pitchFamily="34" charset="0"/>
              </a:rPr>
              <a:t>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A8EE18E-8B04-44A2-BC83-C986198C3D13}"/>
              </a:ext>
            </a:extLst>
          </p:cNvPr>
          <p:cNvSpPr/>
          <p:nvPr/>
        </p:nvSpPr>
        <p:spPr>
          <a:xfrm>
            <a:off x="7196876" y="5148880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BC4DF9-2B00-46DE-9E91-C78BE9C4E5E3}"/>
              </a:ext>
            </a:extLst>
          </p:cNvPr>
          <p:cNvSpPr/>
          <p:nvPr/>
        </p:nvSpPr>
        <p:spPr>
          <a:xfrm>
            <a:off x="-22862" y="-5140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9099AA-F27E-4058-9C56-FC6875D3DEC2}"/>
              </a:ext>
            </a:extLst>
          </p:cNvPr>
          <p:cNvGrpSpPr/>
          <p:nvPr/>
        </p:nvGrpSpPr>
        <p:grpSpPr>
          <a:xfrm rot="5400000">
            <a:off x="9269434" y="3346704"/>
            <a:ext cx="4892040" cy="164592"/>
            <a:chOff x="3627118" y="6519672"/>
            <a:chExt cx="4892040" cy="16459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2326504-DE64-4666-8B8B-21C8D770E50E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A3D1FA-CA17-45DA-BC77-A3BF7C7EB385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9374427-3CF6-471E-AF6D-FAD701A7D1DD}"/>
              </a:ext>
            </a:extLst>
          </p:cNvPr>
          <p:cNvSpPr txBox="1"/>
          <p:nvPr/>
        </p:nvSpPr>
        <p:spPr>
          <a:xfrm>
            <a:off x="4427455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2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96BA8B-C077-41BD-AA98-CEC3BE6C759A}"/>
              </a:ext>
            </a:extLst>
          </p:cNvPr>
          <p:cNvSpPr txBox="1"/>
          <p:nvPr/>
        </p:nvSpPr>
        <p:spPr>
          <a:xfrm>
            <a:off x="5465307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2.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F77845-B044-45FB-A9AA-0DF6E250183A}"/>
              </a:ext>
            </a:extLst>
          </p:cNvPr>
          <p:cNvSpPr txBox="1"/>
          <p:nvPr/>
        </p:nvSpPr>
        <p:spPr>
          <a:xfrm>
            <a:off x="3793960" y="3200271"/>
            <a:ext cx="455835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5E39EC-1482-4011-80A8-0C1A0565453A}"/>
              </a:ext>
            </a:extLst>
          </p:cNvPr>
          <p:cNvGrpSpPr/>
          <p:nvPr/>
        </p:nvGrpSpPr>
        <p:grpSpPr>
          <a:xfrm>
            <a:off x="5384276" y="1962523"/>
            <a:ext cx="1355889" cy="261610"/>
            <a:chOff x="5384276" y="1962523"/>
            <a:chExt cx="1355889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769D2E-DE8E-4D40-BFD5-389410134D68}"/>
                </a:ext>
              </a:extLst>
            </p:cNvPr>
            <p:cNvSpPr txBox="1"/>
            <p:nvPr/>
          </p:nvSpPr>
          <p:spPr>
            <a:xfrm>
              <a:off x="5478780" y="1962523"/>
              <a:ext cx="118872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E77762"/>
                  </a:solidFill>
                  <a:latin typeface="Aptos"/>
                </a:rPr>
                <a:t>CHAPTER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3BF851E-784D-410E-B816-8D5409DA7E36}"/>
                </a:ext>
              </a:extLst>
            </p:cNvPr>
            <p:cNvCxnSpPr/>
            <p:nvPr/>
          </p:nvCxnSpPr>
          <p:spPr>
            <a:xfrm>
              <a:off x="6391373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567A6CF-9EEC-42CA-8B14-F3A3AA3B4BE8}"/>
                </a:ext>
              </a:extLst>
            </p:cNvPr>
            <p:cNvCxnSpPr/>
            <p:nvPr/>
          </p:nvCxnSpPr>
          <p:spPr>
            <a:xfrm>
              <a:off x="5384276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 descr="Table and chairs">
            <a:extLst>
              <a:ext uri="{FF2B5EF4-FFF2-40B4-BE49-F238E27FC236}">
                <a16:creationId xmlns:a16="http://schemas.microsoft.com/office/drawing/2014/main" id="{150922B4-9D0E-4374-95FF-91C9E617B0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60140" y="4246512"/>
            <a:ext cx="471717" cy="471717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67EC5BF9-E890-4F93-9CD9-5F91AAEED4E4}"/>
              </a:ext>
            </a:extLst>
          </p:cNvPr>
          <p:cNvSpPr/>
          <p:nvPr/>
        </p:nvSpPr>
        <p:spPr>
          <a:xfrm>
            <a:off x="12116334" y="-5140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2953351-4953-4E12-A066-A5A963586AC7}"/>
              </a:ext>
            </a:extLst>
          </p:cNvPr>
          <p:cNvGrpSpPr/>
          <p:nvPr/>
        </p:nvGrpSpPr>
        <p:grpSpPr>
          <a:xfrm>
            <a:off x="12492272" y="2271637"/>
            <a:ext cx="203773" cy="2541622"/>
            <a:chOff x="363178" y="982980"/>
            <a:chExt cx="164592" cy="489204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A759AFA-401B-469F-A731-83A980308A3B}"/>
                </a:ext>
              </a:extLst>
            </p:cNvPr>
            <p:cNvGrpSpPr/>
            <p:nvPr/>
          </p:nvGrpSpPr>
          <p:grpSpPr>
            <a:xfrm rot="5400000">
              <a:off x="-2000546" y="3346704"/>
              <a:ext cx="4892040" cy="164592"/>
              <a:chOff x="3627118" y="6519672"/>
              <a:chExt cx="4892040" cy="16459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81F73D50-44D6-45C8-8C9D-8F15731248CD}"/>
                  </a:ext>
                </a:extLst>
              </p:cNvPr>
              <p:cNvSpPr/>
              <p:nvPr/>
            </p:nvSpPr>
            <p:spPr>
              <a:xfrm>
                <a:off x="3627118" y="6519672"/>
                <a:ext cx="4892040" cy="16459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5011521-C41E-4802-A2B4-79406D08DCBB}"/>
                  </a:ext>
                </a:extLst>
              </p:cNvPr>
              <p:cNvSpPr/>
              <p:nvPr/>
            </p:nvSpPr>
            <p:spPr>
              <a:xfrm>
                <a:off x="7594133" y="6560820"/>
                <a:ext cx="249381" cy="822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489809B-A53A-423A-9E2F-DFDB399B07FC}"/>
                </a:ext>
              </a:extLst>
            </p:cNvPr>
            <p:cNvCxnSpPr/>
            <p:nvPr/>
          </p:nvCxnSpPr>
          <p:spPr>
            <a:xfrm>
              <a:off x="451359" y="1616927"/>
              <a:ext cx="76411" cy="82519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2BAD476-6840-4306-A2FB-A263EEED62D5}"/>
              </a:ext>
            </a:extLst>
          </p:cNvPr>
          <p:cNvSpPr txBox="1"/>
          <p:nvPr/>
        </p:nvSpPr>
        <p:spPr>
          <a:xfrm>
            <a:off x="14895576" y="163763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Solution (</a:t>
            </a:r>
            <a:r>
              <a:rPr sz="2800" b="1" dirty="0">
                <a:solidFill>
                  <a:srgbClr val="2B2A26"/>
                </a:solidFill>
                <a:latin typeface="Aptos"/>
              </a:rPr>
              <a:t>AI Guided Meal Planning</a:t>
            </a:r>
            <a:r>
              <a:rPr lang="en-US" sz="2800" b="1" dirty="0">
                <a:solidFill>
                  <a:srgbClr val="2B2A26"/>
                </a:solidFill>
                <a:latin typeface="Aptos"/>
              </a:rPr>
              <a:t>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CF4F0B-E24D-4889-BB89-A6CD9AF32449}"/>
              </a:ext>
            </a:extLst>
          </p:cNvPr>
          <p:cNvSpPr txBox="1"/>
          <p:nvPr/>
        </p:nvSpPr>
        <p:spPr>
          <a:xfrm>
            <a:off x="15726178" y="694662"/>
            <a:ext cx="6217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Seamless App Workflow</a:t>
            </a: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66C85627-0234-4759-B591-C91E4EEE59FB}"/>
              </a:ext>
            </a:extLst>
          </p:cNvPr>
          <p:cNvSpPr/>
          <p:nvPr/>
        </p:nvSpPr>
        <p:spPr>
          <a:xfrm>
            <a:off x="14895576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C4B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7D2238A-FEEA-4415-9F50-7B698B4BD923}"/>
              </a:ext>
            </a:extLst>
          </p:cNvPr>
          <p:cNvSpPr/>
          <p:nvPr/>
        </p:nvSpPr>
        <p:spPr>
          <a:xfrm>
            <a:off x="15792587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A097DB-743A-404D-8570-7E724C35422A}"/>
              </a:ext>
            </a:extLst>
          </p:cNvPr>
          <p:cNvSpPr txBox="1"/>
          <p:nvPr/>
        </p:nvSpPr>
        <p:spPr>
          <a:xfrm>
            <a:off x="15104353" y="2614931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Expiry Alerts</a:t>
            </a:r>
          </a:p>
        </p:txBody>
      </p:sp>
      <p:sp>
        <p:nvSpPr>
          <p:cNvPr id="67" name="Rounded Rectangle 10">
            <a:extLst>
              <a:ext uri="{FF2B5EF4-FFF2-40B4-BE49-F238E27FC236}">
                <a16:creationId xmlns:a16="http://schemas.microsoft.com/office/drawing/2014/main" id="{70C0BF75-6603-4186-8BEE-92B1CE1B5500}"/>
              </a:ext>
            </a:extLst>
          </p:cNvPr>
          <p:cNvSpPr/>
          <p:nvPr/>
        </p:nvSpPr>
        <p:spPr>
          <a:xfrm>
            <a:off x="18070744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5306564-D786-4A44-A9FA-06A99ECF3A5E}"/>
              </a:ext>
            </a:extLst>
          </p:cNvPr>
          <p:cNvSpPr/>
          <p:nvPr/>
        </p:nvSpPr>
        <p:spPr>
          <a:xfrm>
            <a:off x="18967755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049C02-BE04-425A-A05A-AEDBD2BE0E52}"/>
              </a:ext>
            </a:extLst>
          </p:cNvPr>
          <p:cNvSpPr txBox="1"/>
          <p:nvPr/>
        </p:nvSpPr>
        <p:spPr>
          <a:xfrm>
            <a:off x="18279521" y="2614931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2A26"/>
                </a:solidFill>
                <a:latin typeface="Aptos"/>
              </a:rPr>
              <a:t>AI Recipes</a:t>
            </a:r>
          </a:p>
        </p:txBody>
      </p:sp>
      <p:sp>
        <p:nvSpPr>
          <p:cNvPr id="71" name="Rounded Rectangle 15">
            <a:extLst>
              <a:ext uri="{FF2B5EF4-FFF2-40B4-BE49-F238E27FC236}">
                <a16:creationId xmlns:a16="http://schemas.microsoft.com/office/drawing/2014/main" id="{BC2750BA-30A9-40B9-AF96-E2BBE92A8D2F}"/>
              </a:ext>
            </a:extLst>
          </p:cNvPr>
          <p:cNvSpPr/>
          <p:nvPr/>
        </p:nvSpPr>
        <p:spPr>
          <a:xfrm>
            <a:off x="21060717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D0D41E7-ABBB-455B-9411-0EB0EE182A00}"/>
              </a:ext>
            </a:extLst>
          </p:cNvPr>
          <p:cNvSpPr/>
          <p:nvPr/>
        </p:nvSpPr>
        <p:spPr>
          <a:xfrm>
            <a:off x="21957728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8AA033-AA23-4FB3-B507-7F95DFA43942}"/>
              </a:ext>
            </a:extLst>
          </p:cNvPr>
          <p:cNvSpPr txBox="1"/>
          <p:nvPr/>
        </p:nvSpPr>
        <p:spPr>
          <a:xfrm>
            <a:off x="21269494" y="2430099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Storage Tracking</a:t>
            </a:r>
          </a:p>
        </p:txBody>
      </p:sp>
      <p:sp>
        <p:nvSpPr>
          <p:cNvPr id="75" name="Rounded Rectangle 20">
            <a:extLst>
              <a:ext uri="{FF2B5EF4-FFF2-40B4-BE49-F238E27FC236}">
                <a16:creationId xmlns:a16="http://schemas.microsoft.com/office/drawing/2014/main" id="{A51E7091-6406-4D30-AF68-7C0C25C52E8D}"/>
              </a:ext>
            </a:extLst>
          </p:cNvPr>
          <p:cNvSpPr/>
          <p:nvPr/>
        </p:nvSpPr>
        <p:spPr>
          <a:xfrm>
            <a:off x="24189586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DEF095F-258B-465D-825D-D365A023004B}"/>
              </a:ext>
            </a:extLst>
          </p:cNvPr>
          <p:cNvSpPr/>
          <p:nvPr/>
        </p:nvSpPr>
        <p:spPr>
          <a:xfrm>
            <a:off x="25086597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F7FEC6-7F83-4645-B34E-D5217CF2AB91}"/>
              </a:ext>
            </a:extLst>
          </p:cNvPr>
          <p:cNvSpPr txBox="1"/>
          <p:nvPr/>
        </p:nvSpPr>
        <p:spPr>
          <a:xfrm>
            <a:off x="24398363" y="2430099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1" dirty="0">
                <a:solidFill>
                  <a:srgbClr val="2B2A26"/>
                </a:solidFill>
                <a:latin typeface="Aptos"/>
              </a:rPr>
              <a:t>Shared Inventory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35B84F-F3EB-4332-BAD8-AE62E6BAC77A}"/>
              </a:ext>
            </a:extLst>
          </p:cNvPr>
          <p:cNvGrpSpPr/>
          <p:nvPr/>
        </p:nvGrpSpPr>
        <p:grpSpPr>
          <a:xfrm>
            <a:off x="15682657" y="5147226"/>
            <a:ext cx="3641518" cy="960120"/>
            <a:chOff x="14895576" y="5147226"/>
            <a:chExt cx="3641518" cy="960120"/>
          </a:xfrm>
        </p:grpSpPr>
        <p:sp>
          <p:nvSpPr>
            <p:cNvPr id="79" name="Rounded Rectangle 25">
              <a:extLst>
                <a:ext uri="{FF2B5EF4-FFF2-40B4-BE49-F238E27FC236}">
                  <a16:creationId xmlns:a16="http://schemas.microsoft.com/office/drawing/2014/main" id="{529A841F-31F8-429C-90A1-50972ACE0D9C}"/>
                </a:ext>
              </a:extLst>
            </p:cNvPr>
            <p:cNvSpPr/>
            <p:nvPr/>
          </p:nvSpPr>
          <p:spPr>
            <a:xfrm>
              <a:off x="14895576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CF2B9BA9-F94E-4F4D-9BA1-840D4D3DCCA0}"/>
                </a:ext>
              </a:extLst>
            </p:cNvPr>
            <p:cNvSpPr/>
            <p:nvPr/>
          </p:nvSpPr>
          <p:spPr>
            <a:xfrm>
              <a:off x="17962149" y="5553954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57C3DD-7243-4C93-B63D-DD37F8390193}"/>
              </a:ext>
            </a:extLst>
          </p:cNvPr>
          <p:cNvGrpSpPr/>
          <p:nvPr/>
        </p:nvGrpSpPr>
        <p:grpSpPr>
          <a:xfrm>
            <a:off x="18938845" y="5147226"/>
            <a:ext cx="3641518" cy="960120"/>
            <a:chOff x="18626328" y="5147226"/>
            <a:chExt cx="3641518" cy="960120"/>
          </a:xfrm>
        </p:grpSpPr>
        <p:sp>
          <p:nvSpPr>
            <p:cNvPr id="81" name="Rounded Rectangle 29">
              <a:extLst>
                <a:ext uri="{FF2B5EF4-FFF2-40B4-BE49-F238E27FC236}">
                  <a16:creationId xmlns:a16="http://schemas.microsoft.com/office/drawing/2014/main" id="{93CED6B7-16BB-4DEE-91FE-195134549549}"/>
                </a:ext>
              </a:extLst>
            </p:cNvPr>
            <p:cNvSpPr/>
            <p:nvPr/>
          </p:nvSpPr>
          <p:spPr>
            <a:xfrm>
              <a:off x="18626328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B4667069-ABC7-4D11-9554-ED26461DE8D7}"/>
                </a:ext>
              </a:extLst>
            </p:cNvPr>
            <p:cNvSpPr/>
            <p:nvPr/>
          </p:nvSpPr>
          <p:spPr>
            <a:xfrm>
              <a:off x="21573255" y="5230946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67185BD-F643-441F-BDCF-1F6989FD2F8C}"/>
              </a:ext>
            </a:extLst>
          </p:cNvPr>
          <p:cNvGrpSpPr/>
          <p:nvPr/>
        </p:nvGrpSpPr>
        <p:grpSpPr>
          <a:xfrm>
            <a:off x="22357080" y="5147226"/>
            <a:ext cx="3641518" cy="960120"/>
            <a:chOff x="22357080" y="5147226"/>
            <a:chExt cx="3641518" cy="960120"/>
          </a:xfrm>
        </p:grpSpPr>
        <p:sp>
          <p:nvSpPr>
            <p:cNvPr id="83" name="Rounded Rectangle 33">
              <a:extLst>
                <a:ext uri="{FF2B5EF4-FFF2-40B4-BE49-F238E27FC236}">
                  <a16:creationId xmlns:a16="http://schemas.microsoft.com/office/drawing/2014/main" id="{B5D26F65-267A-4BE6-A519-F065179B45FC}"/>
                </a:ext>
              </a:extLst>
            </p:cNvPr>
            <p:cNvSpPr/>
            <p:nvPr/>
          </p:nvSpPr>
          <p:spPr>
            <a:xfrm>
              <a:off x="22357080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9937291E-0B8F-470D-8BBA-03CA7FDB988B}"/>
                </a:ext>
              </a:extLst>
            </p:cNvPr>
            <p:cNvSpPr/>
            <p:nvPr/>
          </p:nvSpPr>
          <p:spPr>
            <a:xfrm rot="18157744" flipH="1" flipV="1">
              <a:off x="23735117" y="5296690"/>
              <a:ext cx="64960" cy="52191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1135C922-BC99-4481-82B0-EAAB70DC59BF}"/>
              </a:ext>
            </a:extLst>
          </p:cNvPr>
          <p:cNvSpPr txBox="1"/>
          <p:nvPr/>
        </p:nvSpPr>
        <p:spPr>
          <a:xfrm>
            <a:off x="17072973" y="5384154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Food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E56B92-1D75-40EC-9780-05D52795277B}"/>
              </a:ext>
            </a:extLst>
          </p:cNvPr>
          <p:cNvSpPr txBox="1"/>
          <p:nvPr/>
        </p:nvSpPr>
        <p:spPr>
          <a:xfrm>
            <a:off x="20152092" y="5389139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Money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9659E3-7C39-4BB9-94A6-AD6793109EB7}"/>
              </a:ext>
            </a:extLst>
          </p:cNvPr>
          <p:cNvSpPr txBox="1"/>
          <p:nvPr/>
        </p:nvSpPr>
        <p:spPr>
          <a:xfrm>
            <a:off x="23015195" y="5391266"/>
            <a:ext cx="302666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Simplify Management</a:t>
            </a:r>
          </a:p>
        </p:txBody>
      </p:sp>
      <p:pic>
        <p:nvPicPr>
          <p:cNvPr id="85" name="Graphic 84" descr="Network diagram">
            <a:extLst>
              <a:ext uri="{FF2B5EF4-FFF2-40B4-BE49-F238E27FC236}">
                <a16:creationId xmlns:a16="http://schemas.microsoft.com/office/drawing/2014/main" id="{46572E29-DE8C-49E6-87F5-F2687481E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75606" y="733752"/>
            <a:ext cx="342225" cy="342225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D7D870C4-F44C-4E75-BBCB-6014DB9A0967}"/>
              </a:ext>
            </a:extLst>
          </p:cNvPr>
          <p:cNvSpPr txBox="1"/>
          <p:nvPr/>
        </p:nvSpPr>
        <p:spPr>
          <a:xfrm rot="10800000">
            <a:off x="17096539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305F579-EDA1-4DAB-A0F3-1ADF5CFDFE6F}"/>
              </a:ext>
            </a:extLst>
          </p:cNvPr>
          <p:cNvSpPr txBox="1"/>
          <p:nvPr/>
        </p:nvSpPr>
        <p:spPr>
          <a:xfrm rot="10800000">
            <a:off x="19909652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FD53340-BBA8-4EAE-BFBC-FB960AF81152}"/>
              </a:ext>
            </a:extLst>
          </p:cNvPr>
          <p:cNvSpPr txBox="1"/>
          <p:nvPr/>
        </p:nvSpPr>
        <p:spPr>
          <a:xfrm rot="10800000">
            <a:off x="22741151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pic>
        <p:nvPicPr>
          <p:cNvPr id="90" name="Graphic 89" descr="Alarm clock">
            <a:extLst>
              <a:ext uri="{FF2B5EF4-FFF2-40B4-BE49-F238E27FC236}">
                <a16:creationId xmlns:a16="http://schemas.microsoft.com/office/drawing/2014/main" id="{069BF51A-28AF-4F24-B328-104DA68FC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918824" y="1419542"/>
            <a:ext cx="484361" cy="484361"/>
          </a:xfrm>
          <a:prstGeom prst="rect">
            <a:avLst/>
          </a:prstGeom>
        </p:spPr>
      </p:pic>
      <p:pic>
        <p:nvPicPr>
          <p:cNvPr id="91" name="Graphic 90" descr="Open book">
            <a:extLst>
              <a:ext uri="{FF2B5EF4-FFF2-40B4-BE49-F238E27FC236}">
                <a16:creationId xmlns:a16="http://schemas.microsoft.com/office/drawing/2014/main" id="{4D769C18-C212-498F-BA6C-00B1FE4C5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125272" y="1461576"/>
            <a:ext cx="452613" cy="452613"/>
          </a:xfrm>
          <a:prstGeom prst="rect">
            <a:avLst/>
          </a:prstGeom>
        </p:spPr>
      </p:pic>
      <p:pic>
        <p:nvPicPr>
          <p:cNvPr id="92" name="Graphic 91" descr="Family with two children">
            <a:extLst>
              <a:ext uri="{FF2B5EF4-FFF2-40B4-BE49-F238E27FC236}">
                <a16:creationId xmlns:a16="http://schemas.microsoft.com/office/drawing/2014/main" id="{8AF6910F-9CE7-4AB4-8F12-14C11AF96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35843" y="1433165"/>
            <a:ext cx="452613" cy="452613"/>
          </a:xfrm>
          <a:prstGeom prst="rect">
            <a:avLst/>
          </a:prstGeom>
        </p:spPr>
      </p:pic>
      <p:pic>
        <p:nvPicPr>
          <p:cNvPr id="93" name="Graphic 92" descr="Box">
            <a:extLst>
              <a:ext uri="{FF2B5EF4-FFF2-40B4-BE49-F238E27FC236}">
                <a16:creationId xmlns:a16="http://schemas.microsoft.com/office/drawing/2014/main" id="{F43567EE-B77E-4EAA-A1CE-D07A17A63D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106974" y="1451543"/>
            <a:ext cx="452613" cy="452613"/>
          </a:xfrm>
          <a:prstGeom prst="rect">
            <a:avLst/>
          </a:prstGeom>
        </p:spPr>
      </p:pic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8F6026E-54BD-4931-9F5A-0DDED368E3FD}"/>
              </a:ext>
            </a:extLst>
          </p:cNvPr>
          <p:cNvCxnSpPr/>
          <p:nvPr/>
        </p:nvCxnSpPr>
        <p:spPr>
          <a:xfrm>
            <a:off x="15104353" y="3902149"/>
            <a:ext cx="2112614" cy="0"/>
          </a:xfrm>
          <a:prstGeom prst="line">
            <a:avLst/>
          </a:prstGeom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4F182A4-73B8-4338-B4C4-47ED37441F11}"/>
              </a:ext>
            </a:extLst>
          </p:cNvPr>
          <p:cNvCxnSpPr/>
          <p:nvPr/>
        </p:nvCxnSpPr>
        <p:spPr>
          <a:xfrm>
            <a:off x="18320965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AC932D5-3235-4E1B-9668-CC178FB54050}"/>
              </a:ext>
            </a:extLst>
          </p:cNvPr>
          <p:cNvCxnSpPr/>
          <p:nvPr/>
        </p:nvCxnSpPr>
        <p:spPr>
          <a:xfrm>
            <a:off x="21307255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2475019-390F-488E-B60E-E8D2DFD8CE98}"/>
              </a:ext>
            </a:extLst>
          </p:cNvPr>
          <p:cNvCxnSpPr/>
          <p:nvPr/>
        </p:nvCxnSpPr>
        <p:spPr>
          <a:xfrm>
            <a:off x="24399852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DEEF350-6612-44B7-8EBB-4ACBD9C42179}"/>
              </a:ext>
            </a:extLst>
          </p:cNvPr>
          <p:cNvGrpSpPr/>
          <p:nvPr/>
        </p:nvGrpSpPr>
        <p:grpSpPr>
          <a:xfrm>
            <a:off x="16465746" y="5366784"/>
            <a:ext cx="522037" cy="485197"/>
            <a:chOff x="16465746" y="5366784"/>
            <a:chExt cx="522037" cy="485197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C4289C8-53FA-4B20-8E95-AF5A4B0C16C8}"/>
                </a:ext>
              </a:extLst>
            </p:cNvPr>
            <p:cNvSpPr/>
            <p:nvPr/>
          </p:nvSpPr>
          <p:spPr>
            <a:xfrm>
              <a:off x="16465746" y="5366784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1" name="Graphic 100" descr="Apple">
              <a:extLst>
                <a:ext uri="{FF2B5EF4-FFF2-40B4-BE49-F238E27FC236}">
                  <a16:creationId xmlns:a16="http://schemas.microsoft.com/office/drawing/2014/main" id="{22858567-B1FA-4D20-B683-AFBB3011EC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6601013" y="5456558"/>
              <a:ext cx="270350" cy="27035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8726BAC-6033-4F00-9EF0-B70A27B16458}"/>
              </a:ext>
            </a:extLst>
          </p:cNvPr>
          <p:cNvGrpSpPr/>
          <p:nvPr/>
        </p:nvGrpSpPr>
        <p:grpSpPr>
          <a:xfrm>
            <a:off x="19527466" y="5369447"/>
            <a:ext cx="522037" cy="485197"/>
            <a:chOff x="19527466" y="5369447"/>
            <a:chExt cx="522037" cy="485197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4C5DDE2-D44B-43AE-BC8C-5F401EB1F193}"/>
                </a:ext>
              </a:extLst>
            </p:cNvPr>
            <p:cNvSpPr/>
            <p:nvPr/>
          </p:nvSpPr>
          <p:spPr>
            <a:xfrm>
              <a:off x="19527466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2" name="Graphic 101" descr="Coins">
              <a:extLst>
                <a:ext uri="{FF2B5EF4-FFF2-40B4-BE49-F238E27FC236}">
                  <a16:creationId xmlns:a16="http://schemas.microsoft.com/office/drawing/2014/main" id="{B06DC264-78B3-43FB-B1BD-A03E9336B2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659771" y="5473545"/>
              <a:ext cx="270350" cy="27035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B26993-0610-43E9-8831-CE2826F0DF49}"/>
              </a:ext>
            </a:extLst>
          </p:cNvPr>
          <p:cNvGrpSpPr/>
          <p:nvPr/>
        </p:nvGrpSpPr>
        <p:grpSpPr>
          <a:xfrm>
            <a:off x="22482525" y="5369447"/>
            <a:ext cx="522037" cy="485197"/>
            <a:chOff x="22482525" y="5369447"/>
            <a:chExt cx="522037" cy="485197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C3FF66E0-7C05-4497-B613-241021114D59}"/>
                </a:ext>
              </a:extLst>
            </p:cNvPr>
            <p:cNvSpPr/>
            <p:nvPr/>
          </p:nvSpPr>
          <p:spPr>
            <a:xfrm>
              <a:off x="22482525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3" name="Graphic 102" descr="Circle with right arrow">
              <a:extLst>
                <a:ext uri="{FF2B5EF4-FFF2-40B4-BE49-F238E27FC236}">
                  <a16:creationId xmlns:a16="http://schemas.microsoft.com/office/drawing/2014/main" id="{6208013E-0764-42DF-8D5C-B26C671B95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2618541" y="5480998"/>
              <a:ext cx="270350" cy="2703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7A3C423-0029-4CA3-B6B5-A5E72E491100}"/>
              </a:ext>
            </a:extLst>
          </p:cNvPr>
          <p:cNvSpPr/>
          <p:nvPr/>
        </p:nvSpPr>
        <p:spPr>
          <a:xfrm>
            <a:off x="248156" y="-5712649"/>
            <a:ext cx="4419536" cy="1283574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AA25A2-A2C4-4346-B41C-1D39997D278B}"/>
              </a:ext>
            </a:extLst>
          </p:cNvPr>
          <p:cNvSpPr txBox="1"/>
          <p:nvPr/>
        </p:nvSpPr>
        <p:spPr>
          <a:xfrm>
            <a:off x="381000" y="-6950418"/>
            <a:ext cx="3439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Problems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C19841-1ABA-469D-AF20-9E84149D39C8}"/>
              </a:ext>
            </a:extLst>
          </p:cNvPr>
          <p:cNvSpPr txBox="1"/>
          <p:nvPr/>
        </p:nvSpPr>
        <p:spPr>
          <a:xfrm>
            <a:off x="998346" y="-6403098"/>
            <a:ext cx="357001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The Broken Household Memory</a:t>
            </a:r>
            <a:r>
              <a:rPr lang="en-US" sz="2000" b="1" dirty="0">
                <a:solidFill>
                  <a:srgbClr val="487C57"/>
                </a:solidFill>
                <a:latin typeface="Aptos"/>
              </a:rPr>
              <a:t> </a:t>
            </a:r>
            <a:r>
              <a:rPr sz="2000" b="1" dirty="0">
                <a:solidFill>
                  <a:srgbClr val="487C57"/>
                </a:solidFill>
                <a:latin typeface="Aptos"/>
              </a:rPr>
              <a:t>System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CD0DA5-6DE3-4B84-9EF4-8810C721819B}"/>
              </a:ext>
            </a:extLst>
          </p:cNvPr>
          <p:cNvSpPr txBox="1"/>
          <p:nvPr/>
        </p:nvSpPr>
        <p:spPr>
          <a:xfrm>
            <a:off x="355726" y="-5703252"/>
            <a:ext cx="4212638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Food waste stems from a broken household memory</a:t>
            </a:r>
            <a:r>
              <a:rPr lang="en-US" sz="12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system, not just carelessness.</a:t>
            </a:r>
            <a:endParaRPr lang="en-US" sz="1200" b="0" dirty="0">
              <a:solidFill>
                <a:srgbClr val="6F6C63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
Ingredients disappear into the fridge until they expire,</a:t>
            </a:r>
            <a:r>
              <a:rPr lang="en-US" sz="12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disrupting sustainable consumption and </a:t>
            </a:r>
            <a:r>
              <a:rPr sz="1400" b="1" dirty="0">
                <a:solidFill>
                  <a:srgbClr val="6F6C63"/>
                </a:solidFill>
                <a:latin typeface="Aptos"/>
              </a:rPr>
              <a:t>SDG 12</a:t>
            </a:r>
            <a:r>
              <a:rPr sz="14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goals.</a:t>
            </a:r>
          </a:p>
        </p:txBody>
      </p:sp>
      <p:sp>
        <p:nvSpPr>
          <p:cNvPr id="78" name="Rounded Rectangle 8">
            <a:extLst>
              <a:ext uri="{FF2B5EF4-FFF2-40B4-BE49-F238E27FC236}">
                <a16:creationId xmlns:a16="http://schemas.microsoft.com/office/drawing/2014/main" id="{E8824EB4-F4F1-4986-950D-395A5D7825AE}"/>
              </a:ext>
            </a:extLst>
          </p:cNvPr>
          <p:cNvSpPr/>
          <p:nvPr/>
        </p:nvSpPr>
        <p:spPr>
          <a:xfrm>
            <a:off x="4899190" y="-6898428"/>
            <a:ext cx="3342515" cy="296733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516EC5-4D84-4B00-83C6-312A3724D191}"/>
              </a:ext>
            </a:extLst>
          </p:cNvPr>
          <p:cNvSpPr txBox="1"/>
          <p:nvPr/>
        </p:nvSpPr>
        <p:spPr>
          <a:xfrm>
            <a:off x="5774990" y="-6747563"/>
            <a:ext cx="217791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Financial Waste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0F7608-935B-487B-A1B7-718846472EBA}"/>
              </a:ext>
            </a:extLst>
          </p:cNvPr>
          <p:cNvSpPr txBox="1"/>
          <p:nvPr/>
        </p:nvSpPr>
        <p:spPr>
          <a:xfrm>
            <a:off x="5289591" y="-6063241"/>
            <a:ext cx="2540446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6F6C63"/>
                </a:solidFill>
                <a:latin typeface="Aptos"/>
              </a:rPr>
              <a:t>Users pay twice for the same item when forgotten ingredients expire and require repurchasing.</a:t>
            </a:r>
          </a:p>
        </p:txBody>
      </p:sp>
      <p:sp>
        <p:nvSpPr>
          <p:cNvPr id="81" name="Rounded Rectangle 13">
            <a:extLst>
              <a:ext uri="{FF2B5EF4-FFF2-40B4-BE49-F238E27FC236}">
                <a16:creationId xmlns:a16="http://schemas.microsoft.com/office/drawing/2014/main" id="{B268AFDA-FCD2-47F4-800A-0527B8B3D1E2}"/>
              </a:ext>
            </a:extLst>
          </p:cNvPr>
          <p:cNvSpPr/>
          <p:nvPr/>
        </p:nvSpPr>
        <p:spPr>
          <a:xfrm>
            <a:off x="8358870" y="-6119566"/>
            <a:ext cx="3256736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BA4C5DF-3C97-445E-A743-85D7EDA6C5D4}"/>
              </a:ext>
            </a:extLst>
          </p:cNvPr>
          <p:cNvSpPr txBox="1"/>
          <p:nvPr/>
        </p:nvSpPr>
        <p:spPr>
          <a:xfrm>
            <a:off x="9531971" y="-5955511"/>
            <a:ext cx="1783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Time Loss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2B266D-2E77-4C93-947D-5FF0B9442F11}"/>
              </a:ext>
            </a:extLst>
          </p:cNvPr>
          <p:cNvSpPr txBox="1"/>
          <p:nvPr/>
        </p:nvSpPr>
        <p:spPr>
          <a:xfrm>
            <a:off x="8853382" y="-5425166"/>
            <a:ext cx="226771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6F6C63"/>
                </a:solidFill>
                <a:latin typeface="Aptos"/>
              </a:rPr>
              <a:t>Extra time is wasted checking the fridge to verify which ingredients remain safe for cooking.</a:t>
            </a:r>
          </a:p>
        </p:txBody>
      </p:sp>
      <p:sp>
        <p:nvSpPr>
          <p:cNvPr id="85" name="Rounded Rectangle 18">
            <a:extLst>
              <a:ext uri="{FF2B5EF4-FFF2-40B4-BE49-F238E27FC236}">
                <a16:creationId xmlns:a16="http://schemas.microsoft.com/office/drawing/2014/main" id="{DAC77BF3-51DE-4B4C-96C0-3CACA0894F50}"/>
              </a:ext>
            </a:extLst>
          </p:cNvPr>
          <p:cNvSpPr/>
          <p:nvPr/>
        </p:nvSpPr>
        <p:spPr>
          <a:xfrm>
            <a:off x="5852814" y="-3607808"/>
            <a:ext cx="3108703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D8C17C2-EEE5-4FA2-8076-717B9E0BF913}"/>
              </a:ext>
            </a:extLst>
          </p:cNvPr>
          <p:cNvSpPr txBox="1"/>
          <p:nvPr/>
        </p:nvSpPr>
        <p:spPr>
          <a:xfrm>
            <a:off x="7006504" y="-3402527"/>
            <a:ext cx="1783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Meal Stress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0AAE0B6-8958-4FF6-A717-2C4D01A82F55}"/>
              </a:ext>
            </a:extLst>
          </p:cNvPr>
          <p:cNvSpPr txBox="1"/>
          <p:nvPr/>
        </p:nvSpPr>
        <p:spPr>
          <a:xfrm>
            <a:off x="6273309" y="-2864420"/>
            <a:ext cx="22677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F6C63"/>
                </a:solidFill>
                <a:latin typeface="Aptos"/>
              </a:rPr>
              <a:t>Last-minute panic occurs when planned ingredients are discovered to be unsafe right before mealtime.</a:t>
            </a:r>
          </a:p>
        </p:txBody>
      </p:sp>
      <p:sp>
        <p:nvSpPr>
          <p:cNvPr id="88" name="Rounded Rectangle 23">
            <a:extLst>
              <a:ext uri="{FF2B5EF4-FFF2-40B4-BE49-F238E27FC236}">
                <a16:creationId xmlns:a16="http://schemas.microsoft.com/office/drawing/2014/main" id="{C95E2FBD-6558-4759-A4F7-272AB9BA6470}"/>
              </a:ext>
            </a:extLst>
          </p:cNvPr>
          <p:cNvSpPr/>
          <p:nvPr/>
        </p:nvSpPr>
        <p:spPr>
          <a:xfrm>
            <a:off x="9171967" y="-3776976"/>
            <a:ext cx="2588152" cy="18194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82BACAB-82FF-4C48-92B9-0B430FC45038}"/>
              </a:ext>
            </a:extLst>
          </p:cNvPr>
          <p:cNvSpPr txBox="1"/>
          <p:nvPr/>
        </p:nvSpPr>
        <p:spPr>
          <a:xfrm>
            <a:off x="9832526" y="-3607925"/>
            <a:ext cx="1783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Housewife Burden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018D8D3-49C6-4FEF-BE7D-BA4336A8492F}"/>
              </a:ext>
            </a:extLst>
          </p:cNvPr>
          <p:cNvSpPr txBox="1"/>
          <p:nvPr/>
        </p:nvSpPr>
        <p:spPr>
          <a:xfrm>
            <a:off x="9414357" y="-3170755"/>
            <a:ext cx="2103371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6F6C63"/>
                </a:solidFill>
                <a:latin typeface="Aptos"/>
              </a:rPr>
              <a:t>Housewives bear the intense mental load of managing meal planning, storage, and budget pressures.</a:t>
            </a:r>
          </a:p>
        </p:txBody>
      </p:sp>
      <p:pic>
        <p:nvPicPr>
          <p:cNvPr id="91" name="Graphic 90" descr="Brain in head">
            <a:extLst>
              <a:ext uri="{FF2B5EF4-FFF2-40B4-BE49-F238E27FC236}">
                <a16:creationId xmlns:a16="http://schemas.microsoft.com/office/drawing/2014/main" id="{028CDD27-FC56-4B58-8626-558FFC962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726" y="-6372892"/>
            <a:ext cx="642620" cy="642620"/>
          </a:xfrm>
          <a:prstGeom prst="rect">
            <a:avLst/>
          </a:prstGeom>
        </p:spPr>
      </p:pic>
      <p:pic>
        <p:nvPicPr>
          <p:cNvPr id="92" name="Picture 2" descr="Organize Your Fridge for Better Food Storage | The Food Lab">
            <a:extLst>
              <a:ext uri="{FF2B5EF4-FFF2-40B4-BE49-F238E27FC236}">
                <a16:creationId xmlns:a16="http://schemas.microsoft.com/office/drawing/2014/main" id="{8A5FA3BA-529A-4F15-9C46-81486F437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16" y="-4331005"/>
            <a:ext cx="4233322" cy="3174991"/>
          </a:xfrm>
          <a:prstGeom prst="rect">
            <a:avLst/>
          </a:prstGeom>
          <a:ln>
            <a:noFill/>
          </a:ln>
          <a:effectLst>
            <a:innerShdw blurRad="381000" dist="355600" dir="5400000">
              <a:prstClr val="black">
                <a:alpha val="43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B3F66709-BC56-4E83-A490-9E1339E030EC}"/>
              </a:ext>
            </a:extLst>
          </p:cNvPr>
          <p:cNvSpPr txBox="1"/>
          <p:nvPr/>
        </p:nvSpPr>
        <p:spPr>
          <a:xfrm>
            <a:off x="381000" y="-1761136"/>
            <a:ext cx="413833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SDG 12: Responsible Consumption</a:t>
            </a:r>
          </a:p>
        </p:txBody>
      </p:sp>
      <p:pic>
        <p:nvPicPr>
          <p:cNvPr id="94" name="Graphic 93" descr="Wallet">
            <a:extLst>
              <a:ext uri="{FF2B5EF4-FFF2-40B4-BE49-F238E27FC236}">
                <a16:creationId xmlns:a16="http://schemas.microsoft.com/office/drawing/2014/main" id="{C8C15A5F-BC72-4A71-A4B5-48C2BD706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2612" y="-6790589"/>
            <a:ext cx="515600" cy="515600"/>
          </a:xfrm>
          <a:prstGeom prst="rect">
            <a:avLst/>
          </a:prstGeom>
        </p:spPr>
      </p:pic>
      <p:pic>
        <p:nvPicPr>
          <p:cNvPr id="95" name="Graphic 94" descr="Stopwatch">
            <a:extLst>
              <a:ext uri="{FF2B5EF4-FFF2-40B4-BE49-F238E27FC236}">
                <a16:creationId xmlns:a16="http://schemas.microsoft.com/office/drawing/2014/main" id="{59E52EC6-A88C-4150-8599-5A3D06265A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8835" y="-5970027"/>
            <a:ext cx="429142" cy="429142"/>
          </a:xfrm>
          <a:prstGeom prst="rect">
            <a:avLst/>
          </a:prstGeom>
        </p:spPr>
      </p:pic>
      <p:pic>
        <p:nvPicPr>
          <p:cNvPr id="96" name="Graphic 95" descr="Chicken leg">
            <a:extLst>
              <a:ext uri="{FF2B5EF4-FFF2-40B4-BE49-F238E27FC236}">
                <a16:creationId xmlns:a16="http://schemas.microsoft.com/office/drawing/2014/main" id="{7E0B4A23-F125-4803-9FEA-EF09F811B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1367" y="-3402527"/>
            <a:ext cx="363710" cy="363710"/>
          </a:xfrm>
          <a:prstGeom prst="rect">
            <a:avLst/>
          </a:prstGeom>
        </p:spPr>
      </p:pic>
      <p:pic>
        <p:nvPicPr>
          <p:cNvPr id="97" name="Graphic 96" descr="House">
            <a:extLst>
              <a:ext uri="{FF2B5EF4-FFF2-40B4-BE49-F238E27FC236}">
                <a16:creationId xmlns:a16="http://schemas.microsoft.com/office/drawing/2014/main" id="{0A8F2DAC-92E2-4B2E-B1CD-5BA763F86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8182" y="-3601525"/>
            <a:ext cx="304344" cy="30434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2BD54E49-0898-4D9B-91C6-48A8DC313E12}"/>
              </a:ext>
            </a:extLst>
          </p:cNvPr>
          <p:cNvSpPr/>
          <p:nvPr/>
        </p:nvSpPr>
        <p:spPr>
          <a:xfrm>
            <a:off x="6273309" y="-4628801"/>
            <a:ext cx="467733" cy="443270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 Demi" panose="020E0802020502020306" pitchFamily="34" charset="0"/>
              </a:rPr>
              <a:t>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293B87D-31E3-4141-A800-34A072B8ED82}"/>
              </a:ext>
            </a:extLst>
          </p:cNvPr>
          <p:cNvSpPr/>
          <p:nvPr/>
        </p:nvSpPr>
        <p:spPr>
          <a:xfrm>
            <a:off x="9798215" y="-4363784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2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5582DB7-3866-40BC-A65E-E2FC52DD79A6}"/>
              </a:ext>
            </a:extLst>
          </p:cNvPr>
          <p:cNvSpPr/>
          <p:nvPr/>
        </p:nvSpPr>
        <p:spPr>
          <a:xfrm>
            <a:off x="7218142" y="-1912715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3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285A9AE-8C7F-44F0-8ED8-294B14B0C1A8}"/>
              </a:ext>
            </a:extLst>
          </p:cNvPr>
          <p:cNvSpPr/>
          <p:nvPr/>
        </p:nvSpPr>
        <p:spPr>
          <a:xfrm>
            <a:off x="10360438" y="-2401194"/>
            <a:ext cx="211208" cy="211047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erlin Sans FB Demi" panose="020E0802020502020306" pitchFamily="34" charset="0"/>
              </a:rPr>
              <a:t>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E2989B7-D5A0-4A65-A07F-B41FAF2ACD18}"/>
              </a:ext>
            </a:extLst>
          </p:cNvPr>
          <p:cNvSpPr/>
          <p:nvPr/>
        </p:nvSpPr>
        <p:spPr>
          <a:xfrm>
            <a:off x="0" y="5428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19376-8E42-4C86-AD7F-51BC32211720}"/>
              </a:ext>
            </a:extLst>
          </p:cNvPr>
          <p:cNvGrpSpPr/>
          <p:nvPr/>
        </p:nvGrpSpPr>
        <p:grpSpPr>
          <a:xfrm>
            <a:off x="363178" y="982980"/>
            <a:ext cx="164592" cy="4892040"/>
            <a:chOff x="363178" y="982980"/>
            <a:chExt cx="164592" cy="489204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559D25C-0EC6-4BB6-824E-CB74F286540A}"/>
                </a:ext>
              </a:extLst>
            </p:cNvPr>
            <p:cNvGrpSpPr/>
            <p:nvPr/>
          </p:nvGrpSpPr>
          <p:grpSpPr>
            <a:xfrm rot="5400000">
              <a:off x="-2000546" y="3346704"/>
              <a:ext cx="4892040" cy="164592"/>
              <a:chOff x="3627118" y="6519672"/>
              <a:chExt cx="4892040" cy="164592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3BAB617-B509-43B9-901E-283D251D2C89}"/>
                  </a:ext>
                </a:extLst>
              </p:cNvPr>
              <p:cNvSpPr/>
              <p:nvPr/>
            </p:nvSpPr>
            <p:spPr>
              <a:xfrm>
                <a:off x="3627118" y="6519672"/>
                <a:ext cx="4892040" cy="164592"/>
              </a:xfrm>
              <a:prstGeom prst="roundRect">
                <a:avLst>
                  <a:gd name="adj" fmla="val 50000"/>
                </a:avLst>
              </a:prstGeom>
              <a:solidFill>
                <a:srgbClr val="E7776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3D9C9F83-7D1B-462F-AB0B-4B41D3F10A4D}"/>
                  </a:ext>
                </a:extLst>
              </p:cNvPr>
              <p:cNvSpPr/>
              <p:nvPr/>
            </p:nvSpPr>
            <p:spPr>
              <a:xfrm>
                <a:off x="7594133" y="6560820"/>
                <a:ext cx="249381" cy="822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7B88F8C-B6FD-4AB9-B5E1-BF60077D7841}"/>
                </a:ext>
              </a:extLst>
            </p:cNvPr>
            <p:cNvCxnSpPr/>
            <p:nvPr/>
          </p:nvCxnSpPr>
          <p:spPr>
            <a:xfrm>
              <a:off x="451359" y="1616927"/>
              <a:ext cx="76411" cy="82519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886968" y="163763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Solution (</a:t>
            </a:r>
            <a:r>
              <a:rPr sz="2800" b="1" dirty="0">
                <a:solidFill>
                  <a:srgbClr val="2B2A26"/>
                </a:solidFill>
                <a:latin typeface="Aptos"/>
              </a:rPr>
              <a:t>AI Guided Meal Planning</a:t>
            </a:r>
            <a:r>
              <a:rPr lang="en-US" sz="2800" b="1" dirty="0">
                <a:solidFill>
                  <a:srgbClr val="2B2A26"/>
                </a:solidFill>
                <a:latin typeface="Aptos"/>
              </a:rPr>
              <a:t>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9304" y="694662"/>
            <a:ext cx="6217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Seamless App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C4B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83979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745" y="2624659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Expiry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00331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12097" y="2624659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2A26"/>
                </a:solidFill>
                <a:latin typeface="Aptos"/>
              </a:rPr>
              <a:t>AI Recipes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16683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8449" y="2430099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Storage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6024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33035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44801" y="2430099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1" dirty="0">
                <a:solidFill>
                  <a:srgbClr val="2B2A26"/>
                </a:solidFill>
                <a:latin typeface="Aptos"/>
              </a:rPr>
              <a:t>Shared Inventory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FE5EB9B-8ABA-40DA-A1CB-B8D48D827B3D}"/>
              </a:ext>
            </a:extLst>
          </p:cNvPr>
          <p:cNvGrpSpPr/>
          <p:nvPr/>
        </p:nvGrpSpPr>
        <p:grpSpPr>
          <a:xfrm>
            <a:off x="896761" y="5161538"/>
            <a:ext cx="3641518" cy="960120"/>
            <a:chOff x="14895576" y="5147226"/>
            <a:chExt cx="3641518" cy="960120"/>
          </a:xfrm>
        </p:grpSpPr>
        <p:sp>
          <p:nvSpPr>
            <p:cNvPr id="104" name="Rounded Rectangle 25">
              <a:extLst>
                <a:ext uri="{FF2B5EF4-FFF2-40B4-BE49-F238E27FC236}">
                  <a16:creationId xmlns:a16="http://schemas.microsoft.com/office/drawing/2014/main" id="{9C7B8276-8B02-4A0A-B40E-40222F71EB56}"/>
                </a:ext>
              </a:extLst>
            </p:cNvPr>
            <p:cNvSpPr/>
            <p:nvPr/>
          </p:nvSpPr>
          <p:spPr>
            <a:xfrm>
              <a:off x="14895576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8B47128B-1AA9-49D6-970D-1066D34AE2CB}"/>
                </a:ext>
              </a:extLst>
            </p:cNvPr>
            <p:cNvSpPr/>
            <p:nvPr/>
          </p:nvSpPr>
          <p:spPr>
            <a:xfrm>
              <a:off x="17962149" y="5553954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266EAE8-C3DC-4379-9FDD-D192F4126E6B}"/>
              </a:ext>
            </a:extLst>
          </p:cNvPr>
          <p:cNvGrpSpPr/>
          <p:nvPr/>
        </p:nvGrpSpPr>
        <p:grpSpPr>
          <a:xfrm>
            <a:off x="4627513" y="5161538"/>
            <a:ext cx="3641518" cy="960120"/>
            <a:chOff x="18626328" y="5147226"/>
            <a:chExt cx="3641518" cy="960120"/>
          </a:xfrm>
        </p:grpSpPr>
        <p:sp>
          <p:nvSpPr>
            <p:cNvPr id="107" name="Rounded Rectangle 29">
              <a:extLst>
                <a:ext uri="{FF2B5EF4-FFF2-40B4-BE49-F238E27FC236}">
                  <a16:creationId xmlns:a16="http://schemas.microsoft.com/office/drawing/2014/main" id="{72907832-122B-4948-A2D4-99707B065F0C}"/>
                </a:ext>
              </a:extLst>
            </p:cNvPr>
            <p:cNvSpPr/>
            <p:nvPr/>
          </p:nvSpPr>
          <p:spPr>
            <a:xfrm>
              <a:off x="18626328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8154DB5F-21F6-4F78-8FE7-835FF5F72FA5}"/>
                </a:ext>
              </a:extLst>
            </p:cNvPr>
            <p:cNvSpPr/>
            <p:nvPr/>
          </p:nvSpPr>
          <p:spPr>
            <a:xfrm>
              <a:off x="21573255" y="5230946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714C3B0-BA58-443B-B90D-9EB98FE2799A}"/>
              </a:ext>
            </a:extLst>
          </p:cNvPr>
          <p:cNvGrpSpPr/>
          <p:nvPr/>
        </p:nvGrpSpPr>
        <p:grpSpPr>
          <a:xfrm>
            <a:off x="8358265" y="5161538"/>
            <a:ext cx="3641518" cy="960120"/>
            <a:chOff x="22357080" y="5147226"/>
            <a:chExt cx="3641518" cy="960120"/>
          </a:xfrm>
        </p:grpSpPr>
        <p:sp>
          <p:nvSpPr>
            <p:cNvPr id="110" name="Rounded Rectangle 33">
              <a:extLst>
                <a:ext uri="{FF2B5EF4-FFF2-40B4-BE49-F238E27FC236}">
                  <a16:creationId xmlns:a16="http://schemas.microsoft.com/office/drawing/2014/main" id="{B5A7DC04-B630-4002-80D5-ACD7C0EF4E1B}"/>
                </a:ext>
              </a:extLst>
            </p:cNvPr>
            <p:cNvSpPr/>
            <p:nvPr/>
          </p:nvSpPr>
          <p:spPr>
            <a:xfrm>
              <a:off x="22357080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Isosceles Triangle 110">
              <a:extLst>
                <a:ext uri="{FF2B5EF4-FFF2-40B4-BE49-F238E27FC236}">
                  <a16:creationId xmlns:a16="http://schemas.microsoft.com/office/drawing/2014/main" id="{E306A86C-095A-4AE2-84F0-D0EEC68EFB3B}"/>
                </a:ext>
              </a:extLst>
            </p:cNvPr>
            <p:cNvSpPr/>
            <p:nvPr/>
          </p:nvSpPr>
          <p:spPr>
            <a:xfrm rot="18157744" flipH="1" flipV="1">
              <a:off x="23735117" y="5296690"/>
              <a:ext cx="64960" cy="52191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277284" y="5384154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0967" y="5389139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Money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587" y="5391266"/>
            <a:ext cx="302666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Simplify Management</a:t>
            </a:r>
          </a:p>
        </p:txBody>
      </p:sp>
      <p:pic>
        <p:nvPicPr>
          <p:cNvPr id="40" name="Graphic 39" descr="Network diagram">
            <a:extLst>
              <a:ext uri="{FF2B5EF4-FFF2-40B4-BE49-F238E27FC236}">
                <a16:creationId xmlns:a16="http://schemas.microsoft.com/office/drawing/2014/main" id="{558BBD6A-B6D9-4C93-B373-FB42C66477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079" y="733752"/>
            <a:ext cx="342225" cy="34222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292592D-8C6A-4D44-9775-EC4035A2E38C}"/>
              </a:ext>
            </a:extLst>
          </p:cNvPr>
          <p:cNvSpPr txBox="1"/>
          <p:nvPr/>
        </p:nvSpPr>
        <p:spPr>
          <a:xfrm>
            <a:off x="3418671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6410D4-1BF0-40EA-ABB1-46965ED76B5C}"/>
              </a:ext>
            </a:extLst>
          </p:cNvPr>
          <p:cNvSpPr txBox="1"/>
          <p:nvPr/>
        </p:nvSpPr>
        <p:spPr>
          <a:xfrm>
            <a:off x="6231784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203DEB-12D6-4CFB-A163-C2C9166BB1D2}"/>
              </a:ext>
            </a:extLst>
          </p:cNvPr>
          <p:cNvSpPr txBox="1"/>
          <p:nvPr/>
        </p:nvSpPr>
        <p:spPr>
          <a:xfrm>
            <a:off x="9063283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pic>
        <p:nvPicPr>
          <p:cNvPr id="46" name="Graphic 45" descr="Alarm clock">
            <a:extLst>
              <a:ext uri="{FF2B5EF4-FFF2-40B4-BE49-F238E27FC236}">
                <a16:creationId xmlns:a16="http://schemas.microsoft.com/office/drawing/2014/main" id="{DD82239C-6867-449F-A46E-8006E9DE7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0216" y="1419542"/>
            <a:ext cx="484361" cy="484361"/>
          </a:xfrm>
          <a:prstGeom prst="rect">
            <a:avLst/>
          </a:prstGeom>
        </p:spPr>
      </p:pic>
      <p:pic>
        <p:nvPicPr>
          <p:cNvPr id="48" name="Graphic 47" descr="Open book">
            <a:extLst>
              <a:ext uri="{FF2B5EF4-FFF2-40B4-BE49-F238E27FC236}">
                <a16:creationId xmlns:a16="http://schemas.microsoft.com/office/drawing/2014/main" id="{68E2B818-E2F1-4D3C-91C9-2B8D857D9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57848" y="1461576"/>
            <a:ext cx="452613" cy="452613"/>
          </a:xfrm>
          <a:prstGeom prst="rect">
            <a:avLst/>
          </a:prstGeom>
        </p:spPr>
      </p:pic>
      <p:pic>
        <p:nvPicPr>
          <p:cNvPr id="50" name="Graphic 49" descr="Family with two children">
            <a:extLst>
              <a:ext uri="{FF2B5EF4-FFF2-40B4-BE49-F238E27FC236}">
                <a16:creationId xmlns:a16="http://schemas.microsoft.com/office/drawing/2014/main" id="{60FFA18F-B990-46E0-9951-DFDC7083F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82281" y="1433165"/>
            <a:ext cx="452613" cy="452613"/>
          </a:xfrm>
          <a:prstGeom prst="rect">
            <a:avLst/>
          </a:prstGeom>
        </p:spPr>
      </p:pic>
      <p:pic>
        <p:nvPicPr>
          <p:cNvPr id="52" name="Graphic 51" descr="Box">
            <a:extLst>
              <a:ext uri="{FF2B5EF4-FFF2-40B4-BE49-F238E27FC236}">
                <a16:creationId xmlns:a16="http://schemas.microsoft.com/office/drawing/2014/main" id="{39167877-3659-4A26-83CB-6191112FD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65929" y="1451543"/>
            <a:ext cx="452613" cy="452613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7290098-3A6B-4714-B33E-42D756E93883}"/>
              </a:ext>
            </a:extLst>
          </p:cNvPr>
          <p:cNvCxnSpPr/>
          <p:nvPr/>
        </p:nvCxnSpPr>
        <p:spPr>
          <a:xfrm>
            <a:off x="1095745" y="3902149"/>
            <a:ext cx="2112614" cy="0"/>
          </a:xfrm>
          <a:prstGeom prst="line">
            <a:avLst/>
          </a:prstGeom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B4BC048-A5A4-471A-98D5-D8DF7EC2F248}"/>
              </a:ext>
            </a:extLst>
          </p:cNvPr>
          <p:cNvCxnSpPr/>
          <p:nvPr/>
        </p:nvCxnSpPr>
        <p:spPr>
          <a:xfrm>
            <a:off x="3953541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6A32A68-041B-4154-B283-21C8C4AE84AF}"/>
              </a:ext>
            </a:extLst>
          </p:cNvPr>
          <p:cNvCxnSpPr/>
          <p:nvPr/>
        </p:nvCxnSpPr>
        <p:spPr>
          <a:xfrm>
            <a:off x="6766210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4134A0-5E3E-4AA4-9E60-778265797DD3}"/>
              </a:ext>
            </a:extLst>
          </p:cNvPr>
          <p:cNvCxnSpPr/>
          <p:nvPr/>
        </p:nvCxnSpPr>
        <p:spPr>
          <a:xfrm>
            <a:off x="9546290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15A78C8-67EF-4CC9-AEA7-485C7902230C}"/>
              </a:ext>
            </a:extLst>
          </p:cNvPr>
          <p:cNvGrpSpPr/>
          <p:nvPr/>
        </p:nvGrpSpPr>
        <p:grpSpPr>
          <a:xfrm>
            <a:off x="1670057" y="5366784"/>
            <a:ext cx="522037" cy="485197"/>
            <a:chOff x="1670057" y="5366784"/>
            <a:chExt cx="522037" cy="485197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4DBDDF9-D27F-4853-BD05-CFB36460A11F}"/>
                </a:ext>
              </a:extLst>
            </p:cNvPr>
            <p:cNvSpPr/>
            <p:nvPr/>
          </p:nvSpPr>
          <p:spPr>
            <a:xfrm>
              <a:off x="1670057" y="5366784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5" name="Graphic 64" descr="Apple">
              <a:extLst>
                <a:ext uri="{FF2B5EF4-FFF2-40B4-BE49-F238E27FC236}">
                  <a16:creationId xmlns:a16="http://schemas.microsoft.com/office/drawing/2014/main" id="{8175D858-F012-422F-A1BE-7AE065B84F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805324" y="5456558"/>
              <a:ext cx="270350" cy="27035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BE7C3D-07AE-4789-A80B-07FD5F1A13EC}"/>
              </a:ext>
            </a:extLst>
          </p:cNvPr>
          <p:cNvGrpSpPr/>
          <p:nvPr/>
        </p:nvGrpSpPr>
        <p:grpSpPr>
          <a:xfrm>
            <a:off x="5206341" y="5369447"/>
            <a:ext cx="522037" cy="485197"/>
            <a:chOff x="5206341" y="5369447"/>
            <a:chExt cx="522037" cy="485197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A946AFB-BCD3-42C0-9F95-B546463B7D38}"/>
                </a:ext>
              </a:extLst>
            </p:cNvPr>
            <p:cNvSpPr/>
            <p:nvPr/>
          </p:nvSpPr>
          <p:spPr>
            <a:xfrm>
              <a:off x="5206341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7" name="Graphic 66" descr="Coins">
              <a:extLst>
                <a:ext uri="{FF2B5EF4-FFF2-40B4-BE49-F238E27FC236}">
                  <a16:creationId xmlns:a16="http://schemas.microsoft.com/office/drawing/2014/main" id="{9222C61C-27BD-4D11-9426-B5C0DD0B82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338646" y="5473545"/>
              <a:ext cx="270350" cy="27035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518F582-B3DB-4C10-B3C9-31C7A7E5FBF5}"/>
              </a:ext>
            </a:extLst>
          </p:cNvPr>
          <p:cNvGrpSpPr/>
          <p:nvPr/>
        </p:nvGrpSpPr>
        <p:grpSpPr>
          <a:xfrm>
            <a:off x="8473917" y="5369447"/>
            <a:ext cx="522037" cy="485197"/>
            <a:chOff x="8473917" y="5369447"/>
            <a:chExt cx="522037" cy="485197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A252EA3-E24C-4E6C-A723-5BEF9C83B7D1}"/>
                </a:ext>
              </a:extLst>
            </p:cNvPr>
            <p:cNvSpPr/>
            <p:nvPr/>
          </p:nvSpPr>
          <p:spPr>
            <a:xfrm>
              <a:off x="8473917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9" name="Graphic 68" descr="Circle with right arrow">
              <a:extLst>
                <a:ext uri="{FF2B5EF4-FFF2-40B4-BE49-F238E27FC236}">
                  <a16:creationId xmlns:a16="http://schemas.microsoft.com/office/drawing/2014/main" id="{59B3ABBB-26B5-482C-B2D7-D00F760052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5400000">
              <a:off x="8609933" y="5480998"/>
              <a:ext cx="270350" cy="270350"/>
            </a:xfrm>
            <a:prstGeom prst="rect">
              <a:avLst/>
            </a:prstGeom>
          </p:spPr>
        </p:pic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FB705457-F367-4AC2-8992-E1CD037DEDEB}"/>
              </a:ext>
            </a:extLst>
          </p:cNvPr>
          <p:cNvSpPr/>
          <p:nvPr/>
        </p:nvSpPr>
        <p:spPr>
          <a:xfrm>
            <a:off x="-12201793" y="5428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40A2C3D-F60E-4431-AD08-D5A6C974DC08}"/>
              </a:ext>
            </a:extLst>
          </p:cNvPr>
          <p:cNvGrpSpPr/>
          <p:nvPr/>
        </p:nvGrpSpPr>
        <p:grpSpPr>
          <a:xfrm rot="5400000">
            <a:off x="-1541551" y="3265790"/>
            <a:ext cx="2321655" cy="164592"/>
            <a:chOff x="3627118" y="6519672"/>
            <a:chExt cx="4892040" cy="16459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0AF63E8-D6BD-4C70-AFF8-6B852EB5CFE4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967B566-E5C9-491B-BDE0-A27E03B53F63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61BCB9C-C80F-4C94-B48C-3DCD7AF17F38}"/>
              </a:ext>
            </a:extLst>
          </p:cNvPr>
          <p:cNvSpPr txBox="1"/>
          <p:nvPr/>
        </p:nvSpPr>
        <p:spPr>
          <a:xfrm>
            <a:off x="-8199174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2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F3E4CE-64D8-4B7E-BD60-CACDB35E477A}"/>
              </a:ext>
            </a:extLst>
          </p:cNvPr>
          <p:cNvSpPr txBox="1"/>
          <p:nvPr/>
        </p:nvSpPr>
        <p:spPr>
          <a:xfrm>
            <a:off x="-6413164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2.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84184E-7D3A-4D17-907F-F44C7A862340}"/>
              </a:ext>
            </a:extLst>
          </p:cNvPr>
          <p:cNvSpPr txBox="1"/>
          <p:nvPr/>
        </p:nvSpPr>
        <p:spPr>
          <a:xfrm>
            <a:off x="-7738142" y="3200271"/>
            <a:ext cx="455835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D55813-A661-4F16-9288-F8DEEA878718}"/>
              </a:ext>
            </a:extLst>
          </p:cNvPr>
          <p:cNvGrpSpPr/>
          <p:nvPr/>
        </p:nvGrpSpPr>
        <p:grpSpPr>
          <a:xfrm>
            <a:off x="-6785145" y="1962523"/>
            <a:ext cx="1355889" cy="261610"/>
            <a:chOff x="-6785145" y="1962523"/>
            <a:chExt cx="1355889" cy="26161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0E1538A-849D-4259-A70E-99D1CF9770B0}"/>
                </a:ext>
              </a:extLst>
            </p:cNvPr>
            <p:cNvSpPr txBox="1"/>
            <p:nvPr/>
          </p:nvSpPr>
          <p:spPr>
            <a:xfrm>
              <a:off x="-6690641" y="1962523"/>
              <a:ext cx="118872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E77762"/>
                  </a:solidFill>
                  <a:latin typeface="Aptos"/>
                </a:rPr>
                <a:t>CHAPTER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DDB4549-C139-4E48-AC4E-B92CB7B8C75C}"/>
                </a:ext>
              </a:extLst>
            </p:cNvPr>
            <p:cNvCxnSpPr/>
            <p:nvPr/>
          </p:nvCxnSpPr>
          <p:spPr>
            <a:xfrm>
              <a:off x="-5778048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8C0D4F6-BE42-467E-A191-6FEC0B91DFBA}"/>
                </a:ext>
              </a:extLst>
            </p:cNvPr>
            <p:cNvCxnSpPr/>
            <p:nvPr/>
          </p:nvCxnSpPr>
          <p:spPr>
            <a:xfrm>
              <a:off x="-6785145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8" name="Graphic 67" descr="Table and chairs">
            <a:extLst>
              <a:ext uri="{FF2B5EF4-FFF2-40B4-BE49-F238E27FC236}">
                <a16:creationId xmlns:a16="http://schemas.microsoft.com/office/drawing/2014/main" id="{97C8DC33-5236-40D6-B4E8-A21B80E70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6614086" y="4246512"/>
            <a:ext cx="471717" cy="471717"/>
          </a:xfrm>
          <a:prstGeom prst="rect">
            <a:avLst/>
          </a:prstGeom>
        </p:spPr>
      </p:pic>
      <p:pic>
        <p:nvPicPr>
          <p:cNvPr id="82" name="Graphic 81" descr="Table and chairs">
            <a:extLst>
              <a:ext uri="{FF2B5EF4-FFF2-40B4-BE49-F238E27FC236}">
                <a16:creationId xmlns:a16="http://schemas.microsoft.com/office/drawing/2014/main" id="{9D455EA9-AF43-4473-AAA3-7297DE9D33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6604293" y="4246512"/>
            <a:ext cx="471717" cy="471717"/>
          </a:xfrm>
          <a:prstGeom prst="rect">
            <a:avLst/>
          </a:prstGeom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F908D37-AF8B-49D3-A0A0-5E85DD68ADCC}"/>
              </a:ext>
            </a:extLst>
          </p:cNvPr>
          <p:cNvGrpSpPr/>
          <p:nvPr/>
        </p:nvGrpSpPr>
        <p:grpSpPr>
          <a:xfrm>
            <a:off x="5092931" y="10478422"/>
            <a:ext cx="3210098" cy="2218707"/>
            <a:chOff x="5092931" y="3754898"/>
            <a:chExt cx="3210098" cy="2218707"/>
          </a:xfrm>
        </p:grpSpPr>
        <p:sp>
          <p:nvSpPr>
            <p:cNvPr id="113" name="Rounded Rectangle 21">
              <a:extLst>
                <a:ext uri="{FF2B5EF4-FFF2-40B4-BE49-F238E27FC236}">
                  <a16:creationId xmlns:a16="http://schemas.microsoft.com/office/drawing/2014/main" id="{DC1A386A-AF44-45F4-8F3D-9177D29E7C06}"/>
                </a:ext>
              </a:extLst>
            </p:cNvPr>
            <p:cNvSpPr/>
            <p:nvPr/>
          </p:nvSpPr>
          <p:spPr>
            <a:xfrm>
              <a:off x="5092931" y="3754898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D077999-F04F-4DA9-BCF9-ACCED2A624A6}"/>
                </a:ext>
              </a:extLst>
            </p:cNvPr>
            <p:cNvSpPr/>
            <p:nvPr/>
          </p:nvSpPr>
          <p:spPr>
            <a:xfrm>
              <a:off x="5685636" y="3943739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E6E8CAA-54D9-4F73-93F9-F62EE55109EA}"/>
              </a:ext>
            </a:extLst>
          </p:cNvPr>
          <p:cNvGrpSpPr/>
          <p:nvPr/>
        </p:nvGrpSpPr>
        <p:grpSpPr>
          <a:xfrm>
            <a:off x="8419470" y="10474323"/>
            <a:ext cx="3210098" cy="2218707"/>
            <a:chOff x="8431045" y="3750799"/>
            <a:chExt cx="3210098" cy="2218707"/>
          </a:xfrm>
        </p:grpSpPr>
        <p:sp>
          <p:nvSpPr>
            <p:cNvPr id="116" name="Rounded Rectangle 26">
              <a:extLst>
                <a:ext uri="{FF2B5EF4-FFF2-40B4-BE49-F238E27FC236}">
                  <a16:creationId xmlns:a16="http://schemas.microsoft.com/office/drawing/2014/main" id="{4AFC24FA-3B70-452D-A362-E56A58329BFE}"/>
                </a:ext>
              </a:extLst>
            </p:cNvPr>
            <p:cNvSpPr/>
            <p:nvPr/>
          </p:nvSpPr>
          <p:spPr>
            <a:xfrm>
              <a:off x="8431045" y="3750799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42C4EF9-8D70-43E6-837F-B11CF5096DA3}"/>
                </a:ext>
              </a:extLst>
            </p:cNvPr>
            <p:cNvSpPr/>
            <p:nvPr/>
          </p:nvSpPr>
          <p:spPr>
            <a:xfrm>
              <a:off x="9117009" y="3992302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AA47E98-6BFC-419B-A3F9-5DAC6B2516BD}"/>
              </a:ext>
            </a:extLst>
          </p:cNvPr>
          <p:cNvGrpSpPr/>
          <p:nvPr/>
        </p:nvGrpSpPr>
        <p:grpSpPr>
          <a:xfrm>
            <a:off x="8424271" y="8252647"/>
            <a:ext cx="3210098" cy="2218707"/>
            <a:chOff x="8435846" y="1404431"/>
            <a:chExt cx="3210098" cy="2218707"/>
          </a:xfrm>
        </p:grpSpPr>
        <p:sp>
          <p:nvSpPr>
            <p:cNvPr id="119" name="Rounded Rectangle 16">
              <a:extLst>
                <a:ext uri="{FF2B5EF4-FFF2-40B4-BE49-F238E27FC236}">
                  <a16:creationId xmlns:a16="http://schemas.microsoft.com/office/drawing/2014/main" id="{18DF5307-A14D-40E9-B542-5B6899E105EF}"/>
                </a:ext>
              </a:extLst>
            </p:cNvPr>
            <p:cNvSpPr/>
            <p:nvPr/>
          </p:nvSpPr>
          <p:spPr>
            <a:xfrm>
              <a:off x="8435846" y="1404431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5D50D36-AA02-4BDB-91DA-EC176199A9EE}"/>
                </a:ext>
              </a:extLst>
            </p:cNvPr>
            <p:cNvSpPr/>
            <p:nvPr/>
          </p:nvSpPr>
          <p:spPr>
            <a:xfrm>
              <a:off x="9099599" y="157197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358DBC6-18A6-40FE-AE16-E2D849E10876}"/>
              </a:ext>
            </a:extLst>
          </p:cNvPr>
          <p:cNvGrpSpPr/>
          <p:nvPr/>
        </p:nvGrpSpPr>
        <p:grpSpPr>
          <a:xfrm>
            <a:off x="5104529" y="8256746"/>
            <a:ext cx="3210098" cy="2218707"/>
            <a:chOff x="5104529" y="1408530"/>
            <a:chExt cx="3210098" cy="2218707"/>
          </a:xfrm>
        </p:grpSpPr>
        <p:sp>
          <p:nvSpPr>
            <p:cNvPr id="122" name="Rounded Rectangle 11">
              <a:extLst>
                <a:ext uri="{FF2B5EF4-FFF2-40B4-BE49-F238E27FC236}">
                  <a16:creationId xmlns:a16="http://schemas.microsoft.com/office/drawing/2014/main" id="{5686F0B3-3C6C-4CFE-8F92-385AB8CC6348}"/>
                </a:ext>
              </a:extLst>
            </p:cNvPr>
            <p:cNvSpPr/>
            <p:nvPr/>
          </p:nvSpPr>
          <p:spPr>
            <a:xfrm>
              <a:off x="5104529" y="1408530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14EBFEB2-6B7B-4FFC-8921-D48B787C8F5B}"/>
                </a:ext>
              </a:extLst>
            </p:cNvPr>
            <p:cNvSpPr/>
            <p:nvPr/>
          </p:nvSpPr>
          <p:spPr>
            <a:xfrm>
              <a:off x="5710935" y="160591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3C02129-3ADE-4476-B01A-696B41DAB4FC}"/>
              </a:ext>
            </a:extLst>
          </p:cNvPr>
          <p:cNvGrpSpPr/>
          <p:nvPr/>
        </p:nvGrpSpPr>
        <p:grpSpPr>
          <a:xfrm>
            <a:off x="658367" y="11428848"/>
            <a:ext cx="4057075" cy="597134"/>
            <a:chOff x="658367" y="4539068"/>
            <a:chExt cx="4057075" cy="1245390"/>
          </a:xfrm>
        </p:grpSpPr>
        <p:sp>
          <p:nvSpPr>
            <p:cNvPr id="125" name="Rounded Rectangle 7">
              <a:extLst>
                <a:ext uri="{FF2B5EF4-FFF2-40B4-BE49-F238E27FC236}">
                  <a16:creationId xmlns:a16="http://schemas.microsoft.com/office/drawing/2014/main" id="{EE48803F-3D96-4DF6-BC1C-C946FEAB76A2}"/>
                </a:ext>
              </a:extLst>
            </p:cNvPr>
            <p:cNvSpPr/>
            <p:nvPr/>
          </p:nvSpPr>
          <p:spPr>
            <a:xfrm>
              <a:off x="658367" y="4539068"/>
              <a:ext cx="4057075" cy="12453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50AE594-6172-4C88-BF29-CCDE3E6955FF}"/>
                </a:ext>
              </a:extLst>
            </p:cNvPr>
            <p:cNvSpPr/>
            <p:nvPr/>
          </p:nvSpPr>
          <p:spPr>
            <a:xfrm>
              <a:off x="3418671" y="4671513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779EFE56-7207-40D2-AA8C-7F40A1095B93}"/>
              </a:ext>
            </a:extLst>
          </p:cNvPr>
          <p:cNvSpPr txBox="1"/>
          <p:nvPr/>
        </p:nvSpPr>
        <p:spPr>
          <a:xfrm>
            <a:off x="554923" y="7437741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Effects on users (Impact)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5B54F56-FDD4-4EC0-90D4-C009284EA2E2}"/>
              </a:ext>
            </a:extLst>
          </p:cNvPr>
          <p:cNvSpPr txBox="1"/>
          <p:nvPr/>
        </p:nvSpPr>
        <p:spPr>
          <a:xfrm>
            <a:off x="658368" y="10575001"/>
            <a:ext cx="397763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487C57"/>
                </a:solidFill>
                <a:latin typeface="Aptos"/>
              </a:rPr>
              <a:t>       </a:t>
            </a:r>
            <a:r>
              <a:rPr sz="1600" b="1" dirty="0">
                <a:solidFill>
                  <a:srgbClr val="487C57"/>
                </a:solidFill>
                <a:latin typeface="Aptos"/>
              </a:rPr>
              <a:t>The app fits seamlessly into your existing daily kitchen routine.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5ED69D9-B912-4396-9890-353CA5429798}"/>
              </a:ext>
            </a:extLst>
          </p:cNvPr>
          <p:cNvSpPr txBox="1"/>
          <p:nvPr/>
        </p:nvSpPr>
        <p:spPr>
          <a:xfrm>
            <a:off x="667418" y="1106965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Add an item once, receive a reminder, and choose your next action.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D082061-38AF-4DD1-ABB1-BBEB472AF805}"/>
              </a:ext>
            </a:extLst>
          </p:cNvPr>
          <p:cNvSpPr txBox="1"/>
          <p:nvPr/>
        </p:nvSpPr>
        <p:spPr>
          <a:xfrm>
            <a:off x="1568075" y="11561293"/>
            <a:ext cx="21414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Scan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Alert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4B41E52-6DA9-4B60-967F-013308865D37}"/>
              </a:ext>
            </a:extLst>
          </p:cNvPr>
          <p:cNvSpPr txBox="1"/>
          <p:nvPr/>
        </p:nvSpPr>
        <p:spPr>
          <a:xfrm>
            <a:off x="5074920" y="7841588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Four Direct Benefits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8648ACA-5197-427E-9C8D-166770F18337}"/>
              </a:ext>
            </a:extLst>
          </p:cNvPr>
          <p:cNvSpPr txBox="1"/>
          <p:nvPr/>
        </p:nvSpPr>
        <p:spPr>
          <a:xfrm>
            <a:off x="5306379" y="9044722"/>
            <a:ext cx="223387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Prevents Forgotten Food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69AE307-4E9F-4EB5-8601-47AB91507B60}"/>
              </a:ext>
            </a:extLst>
          </p:cNvPr>
          <p:cNvSpPr txBox="1"/>
          <p:nvPr/>
        </p:nvSpPr>
        <p:spPr>
          <a:xfrm>
            <a:off x="8616109" y="9043690"/>
            <a:ext cx="1490891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Reduces Spending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CBC4253-02C1-4836-BF49-622D58AB4C84}"/>
              </a:ext>
            </a:extLst>
          </p:cNvPr>
          <p:cNvSpPr txBox="1"/>
          <p:nvPr/>
        </p:nvSpPr>
        <p:spPr>
          <a:xfrm>
            <a:off x="5257799" y="11268247"/>
            <a:ext cx="201128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Faster Meal Decisions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B565E57-DA3D-43F0-BE83-D6A6AF0A5537}"/>
              </a:ext>
            </a:extLst>
          </p:cNvPr>
          <p:cNvSpPr txBox="1"/>
          <p:nvPr/>
        </p:nvSpPr>
        <p:spPr>
          <a:xfrm>
            <a:off x="8623123" y="11268247"/>
            <a:ext cx="225949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Easier Cooking Steps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141" name="Graphic 140" descr="Leaf">
            <a:extLst>
              <a:ext uri="{FF2B5EF4-FFF2-40B4-BE49-F238E27FC236}">
                <a16:creationId xmlns:a16="http://schemas.microsoft.com/office/drawing/2014/main" id="{73C06606-1E60-4C59-92B3-93E09AFD6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7240" y="10294031"/>
            <a:ext cx="280645" cy="280645"/>
          </a:xfrm>
          <a:prstGeom prst="rect">
            <a:avLst/>
          </a:prstGeom>
        </p:spPr>
      </p:pic>
      <p:pic>
        <p:nvPicPr>
          <p:cNvPr id="142" name="Graphic 141" descr="Pasta">
            <a:extLst>
              <a:ext uri="{FF2B5EF4-FFF2-40B4-BE49-F238E27FC236}">
                <a16:creationId xmlns:a16="http://schemas.microsoft.com/office/drawing/2014/main" id="{97C97E2F-7401-47C7-B68E-FBA95A437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75732" y="8285294"/>
            <a:ext cx="683447" cy="683447"/>
          </a:xfrm>
          <a:prstGeom prst="rect">
            <a:avLst/>
          </a:prstGeom>
        </p:spPr>
      </p:pic>
      <p:pic>
        <p:nvPicPr>
          <p:cNvPr id="143" name="Graphic 142" descr="Fork and knife">
            <a:extLst>
              <a:ext uri="{FF2B5EF4-FFF2-40B4-BE49-F238E27FC236}">
                <a16:creationId xmlns:a16="http://schemas.microsoft.com/office/drawing/2014/main" id="{282BA35D-5318-4221-933C-346F038AA1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30906" y="10571466"/>
            <a:ext cx="607253" cy="607253"/>
          </a:xfrm>
          <a:prstGeom prst="rect">
            <a:avLst/>
          </a:prstGeom>
        </p:spPr>
      </p:pic>
      <p:pic>
        <p:nvPicPr>
          <p:cNvPr id="144" name="Graphic 143" descr="Checklist RTL">
            <a:extLst>
              <a:ext uri="{FF2B5EF4-FFF2-40B4-BE49-F238E27FC236}">
                <a16:creationId xmlns:a16="http://schemas.microsoft.com/office/drawing/2014/main" id="{1F66E819-D58B-444E-B7A4-24470CDB4B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40578" y="10580175"/>
            <a:ext cx="630799" cy="630799"/>
          </a:xfrm>
          <a:prstGeom prst="rect">
            <a:avLst/>
          </a:prstGeom>
        </p:spPr>
      </p:pic>
      <p:pic>
        <p:nvPicPr>
          <p:cNvPr id="145" name="Graphic 144" descr="Piggy Bank">
            <a:extLst>
              <a:ext uri="{FF2B5EF4-FFF2-40B4-BE49-F238E27FC236}">
                <a16:creationId xmlns:a16="http://schemas.microsoft.com/office/drawing/2014/main" id="{C068AD40-4F30-47BE-873B-BB70CCFFC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889222" y="8285519"/>
            <a:ext cx="683447" cy="683447"/>
          </a:xfrm>
          <a:prstGeom prst="rect">
            <a:avLst/>
          </a:prstGeom>
        </p:spPr>
      </p:pic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2A77C33-5FCB-4951-B187-2EC5456AB2F5}"/>
              </a:ext>
            </a:extLst>
          </p:cNvPr>
          <p:cNvGrpSpPr/>
          <p:nvPr/>
        </p:nvGrpSpPr>
        <p:grpSpPr>
          <a:xfrm>
            <a:off x="658368" y="8302117"/>
            <a:ext cx="3885923" cy="2172208"/>
            <a:chOff x="658368" y="996697"/>
            <a:chExt cx="3885923" cy="2172208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69956B1-9498-449F-875E-FF9D07C05214}"/>
                </a:ext>
              </a:extLst>
            </p:cNvPr>
            <p:cNvSpPr/>
            <p:nvPr/>
          </p:nvSpPr>
          <p:spPr>
            <a:xfrm>
              <a:off x="658368" y="996697"/>
              <a:ext cx="3885923" cy="2172208"/>
            </a:xfrm>
            <a:prstGeom prst="rect">
              <a:avLst/>
            </a:prstGeom>
            <a:blipFill>
              <a:blip r:embed="rId23"/>
              <a:stretch>
                <a:fillRect/>
              </a:stretch>
            </a:blip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89F796E-C060-47CD-ADB0-328D7F673950}"/>
                </a:ext>
              </a:extLst>
            </p:cNvPr>
            <p:cNvSpPr/>
            <p:nvPr/>
          </p:nvSpPr>
          <p:spPr>
            <a:xfrm>
              <a:off x="3418671" y="1736203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4684F08-1849-4313-8387-F2CAF70076D0}"/>
              </a:ext>
            </a:extLst>
          </p:cNvPr>
          <p:cNvGrpSpPr/>
          <p:nvPr/>
        </p:nvGrpSpPr>
        <p:grpSpPr>
          <a:xfrm>
            <a:off x="5278820" y="8384408"/>
            <a:ext cx="310896" cy="310896"/>
            <a:chOff x="5278820" y="1536192"/>
            <a:chExt cx="310896" cy="310896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0CAB29E2-D9FD-4604-9341-5F7E75C0DC3E}"/>
                </a:ext>
              </a:extLst>
            </p:cNvPr>
            <p:cNvSpPr/>
            <p:nvPr/>
          </p:nvSpPr>
          <p:spPr>
            <a:xfrm>
              <a:off x="5278820" y="1536192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1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8B48201-026C-42B5-9318-F7F994B91577}"/>
                </a:ext>
              </a:extLst>
            </p:cNvPr>
            <p:cNvCxnSpPr>
              <a:cxnSpLocks/>
              <a:stCxn id="150" idx="4"/>
              <a:endCxn id="150" idx="6"/>
            </p:cNvCxnSpPr>
            <p:nvPr/>
          </p:nvCxnSpPr>
          <p:spPr>
            <a:xfrm flipV="1">
              <a:off x="5434268" y="1691640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37A00C3-129B-419A-9821-BF74C8D9BEC8}"/>
              </a:ext>
            </a:extLst>
          </p:cNvPr>
          <p:cNvGrpSpPr/>
          <p:nvPr/>
        </p:nvGrpSpPr>
        <p:grpSpPr>
          <a:xfrm>
            <a:off x="8623122" y="8383376"/>
            <a:ext cx="310896" cy="310896"/>
            <a:chOff x="8623122" y="1535160"/>
            <a:chExt cx="310896" cy="310896"/>
          </a:xfrm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A65C37A8-045B-4C37-B583-1D2591916B95}"/>
                </a:ext>
              </a:extLst>
            </p:cNvPr>
            <p:cNvSpPr/>
            <p:nvPr/>
          </p:nvSpPr>
          <p:spPr>
            <a:xfrm>
              <a:off x="8623122" y="1535160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2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6218739-4BCF-45E1-843E-50ECE9EA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060" y="166873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BEED3CE-ACCA-4C1B-B004-1B8572B6F0BB}"/>
              </a:ext>
            </a:extLst>
          </p:cNvPr>
          <p:cNvGrpSpPr/>
          <p:nvPr/>
        </p:nvGrpSpPr>
        <p:grpSpPr>
          <a:xfrm>
            <a:off x="5257800" y="10640849"/>
            <a:ext cx="310896" cy="310896"/>
            <a:chOff x="5257800" y="3917325"/>
            <a:chExt cx="310896" cy="310896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117D2A20-A9B4-4528-B4CC-AF6214FA2416}"/>
                </a:ext>
              </a:extLst>
            </p:cNvPr>
            <p:cNvSpPr/>
            <p:nvPr/>
          </p:nvSpPr>
          <p:spPr>
            <a:xfrm>
              <a:off x="5257800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3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97B46EC-AAB2-4CFA-A5F8-FAA49175D1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1558" y="403584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084089B-0367-48C5-BCEF-B7A88BB1809A}"/>
              </a:ext>
            </a:extLst>
          </p:cNvPr>
          <p:cNvGrpSpPr/>
          <p:nvPr/>
        </p:nvGrpSpPr>
        <p:grpSpPr>
          <a:xfrm>
            <a:off x="8632725" y="10640849"/>
            <a:ext cx="310896" cy="310896"/>
            <a:chOff x="8632725" y="3917325"/>
            <a:chExt cx="310896" cy="310896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02585BBF-46A0-4848-83C3-3F27ECC1E562}"/>
                </a:ext>
              </a:extLst>
            </p:cNvPr>
            <p:cNvSpPr/>
            <p:nvPr/>
          </p:nvSpPr>
          <p:spPr>
            <a:xfrm>
              <a:off x="8632725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4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1880183-BFC8-49D6-B887-419A48615D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4835" y="4013624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71A78CC3-C8F8-436F-AA69-001768FD32EB}"/>
              </a:ext>
            </a:extLst>
          </p:cNvPr>
          <p:cNvSpPr/>
          <p:nvPr/>
        </p:nvSpPr>
        <p:spPr>
          <a:xfrm>
            <a:off x="0" y="-6858000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23E8FB6-A805-4398-800F-11999F1ADD2D}"/>
              </a:ext>
            </a:extLst>
          </p:cNvPr>
          <p:cNvGrpSpPr/>
          <p:nvPr/>
        </p:nvGrpSpPr>
        <p:grpSpPr>
          <a:xfrm>
            <a:off x="5092931" y="3754898"/>
            <a:ext cx="3210098" cy="2218707"/>
            <a:chOff x="5092931" y="3754898"/>
            <a:chExt cx="3210098" cy="2218707"/>
          </a:xfrm>
        </p:grpSpPr>
        <p:sp>
          <p:nvSpPr>
            <p:cNvPr id="22" name="Rounded Rectangle 21"/>
            <p:cNvSpPr/>
            <p:nvPr/>
          </p:nvSpPr>
          <p:spPr>
            <a:xfrm>
              <a:off x="5092931" y="3754898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70C62BD-3FD0-4934-903F-D6C8C6CEB5E7}"/>
                </a:ext>
              </a:extLst>
            </p:cNvPr>
            <p:cNvSpPr/>
            <p:nvPr/>
          </p:nvSpPr>
          <p:spPr>
            <a:xfrm>
              <a:off x="5685636" y="3943739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DCFD30D-EAE1-46D8-95FB-D39143F39352}"/>
              </a:ext>
            </a:extLst>
          </p:cNvPr>
          <p:cNvGrpSpPr/>
          <p:nvPr/>
        </p:nvGrpSpPr>
        <p:grpSpPr>
          <a:xfrm>
            <a:off x="8419470" y="3750799"/>
            <a:ext cx="3210098" cy="2218707"/>
            <a:chOff x="8431045" y="3750799"/>
            <a:chExt cx="3210098" cy="2218707"/>
          </a:xfrm>
        </p:grpSpPr>
        <p:sp>
          <p:nvSpPr>
            <p:cNvPr id="27" name="Rounded Rectangle 26"/>
            <p:cNvSpPr/>
            <p:nvPr/>
          </p:nvSpPr>
          <p:spPr>
            <a:xfrm>
              <a:off x="8431045" y="3750799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FD07E36-7E92-4851-A9EC-0AF3412AE3EE}"/>
                </a:ext>
              </a:extLst>
            </p:cNvPr>
            <p:cNvSpPr/>
            <p:nvPr/>
          </p:nvSpPr>
          <p:spPr>
            <a:xfrm>
              <a:off x="9117009" y="3992302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8" name="Graphic 37" descr="Fork and knife">
            <a:extLst>
              <a:ext uri="{FF2B5EF4-FFF2-40B4-BE49-F238E27FC236}">
                <a16:creationId xmlns:a16="http://schemas.microsoft.com/office/drawing/2014/main" id="{F3E27D45-6676-4F37-8A9E-D757D294C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0906" y="3847942"/>
            <a:ext cx="607253" cy="60725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150EECB-716F-4A17-8160-4D8E02F4E259}"/>
              </a:ext>
            </a:extLst>
          </p:cNvPr>
          <p:cNvGrpSpPr/>
          <p:nvPr/>
        </p:nvGrpSpPr>
        <p:grpSpPr>
          <a:xfrm>
            <a:off x="5104529" y="1408530"/>
            <a:ext cx="3210098" cy="2218707"/>
            <a:chOff x="5104529" y="1408530"/>
            <a:chExt cx="3210098" cy="2218707"/>
          </a:xfrm>
        </p:grpSpPr>
        <p:sp>
          <p:nvSpPr>
            <p:cNvPr id="12" name="Rounded Rectangle 11"/>
            <p:cNvSpPr/>
            <p:nvPr/>
          </p:nvSpPr>
          <p:spPr>
            <a:xfrm>
              <a:off x="5104529" y="1408530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11FAFF6-0790-4C05-AC4E-1715848A2A42}"/>
                </a:ext>
              </a:extLst>
            </p:cNvPr>
            <p:cNvSpPr/>
            <p:nvPr/>
          </p:nvSpPr>
          <p:spPr>
            <a:xfrm>
              <a:off x="5710935" y="160591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6" name="Graphic 35" descr="Pasta">
            <a:extLst>
              <a:ext uri="{FF2B5EF4-FFF2-40B4-BE49-F238E27FC236}">
                <a16:creationId xmlns:a16="http://schemas.microsoft.com/office/drawing/2014/main" id="{08360FE8-2FAB-4A2D-AE37-4394972BB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5732" y="1437078"/>
            <a:ext cx="683447" cy="683447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ED5FECA-2AC4-4ADA-99D9-505261FFC0EB}"/>
              </a:ext>
            </a:extLst>
          </p:cNvPr>
          <p:cNvGrpSpPr/>
          <p:nvPr/>
        </p:nvGrpSpPr>
        <p:grpSpPr>
          <a:xfrm>
            <a:off x="8424271" y="1404431"/>
            <a:ext cx="3210098" cy="2218707"/>
            <a:chOff x="8435846" y="1404431"/>
            <a:chExt cx="3210098" cy="2218707"/>
          </a:xfrm>
        </p:grpSpPr>
        <p:sp>
          <p:nvSpPr>
            <p:cNvPr id="17" name="Rounded Rectangle 16"/>
            <p:cNvSpPr/>
            <p:nvPr/>
          </p:nvSpPr>
          <p:spPr>
            <a:xfrm>
              <a:off x="8435846" y="1404431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E1376B8-9931-4ED3-8573-1835AE9D3CDF}"/>
                </a:ext>
              </a:extLst>
            </p:cNvPr>
            <p:cNvSpPr/>
            <p:nvPr/>
          </p:nvSpPr>
          <p:spPr>
            <a:xfrm>
              <a:off x="9099599" y="157197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4A184B-3574-41C7-92A8-7F32D3E3825B}"/>
              </a:ext>
            </a:extLst>
          </p:cNvPr>
          <p:cNvGrpSpPr/>
          <p:nvPr/>
        </p:nvGrpSpPr>
        <p:grpSpPr>
          <a:xfrm>
            <a:off x="658367" y="4539068"/>
            <a:ext cx="4057075" cy="584775"/>
            <a:chOff x="658367" y="4539068"/>
            <a:chExt cx="4057075" cy="1245390"/>
          </a:xfrm>
        </p:grpSpPr>
        <p:sp>
          <p:nvSpPr>
            <p:cNvPr id="8" name="Rounded Rectangle 7"/>
            <p:cNvSpPr/>
            <p:nvPr/>
          </p:nvSpPr>
          <p:spPr>
            <a:xfrm>
              <a:off x="658367" y="4539068"/>
              <a:ext cx="4057075" cy="12453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EE33C3A-43FF-4DAE-91A1-AAAECF046038}"/>
                </a:ext>
              </a:extLst>
            </p:cNvPr>
            <p:cNvSpPr/>
            <p:nvPr/>
          </p:nvSpPr>
          <p:spPr>
            <a:xfrm>
              <a:off x="3418671" y="4671513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54923" y="257015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Effects on users (Impact)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3269581"/>
            <a:ext cx="397763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487C57"/>
                </a:solidFill>
                <a:latin typeface="Aptos"/>
              </a:rPr>
              <a:t>       </a:t>
            </a:r>
            <a:r>
              <a:rPr sz="1600" b="1" dirty="0">
                <a:solidFill>
                  <a:srgbClr val="487C57"/>
                </a:solidFill>
                <a:latin typeface="Aptos"/>
              </a:rPr>
              <a:t>The app fits seamlessly into your existing daily kitchen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418" y="3888931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Add an item once, receive a reminder, and choose your next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4659156"/>
            <a:ext cx="21414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Scan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Alert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86868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Four Direct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1664" y="2196506"/>
            <a:ext cx="2177001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Prevents Forgotten Food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6109" y="2195474"/>
            <a:ext cx="2218785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Reduces Spending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544723"/>
            <a:ext cx="196007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Faster Meal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3123" y="4544723"/>
            <a:ext cx="220196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Easier Cooking Steps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34" name="Graphic 33" descr="Leaf">
            <a:extLst>
              <a:ext uri="{FF2B5EF4-FFF2-40B4-BE49-F238E27FC236}">
                <a16:creationId xmlns:a16="http://schemas.microsoft.com/office/drawing/2014/main" id="{4C5D43E7-3778-4FC8-9B73-7EEB524C5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3300341"/>
            <a:ext cx="280645" cy="280645"/>
          </a:xfrm>
          <a:prstGeom prst="rect">
            <a:avLst/>
          </a:prstGeom>
        </p:spPr>
      </p:pic>
      <p:pic>
        <p:nvPicPr>
          <p:cNvPr id="40" name="Graphic 39" descr="Checklist RTL">
            <a:extLst>
              <a:ext uri="{FF2B5EF4-FFF2-40B4-BE49-F238E27FC236}">
                <a16:creationId xmlns:a16="http://schemas.microsoft.com/office/drawing/2014/main" id="{F93660B0-041E-4C59-932A-A055EB5B6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0578" y="3856651"/>
            <a:ext cx="630799" cy="630799"/>
          </a:xfrm>
          <a:prstGeom prst="rect">
            <a:avLst/>
          </a:prstGeom>
        </p:spPr>
      </p:pic>
      <p:pic>
        <p:nvPicPr>
          <p:cNvPr id="42" name="Graphic 41" descr="Piggy Bank">
            <a:extLst>
              <a:ext uri="{FF2B5EF4-FFF2-40B4-BE49-F238E27FC236}">
                <a16:creationId xmlns:a16="http://schemas.microsoft.com/office/drawing/2014/main" id="{CF706E7D-C407-41B3-82C1-05EC97E296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89222" y="1437303"/>
            <a:ext cx="683447" cy="68344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C910A2-54A5-4DC9-9C67-0CFC5C2FAE06}"/>
              </a:ext>
            </a:extLst>
          </p:cNvPr>
          <p:cNvGrpSpPr/>
          <p:nvPr/>
        </p:nvGrpSpPr>
        <p:grpSpPr>
          <a:xfrm>
            <a:off x="363177" y="-5465948"/>
            <a:ext cx="191745" cy="2919169"/>
            <a:chOff x="363178" y="982980"/>
            <a:chExt cx="164592" cy="48920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F995C5-CC84-449D-8E55-E71D586E610B}"/>
                </a:ext>
              </a:extLst>
            </p:cNvPr>
            <p:cNvGrpSpPr/>
            <p:nvPr/>
          </p:nvGrpSpPr>
          <p:grpSpPr>
            <a:xfrm rot="5400000">
              <a:off x="-2000546" y="3346704"/>
              <a:ext cx="4892040" cy="164592"/>
              <a:chOff x="3627118" y="6519672"/>
              <a:chExt cx="4892040" cy="164592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D72A1DFB-BAF0-4F71-B114-6A232335F8CF}"/>
                  </a:ext>
                </a:extLst>
              </p:cNvPr>
              <p:cNvSpPr/>
              <p:nvPr/>
            </p:nvSpPr>
            <p:spPr>
              <a:xfrm>
                <a:off x="3627118" y="6519672"/>
                <a:ext cx="4892040" cy="164592"/>
              </a:xfrm>
              <a:prstGeom prst="roundRect">
                <a:avLst>
                  <a:gd name="adj" fmla="val 50000"/>
                </a:avLst>
              </a:prstGeom>
              <a:solidFill>
                <a:srgbClr val="E7776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1EAA660-6505-4A2E-BCC1-CE1AF4566926}"/>
                  </a:ext>
                </a:extLst>
              </p:cNvPr>
              <p:cNvSpPr/>
              <p:nvPr/>
            </p:nvSpPr>
            <p:spPr>
              <a:xfrm>
                <a:off x="7594133" y="6560820"/>
                <a:ext cx="249381" cy="822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7B525F1-2D17-46A1-BD44-7195AFAAB4F0}"/>
                </a:ext>
              </a:extLst>
            </p:cNvPr>
            <p:cNvCxnSpPr/>
            <p:nvPr/>
          </p:nvCxnSpPr>
          <p:spPr>
            <a:xfrm>
              <a:off x="451359" y="1616927"/>
              <a:ext cx="76411" cy="82519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3008FA0-5A15-4E0E-8D23-695A666CED44}"/>
              </a:ext>
            </a:extLst>
          </p:cNvPr>
          <p:cNvSpPr txBox="1"/>
          <p:nvPr/>
        </p:nvSpPr>
        <p:spPr>
          <a:xfrm>
            <a:off x="886968" y="-6285165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Solution (</a:t>
            </a:r>
            <a:r>
              <a:rPr sz="2800" b="1" dirty="0">
                <a:solidFill>
                  <a:srgbClr val="2B2A26"/>
                </a:solidFill>
                <a:latin typeface="Aptos"/>
              </a:rPr>
              <a:t>AI Guided Meal Planning</a:t>
            </a:r>
            <a:r>
              <a:rPr lang="en-US" sz="2800" b="1" dirty="0">
                <a:solidFill>
                  <a:srgbClr val="2B2A26"/>
                </a:solidFill>
                <a:latin typeface="Aptos"/>
              </a:rPr>
              <a:t>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6D114C-BB70-40D4-A326-7793683C282C}"/>
              </a:ext>
            </a:extLst>
          </p:cNvPr>
          <p:cNvSpPr txBox="1"/>
          <p:nvPr/>
        </p:nvSpPr>
        <p:spPr>
          <a:xfrm>
            <a:off x="1289304" y="-5834948"/>
            <a:ext cx="6217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Seamless App Workflow</a:t>
            </a:r>
          </a:p>
        </p:txBody>
      </p:sp>
      <p:sp>
        <p:nvSpPr>
          <p:cNvPr id="46" name="Rounded Rectangle 5">
            <a:extLst>
              <a:ext uri="{FF2B5EF4-FFF2-40B4-BE49-F238E27FC236}">
                <a16:creationId xmlns:a16="http://schemas.microsoft.com/office/drawing/2014/main" id="{85E1C18D-BB42-4564-A14D-EA9C50D8DBAF}"/>
              </a:ext>
            </a:extLst>
          </p:cNvPr>
          <p:cNvSpPr/>
          <p:nvPr/>
        </p:nvSpPr>
        <p:spPr>
          <a:xfrm>
            <a:off x="886968" y="-5057627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C4B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6605518-D6EF-4E6C-8875-D771E41AC66F}"/>
              </a:ext>
            </a:extLst>
          </p:cNvPr>
          <p:cNvSpPr/>
          <p:nvPr/>
        </p:nvSpPr>
        <p:spPr>
          <a:xfrm>
            <a:off x="1783979" y="-5141175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1FCB09-9491-40C5-B87F-1A29D312E68D}"/>
              </a:ext>
            </a:extLst>
          </p:cNvPr>
          <p:cNvSpPr txBox="1"/>
          <p:nvPr/>
        </p:nvSpPr>
        <p:spPr>
          <a:xfrm>
            <a:off x="1095745" y="-3878293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Expiry Alerts</a:t>
            </a:r>
          </a:p>
        </p:txBody>
      </p:sp>
      <p:sp>
        <p:nvSpPr>
          <p:cNvPr id="50" name="Rounded Rectangle 10">
            <a:extLst>
              <a:ext uri="{FF2B5EF4-FFF2-40B4-BE49-F238E27FC236}">
                <a16:creationId xmlns:a16="http://schemas.microsoft.com/office/drawing/2014/main" id="{E9452892-54EF-4C88-8E24-ED0B012088F0}"/>
              </a:ext>
            </a:extLst>
          </p:cNvPr>
          <p:cNvSpPr/>
          <p:nvPr/>
        </p:nvSpPr>
        <p:spPr>
          <a:xfrm>
            <a:off x="3703320" y="-5057627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AA771CD-60D0-4E7E-92A8-6BB31014D375}"/>
              </a:ext>
            </a:extLst>
          </p:cNvPr>
          <p:cNvSpPr/>
          <p:nvPr/>
        </p:nvSpPr>
        <p:spPr>
          <a:xfrm>
            <a:off x="4600331" y="-5141175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0BD8A7-6BED-4366-ACFD-B86582631922}"/>
              </a:ext>
            </a:extLst>
          </p:cNvPr>
          <p:cNvSpPr txBox="1"/>
          <p:nvPr/>
        </p:nvSpPr>
        <p:spPr>
          <a:xfrm>
            <a:off x="3912097" y="-3878293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2A26"/>
                </a:solidFill>
                <a:latin typeface="Aptos"/>
              </a:rPr>
              <a:t>AI Recipes</a:t>
            </a: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2635F539-452E-4224-92D5-CBAB76DFDA85}"/>
              </a:ext>
            </a:extLst>
          </p:cNvPr>
          <p:cNvSpPr/>
          <p:nvPr/>
        </p:nvSpPr>
        <p:spPr>
          <a:xfrm>
            <a:off x="6519672" y="-5057627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2BE7B3E-361C-4DE0-824C-E8447FA9AC2E}"/>
              </a:ext>
            </a:extLst>
          </p:cNvPr>
          <p:cNvSpPr/>
          <p:nvPr/>
        </p:nvSpPr>
        <p:spPr>
          <a:xfrm>
            <a:off x="7416683" y="-5141175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7B97C1-206F-4A96-A912-4A775FA4F0A3}"/>
              </a:ext>
            </a:extLst>
          </p:cNvPr>
          <p:cNvSpPr txBox="1"/>
          <p:nvPr/>
        </p:nvSpPr>
        <p:spPr>
          <a:xfrm>
            <a:off x="6728449" y="-4125433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Storage Tracking</a:t>
            </a:r>
          </a:p>
        </p:txBody>
      </p:sp>
      <p:sp>
        <p:nvSpPr>
          <p:cNvPr id="58" name="Rounded Rectangle 20">
            <a:extLst>
              <a:ext uri="{FF2B5EF4-FFF2-40B4-BE49-F238E27FC236}">
                <a16:creationId xmlns:a16="http://schemas.microsoft.com/office/drawing/2014/main" id="{7B2F5748-CFBD-4BDD-9B81-426919DE56D8}"/>
              </a:ext>
            </a:extLst>
          </p:cNvPr>
          <p:cNvSpPr/>
          <p:nvPr/>
        </p:nvSpPr>
        <p:spPr>
          <a:xfrm>
            <a:off x="9336024" y="-5057627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6DB4B6E-8DA9-430F-BE31-B9787746FFCC}"/>
              </a:ext>
            </a:extLst>
          </p:cNvPr>
          <p:cNvSpPr/>
          <p:nvPr/>
        </p:nvSpPr>
        <p:spPr>
          <a:xfrm>
            <a:off x="10233035" y="-5141175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B7E23E-0F70-457D-BDD4-79114B246AF4}"/>
              </a:ext>
            </a:extLst>
          </p:cNvPr>
          <p:cNvSpPr txBox="1"/>
          <p:nvPr/>
        </p:nvSpPr>
        <p:spPr>
          <a:xfrm>
            <a:off x="9544801" y="-4125433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1" dirty="0">
                <a:solidFill>
                  <a:srgbClr val="2B2A26"/>
                </a:solidFill>
                <a:latin typeface="Aptos"/>
              </a:rPr>
              <a:t>Shared Inventory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C20D40B-2D8F-4B1F-AF35-598A44853568}"/>
              </a:ext>
            </a:extLst>
          </p:cNvPr>
          <p:cNvGrpSpPr/>
          <p:nvPr/>
        </p:nvGrpSpPr>
        <p:grpSpPr>
          <a:xfrm>
            <a:off x="896761" y="-1905952"/>
            <a:ext cx="3641518" cy="960120"/>
            <a:chOff x="14895576" y="5147226"/>
            <a:chExt cx="3641518" cy="960120"/>
          </a:xfrm>
        </p:grpSpPr>
        <p:sp>
          <p:nvSpPr>
            <p:cNvPr id="63" name="Rounded Rectangle 25">
              <a:extLst>
                <a:ext uri="{FF2B5EF4-FFF2-40B4-BE49-F238E27FC236}">
                  <a16:creationId xmlns:a16="http://schemas.microsoft.com/office/drawing/2014/main" id="{C12D20DD-7B34-4694-8DF4-0F6AD1DC2344}"/>
                </a:ext>
              </a:extLst>
            </p:cNvPr>
            <p:cNvSpPr/>
            <p:nvPr/>
          </p:nvSpPr>
          <p:spPr>
            <a:xfrm>
              <a:off x="14895576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6DFA8E36-7871-4627-88CF-1D415FFCE08D}"/>
                </a:ext>
              </a:extLst>
            </p:cNvPr>
            <p:cNvSpPr/>
            <p:nvPr/>
          </p:nvSpPr>
          <p:spPr>
            <a:xfrm>
              <a:off x="17962149" y="5553954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E25E692-656B-407D-AFFA-55D2302F9E78}"/>
              </a:ext>
            </a:extLst>
          </p:cNvPr>
          <p:cNvGrpSpPr/>
          <p:nvPr/>
        </p:nvGrpSpPr>
        <p:grpSpPr>
          <a:xfrm>
            <a:off x="4627513" y="-1905952"/>
            <a:ext cx="3641518" cy="960120"/>
            <a:chOff x="18626328" y="5147226"/>
            <a:chExt cx="3641518" cy="960120"/>
          </a:xfrm>
        </p:grpSpPr>
        <p:sp>
          <p:nvSpPr>
            <p:cNvPr id="66" name="Rounded Rectangle 29">
              <a:extLst>
                <a:ext uri="{FF2B5EF4-FFF2-40B4-BE49-F238E27FC236}">
                  <a16:creationId xmlns:a16="http://schemas.microsoft.com/office/drawing/2014/main" id="{104CCFF6-38DF-471D-AAD3-C8EB74BCA683}"/>
                </a:ext>
              </a:extLst>
            </p:cNvPr>
            <p:cNvSpPr/>
            <p:nvPr/>
          </p:nvSpPr>
          <p:spPr>
            <a:xfrm>
              <a:off x="18626328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38DEB798-1C17-47B0-8C48-E71C1240E7B7}"/>
                </a:ext>
              </a:extLst>
            </p:cNvPr>
            <p:cNvSpPr/>
            <p:nvPr/>
          </p:nvSpPr>
          <p:spPr>
            <a:xfrm>
              <a:off x="21573255" y="5230946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3F83461-A705-49A1-A2FA-179F2D2334FC}"/>
              </a:ext>
            </a:extLst>
          </p:cNvPr>
          <p:cNvGrpSpPr/>
          <p:nvPr/>
        </p:nvGrpSpPr>
        <p:grpSpPr>
          <a:xfrm>
            <a:off x="8358265" y="-1905952"/>
            <a:ext cx="3641518" cy="960120"/>
            <a:chOff x="22357080" y="5147226"/>
            <a:chExt cx="3641518" cy="960120"/>
          </a:xfrm>
        </p:grpSpPr>
        <p:sp>
          <p:nvSpPr>
            <p:cNvPr id="69" name="Rounded Rectangle 33">
              <a:extLst>
                <a:ext uri="{FF2B5EF4-FFF2-40B4-BE49-F238E27FC236}">
                  <a16:creationId xmlns:a16="http://schemas.microsoft.com/office/drawing/2014/main" id="{3CF2ED4B-A0EA-4E86-9B83-B01440709451}"/>
                </a:ext>
              </a:extLst>
            </p:cNvPr>
            <p:cNvSpPr/>
            <p:nvPr/>
          </p:nvSpPr>
          <p:spPr>
            <a:xfrm>
              <a:off x="22357080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FA054AE0-070C-48B2-833D-FB722EB16383}"/>
                </a:ext>
              </a:extLst>
            </p:cNvPr>
            <p:cNvSpPr/>
            <p:nvPr/>
          </p:nvSpPr>
          <p:spPr>
            <a:xfrm rot="18157744" flipH="1" flipV="1">
              <a:off x="23735117" y="5296690"/>
              <a:ext cx="64960" cy="52191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05C7F69-9993-4AC3-BE7E-03690C423A1B}"/>
              </a:ext>
            </a:extLst>
          </p:cNvPr>
          <p:cNvSpPr txBox="1"/>
          <p:nvPr/>
        </p:nvSpPr>
        <p:spPr>
          <a:xfrm>
            <a:off x="2277284" y="-1683336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Food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7028C6-B37E-497D-A26F-8563F5949D34}"/>
              </a:ext>
            </a:extLst>
          </p:cNvPr>
          <p:cNvSpPr txBox="1"/>
          <p:nvPr/>
        </p:nvSpPr>
        <p:spPr>
          <a:xfrm>
            <a:off x="5830967" y="-1678351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Money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B3FCB8-15D7-471C-B1C3-18444AF21B1A}"/>
              </a:ext>
            </a:extLst>
          </p:cNvPr>
          <p:cNvSpPr txBox="1"/>
          <p:nvPr/>
        </p:nvSpPr>
        <p:spPr>
          <a:xfrm>
            <a:off x="9006587" y="-1676224"/>
            <a:ext cx="302666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Simplify Management</a:t>
            </a:r>
          </a:p>
        </p:txBody>
      </p:sp>
      <p:pic>
        <p:nvPicPr>
          <p:cNvPr id="74" name="Graphic 73" descr="Network diagram">
            <a:extLst>
              <a:ext uri="{FF2B5EF4-FFF2-40B4-BE49-F238E27FC236}">
                <a16:creationId xmlns:a16="http://schemas.microsoft.com/office/drawing/2014/main" id="{01DF56DB-B0BF-498C-86C2-FD038BBBB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079" y="-5795858"/>
            <a:ext cx="342225" cy="34222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DB52800C-117B-4ED6-9043-E6EFA3672DBE}"/>
              </a:ext>
            </a:extLst>
          </p:cNvPr>
          <p:cNvSpPr txBox="1"/>
          <p:nvPr/>
        </p:nvSpPr>
        <p:spPr>
          <a:xfrm rot="5400000">
            <a:off x="3418671" y="-38361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4AA0CA-E139-49FF-8B98-85E120ED0008}"/>
              </a:ext>
            </a:extLst>
          </p:cNvPr>
          <p:cNvSpPr txBox="1"/>
          <p:nvPr/>
        </p:nvSpPr>
        <p:spPr>
          <a:xfrm rot="5400000">
            <a:off x="6231784" y="-38361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230D6E-41F8-4396-A43D-66D901AF8727}"/>
              </a:ext>
            </a:extLst>
          </p:cNvPr>
          <p:cNvSpPr txBox="1"/>
          <p:nvPr/>
        </p:nvSpPr>
        <p:spPr>
          <a:xfrm rot="5400000">
            <a:off x="9063283" y="-38361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pic>
        <p:nvPicPr>
          <p:cNvPr id="78" name="Graphic 77" descr="Alarm clock">
            <a:extLst>
              <a:ext uri="{FF2B5EF4-FFF2-40B4-BE49-F238E27FC236}">
                <a16:creationId xmlns:a16="http://schemas.microsoft.com/office/drawing/2014/main" id="{55652B87-30C9-4470-A457-35E5D201D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0216" y="-5163856"/>
            <a:ext cx="484361" cy="484361"/>
          </a:xfrm>
          <a:prstGeom prst="rect">
            <a:avLst/>
          </a:prstGeom>
        </p:spPr>
      </p:pic>
      <p:pic>
        <p:nvPicPr>
          <p:cNvPr id="79" name="Graphic 78" descr="Open book">
            <a:extLst>
              <a:ext uri="{FF2B5EF4-FFF2-40B4-BE49-F238E27FC236}">
                <a16:creationId xmlns:a16="http://schemas.microsoft.com/office/drawing/2014/main" id="{6015A32E-D19E-446D-ADCD-1D93624954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7848" y="-5121822"/>
            <a:ext cx="452613" cy="452613"/>
          </a:xfrm>
          <a:prstGeom prst="rect">
            <a:avLst/>
          </a:prstGeom>
        </p:spPr>
      </p:pic>
      <p:pic>
        <p:nvPicPr>
          <p:cNvPr id="80" name="Graphic 79" descr="Family with two children">
            <a:extLst>
              <a:ext uri="{FF2B5EF4-FFF2-40B4-BE49-F238E27FC236}">
                <a16:creationId xmlns:a16="http://schemas.microsoft.com/office/drawing/2014/main" id="{452304BB-02D1-4482-A580-30322A63E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82281" y="-5158120"/>
            <a:ext cx="452613" cy="452613"/>
          </a:xfrm>
          <a:prstGeom prst="rect">
            <a:avLst/>
          </a:prstGeom>
        </p:spPr>
      </p:pic>
      <p:pic>
        <p:nvPicPr>
          <p:cNvPr id="81" name="Graphic 80" descr="Box">
            <a:extLst>
              <a:ext uri="{FF2B5EF4-FFF2-40B4-BE49-F238E27FC236}">
                <a16:creationId xmlns:a16="http://schemas.microsoft.com/office/drawing/2014/main" id="{AC378911-88DC-4562-A055-1F79EDDA9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5929" y="-5131855"/>
            <a:ext cx="452613" cy="452613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8E8DF00-89C3-4EDD-93E7-B0C06A9451B0}"/>
              </a:ext>
            </a:extLst>
          </p:cNvPr>
          <p:cNvCxnSpPr/>
          <p:nvPr/>
        </p:nvCxnSpPr>
        <p:spPr>
          <a:xfrm>
            <a:off x="1095745" y="-2681249"/>
            <a:ext cx="2112614" cy="0"/>
          </a:xfrm>
          <a:prstGeom prst="line">
            <a:avLst/>
          </a:prstGeom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9C98B87-EB1B-431A-A2F0-7787A0CFE21B}"/>
              </a:ext>
            </a:extLst>
          </p:cNvPr>
          <p:cNvCxnSpPr/>
          <p:nvPr/>
        </p:nvCxnSpPr>
        <p:spPr>
          <a:xfrm>
            <a:off x="3953541" y="-26812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E87719F-2EC3-4C9B-8547-651F36D1E5CF}"/>
              </a:ext>
            </a:extLst>
          </p:cNvPr>
          <p:cNvCxnSpPr/>
          <p:nvPr/>
        </p:nvCxnSpPr>
        <p:spPr>
          <a:xfrm>
            <a:off x="6766210" y="-26812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77FC282-C7F1-4628-B407-CC55A3DDE697}"/>
              </a:ext>
            </a:extLst>
          </p:cNvPr>
          <p:cNvCxnSpPr/>
          <p:nvPr/>
        </p:nvCxnSpPr>
        <p:spPr>
          <a:xfrm>
            <a:off x="9546290" y="-26812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4EF5CD5-9373-40B8-B71A-2C82E1AD3ADC}"/>
              </a:ext>
            </a:extLst>
          </p:cNvPr>
          <p:cNvGrpSpPr/>
          <p:nvPr/>
        </p:nvGrpSpPr>
        <p:grpSpPr>
          <a:xfrm>
            <a:off x="1670057" y="-1700706"/>
            <a:ext cx="522037" cy="485197"/>
            <a:chOff x="1670057" y="5366784"/>
            <a:chExt cx="522037" cy="485197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F6BEBE8-28C3-4F8B-B313-3010744DB707}"/>
                </a:ext>
              </a:extLst>
            </p:cNvPr>
            <p:cNvSpPr/>
            <p:nvPr/>
          </p:nvSpPr>
          <p:spPr>
            <a:xfrm>
              <a:off x="1670057" y="5366784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88" name="Graphic 87" descr="Apple">
              <a:extLst>
                <a:ext uri="{FF2B5EF4-FFF2-40B4-BE49-F238E27FC236}">
                  <a16:creationId xmlns:a16="http://schemas.microsoft.com/office/drawing/2014/main" id="{132D93A6-4765-46D7-BF89-6BF0BCE6C4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805324" y="5456558"/>
              <a:ext cx="270350" cy="270350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F13FDC4-7B30-42AB-BAB2-6238D3FD6C55}"/>
              </a:ext>
            </a:extLst>
          </p:cNvPr>
          <p:cNvGrpSpPr/>
          <p:nvPr/>
        </p:nvGrpSpPr>
        <p:grpSpPr>
          <a:xfrm>
            <a:off x="5206341" y="-1698043"/>
            <a:ext cx="522037" cy="485197"/>
            <a:chOff x="5206341" y="5369447"/>
            <a:chExt cx="522037" cy="485197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F34C84C-28A8-4704-B57B-903942D49459}"/>
                </a:ext>
              </a:extLst>
            </p:cNvPr>
            <p:cNvSpPr/>
            <p:nvPr/>
          </p:nvSpPr>
          <p:spPr>
            <a:xfrm>
              <a:off x="5206341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1" name="Graphic 90" descr="Coins">
              <a:extLst>
                <a:ext uri="{FF2B5EF4-FFF2-40B4-BE49-F238E27FC236}">
                  <a16:creationId xmlns:a16="http://schemas.microsoft.com/office/drawing/2014/main" id="{E18EE7B9-34D7-4D7C-8142-C7CE3E1A5D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338646" y="5473545"/>
              <a:ext cx="270350" cy="270350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F65BD63-9E0C-4339-860F-3D75E3F6EE7B}"/>
              </a:ext>
            </a:extLst>
          </p:cNvPr>
          <p:cNvGrpSpPr/>
          <p:nvPr/>
        </p:nvGrpSpPr>
        <p:grpSpPr>
          <a:xfrm>
            <a:off x="8473917" y="-1698043"/>
            <a:ext cx="522037" cy="485197"/>
            <a:chOff x="8473917" y="5369447"/>
            <a:chExt cx="522037" cy="485197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B4711B3-A62D-43D8-AA39-42755B499263}"/>
                </a:ext>
              </a:extLst>
            </p:cNvPr>
            <p:cNvSpPr/>
            <p:nvPr/>
          </p:nvSpPr>
          <p:spPr>
            <a:xfrm>
              <a:off x="8473917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4" name="Graphic 93" descr="Circle with right arrow">
              <a:extLst>
                <a:ext uri="{FF2B5EF4-FFF2-40B4-BE49-F238E27FC236}">
                  <a16:creationId xmlns:a16="http://schemas.microsoft.com/office/drawing/2014/main" id="{A65053BC-A933-484F-AADF-4F2A6A9388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8609933" y="5480998"/>
              <a:ext cx="270350" cy="27035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82D031D-F8A0-4FE9-BD87-96D638C3CBD9}"/>
              </a:ext>
            </a:extLst>
          </p:cNvPr>
          <p:cNvGrpSpPr/>
          <p:nvPr/>
        </p:nvGrpSpPr>
        <p:grpSpPr>
          <a:xfrm>
            <a:off x="658368" y="996697"/>
            <a:ext cx="3885923" cy="2172208"/>
            <a:chOff x="658368" y="996697"/>
            <a:chExt cx="3885923" cy="217220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FB9007F-158F-446D-A3E4-20F1269BF9AF}"/>
                </a:ext>
              </a:extLst>
            </p:cNvPr>
            <p:cNvSpPr/>
            <p:nvPr/>
          </p:nvSpPr>
          <p:spPr>
            <a:xfrm>
              <a:off x="658368" y="996697"/>
              <a:ext cx="3885923" cy="2172208"/>
            </a:xfrm>
            <a:prstGeom prst="rect">
              <a:avLst/>
            </a:prstGeom>
            <a:blipFill>
              <a:blip r:embed="rId15"/>
              <a:stretch>
                <a:fillRect/>
              </a:stretch>
            </a:blip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BE9E1E5-5305-4428-96CA-B945273D2C65}"/>
                </a:ext>
              </a:extLst>
            </p:cNvPr>
            <p:cNvSpPr/>
            <p:nvPr/>
          </p:nvSpPr>
          <p:spPr>
            <a:xfrm>
              <a:off x="3418671" y="1736203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E1EAACB-3FB1-4C8C-A72C-771FFE51A5C4}"/>
              </a:ext>
            </a:extLst>
          </p:cNvPr>
          <p:cNvGrpSpPr/>
          <p:nvPr/>
        </p:nvGrpSpPr>
        <p:grpSpPr>
          <a:xfrm>
            <a:off x="5278820" y="1536192"/>
            <a:ext cx="310896" cy="310896"/>
            <a:chOff x="5278820" y="1536192"/>
            <a:chExt cx="310896" cy="310896"/>
          </a:xfrm>
        </p:grpSpPr>
        <p:sp>
          <p:nvSpPr>
            <p:cNvPr id="13" name="Oval 12"/>
            <p:cNvSpPr/>
            <p:nvPr/>
          </p:nvSpPr>
          <p:spPr>
            <a:xfrm>
              <a:off x="5278820" y="1536192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1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8DA3810-4A7B-47F6-BBD8-CDCD08F578D3}"/>
                </a:ext>
              </a:extLst>
            </p:cNvPr>
            <p:cNvCxnSpPr>
              <a:cxnSpLocks/>
              <a:stCxn id="13" idx="4"/>
              <a:endCxn id="13" idx="6"/>
            </p:cNvCxnSpPr>
            <p:nvPr/>
          </p:nvCxnSpPr>
          <p:spPr>
            <a:xfrm flipV="1">
              <a:off x="5434268" y="1691640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94E0AD2-1E10-4B90-BADA-67F4F9207416}"/>
              </a:ext>
            </a:extLst>
          </p:cNvPr>
          <p:cNvGrpSpPr/>
          <p:nvPr/>
        </p:nvGrpSpPr>
        <p:grpSpPr>
          <a:xfrm>
            <a:off x="8623122" y="1535160"/>
            <a:ext cx="310896" cy="310896"/>
            <a:chOff x="8623122" y="1535160"/>
            <a:chExt cx="310896" cy="310896"/>
          </a:xfrm>
        </p:grpSpPr>
        <p:sp>
          <p:nvSpPr>
            <p:cNvPr id="18" name="Oval 17"/>
            <p:cNvSpPr/>
            <p:nvPr/>
          </p:nvSpPr>
          <p:spPr>
            <a:xfrm>
              <a:off x="8623122" y="1535160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2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B592C3C-ADF2-4A2E-870B-8FF5089D8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060" y="166873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58A1E38-4C84-4CCD-A1D0-558752BB13A5}"/>
              </a:ext>
            </a:extLst>
          </p:cNvPr>
          <p:cNvGrpSpPr/>
          <p:nvPr/>
        </p:nvGrpSpPr>
        <p:grpSpPr>
          <a:xfrm>
            <a:off x="5257800" y="3917325"/>
            <a:ext cx="310896" cy="310896"/>
            <a:chOff x="5257800" y="3917325"/>
            <a:chExt cx="310896" cy="310896"/>
          </a:xfrm>
        </p:grpSpPr>
        <p:sp>
          <p:nvSpPr>
            <p:cNvPr id="23" name="Oval 22"/>
            <p:cNvSpPr/>
            <p:nvPr/>
          </p:nvSpPr>
          <p:spPr>
            <a:xfrm>
              <a:off x="5257800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3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6713B16-4C84-4E56-B1BA-5BD7450A7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1558" y="403584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569BE28-FFC6-477D-B05D-CB44B45039F8}"/>
              </a:ext>
            </a:extLst>
          </p:cNvPr>
          <p:cNvGrpSpPr/>
          <p:nvPr/>
        </p:nvGrpSpPr>
        <p:grpSpPr>
          <a:xfrm>
            <a:off x="8632725" y="3917325"/>
            <a:ext cx="310896" cy="310896"/>
            <a:chOff x="8632725" y="3917325"/>
            <a:chExt cx="310896" cy="310896"/>
          </a:xfrm>
        </p:grpSpPr>
        <p:sp>
          <p:nvSpPr>
            <p:cNvPr id="28" name="Oval 27"/>
            <p:cNvSpPr/>
            <p:nvPr/>
          </p:nvSpPr>
          <p:spPr>
            <a:xfrm>
              <a:off x="8632725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4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B8564D0-5926-4E3B-9BC2-37E11AFD99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4835" y="4013624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4BDAA9-2150-41A0-9771-7E6F42CB6B34}"/>
              </a:ext>
            </a:extLst>
          </p:cNvPr>
          <p:cNvSpPr txBox="1"/>
          <p:nvPr/>
        </p:nvSpPr>
        <p:spPr>
          <a:xfrm>
            <a:off x="4427455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3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BD901-5367-4D85-BE23-42C29AE3E7DE}"/>
              </a:ext>
            </a:extLst>
          </p:cNvPr>
          <p:cNvSpPr txBox="1"/>
          <p:nvPr/>
        </p:nvSpPr>
        <p:spPr>
          <a:xfrm>
            <a:off x="5478780" y="1962523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A8820-528A-42F2-BF20-A18C0F7FA2EA}"/>
              </a:ext>
            </a:extLst>
          </p:cNvPr>
          <p:cNvSpPr txBox="1"/>
          <p:nvPr/>
        </p:nvSpPr>
        <p:spPr>
          <a:xfrm>
            <a:off x="5465307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3.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EC4AB-892A-45AB-90D1-40F404677E2E}"/>
              </a:ext>
            </a:extLst>
          </p:cNvPr>
          <p:cNvSpPr txBox="1"/>
          <p:nvPr/>
        </p:nvSpPr>
        <p:spPr>
          <a:xfrm>
            <a:off x="4239685" y="3216456"/>
            <a:ext cx="371262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2B2A26"/>
                </a:solidFill>
                <a:latin typeface="Aptos"/>
              </a:rPr>
              <a:t>Prototype Journey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CAB38F-CE95-430A-800C-DD758E75B517}"/>
              </a:ext>
            </a:extLst>
          </p:cNvPr>
          <p:cNvCxnSpPr/>
          <p:nvPr/>
        </p:nvCxnSpPr>
        <p:spPr>
          <a:xfrm>
            <a:off x="6391373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F486E1-F455-4DD9-85DE-748C8EA71C45}"/>
              </a:ext>
            </a:extLst>
          </p:cNvPr>
          <p:cNvCxnSpPr/>
          <p:nvPr/>
        </p:nvCxnSpPr>
        <p:spPr>
          <a:xfrm>
            <a:off x="5384276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Monitor">
            <a:extLst>
              <a:ext uri="{FF2B5EF4-FFF2-40B4-BE49-F238E27FC236}">
                <a16:creationId xmlns:a16="http://schemas.microsoft.com/office/drawing/2014/main" id="{D930D5AA-279C-4490-A039-7A0CF62D7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37280" y="4169612"/>
            <a:ext cx="471717" cy="47171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80FF37B-2156-4CEB-AD4C-4184C1D5E386}"/>
              </a:ext>
            </a:extLst>
          </p:cNvPr>
          <p:cNvGrpSpPr/>
          <p:nvPr/>
        </p:nvGrpSpPr>
        <p:grpSpPr>
          <a:xfrm>
            <a:off x="-8269776" y="3754898"/>
            <a:ext cx="3210098" cy="2218707"/>
            <a:chOff x="5092931" y="3754898"/>
            <a:chExt cx="3210098" cy="2218707"/>
          </a:xfrm>
        </p:grpSpPr>
        <p:sp>
          <p:nvSpPr>
            <p:cNvPr id="16" name="Rounded Rectangle 21">
              <a:extLst>
                <a:ext uri="{FF2B5EF4-FFF2-40B4-BE49-F238E27FC236}">
                  <a16:creationId xmlns:a16="http://schemas.microsoft.com/office/drawing/2014/main" id="{DBC3029C-D1C1-4314-AC74-4FC4A0337760}"/>
                </a:ext>
              </a:extLst>
            </p:cNvPr>
            <p:cNvSpPr/>
            <p:nvPr/>
          </p:nvSpPr>
          <p:spPr>
            <a:xfrm>
              <a:off x="5092931" y="3754898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515B471-DAF0-4BBD-8683-4605B470EFBE}"/>
                </a:ext>
              </a:extLst>
            </p:cNvPr>
            <p:cNvSpPr/>
            <p:nvPr/>
          </p:nvSpPr>
          <p:spPr>
            <a:xfrm>
              <a:off x="5685636" y="3943739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6" name="Graphic 45" descr="Fork and knife">
            <a:extLst>
              <a:ext uri="{FF2B5EF4-FFF2-40B4-BE49-F238E27FC236}">
                <a16:creationId xmlns:a16="http://schemas.microsoft.com/office/drawing/2014/main" id="{928A5D36-A1AF-4F62-AACA-6D0667267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831801" y="3847942"/>
            <a:ext cx="607253" cy="60725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823584F-8A1C-4B09-9B49-5385D6090723}"/>
              </a:ext>
            </a:extLst>
          </p:cNvPr>
          <p:cNvGrpSpPr/>
          <p:nvPr/>
        </p:nvGrpSpPr>
        <p:grpSpPr>
          <a:xfrm>
            <a:off x="-5878422" y="3750799"/>
            <a:ext cx="3210098" cy="2218707"/>
            <a:chOff x="8431045" y="3750799"/>
            <a:chExt cx="3210098" cy="2218707"/>
          </a:xfrm>
        </p:grpSpPr>
        <p:sp>
          <p:nvSpPr>
            <p:cNvPr id="19" name="Rounded Rectangle 26">
              <a:extLst>
                <a:ext uri="{FF2B5EF4-FFF2-40B4-BE49-F238E27FC236}">
                  <a16:creationId xmlns:a16="http://schemas.microsoft.com/office/drawing/2014/main" id="{696031DE-DA4A-418B-9E05-8DD7919563A9}"/>
                </a:ext>
              </a:extLst>
            </p:cNvPr>
            <p:cNvSpPr/>
            <p:nvPr/>
          </p:nvSpPr>
          <p:spPr>
            <a:xfrm>
              <a:off x="8431045" y="3750799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2304D82-9C4A-41C7-924F-D04B4D498CCD}"/>
                </a:ext>
              </a:extLst>
            </p:cNvPr>
            <p:cNvSpPr/>
            <p:nvPr/>
          </p:nvSpPr>
          <p:spPr>
            <a:xfrm>
              <a:off x="9117009" y="3992302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220AF0-DEC8-4EAA-B04C-8BEC1CE2C230}"/>
              </a:ext>
            </a:extLst>
          </p:cNvPr>
          <p:cNvGrpSpPr/>
          <p:nvPr/>
        </p:nvGrpSpPr>
        <p:grpSpPr>
          <a:xfrm>
            <a:off x="-8258178" y="1408530"/>
            <a:ext cx="3210098" cy="2218707"/>
            <a:chOff x="5104529" y="1408530"/>
            <a:chExt cx="3210098" cy="2218707"/>
          </a:xfrm>
        </p:grpSpPr>
        <p:sp>
          <p:nvSpPr>
            <p:cNvPr id="25" name="Rounded Rectangle 11">
              <a:extLst>
                <a:ext uri="{FF2B5EF4-FFF2-40B4-BE49-F238E27FC236}">
                  <a16:creationId xmlns:a16="http://schemas.microsoft.com/office/drawing/2014/main" id="{7AF084F4-A665-4569-A4EA-6CAFECBF0A38}"/>
                </a:ext>
              </a:extLst>
            </p:cNvPr>
            <p:cNvSpPr/>
            <p:nvPr/>
          </p:nvSpPr>
          <p:spPr>
            <a:xfrm>
              <a:off x="5104529" y="1408530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6CEB20-321B-4D95-B9FA-74A54A46B159}"/>
                </a:ext>
              </a:extLst>
            </p:cNvPr>
            <p:cNvSpPr/>
            <p:nvPr/>
          </p:nvSpPr>
          <p:spPr>
            <a:xfrm>
              <a:off x="5710935" y="160591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5" name="Graphic 44" descr="Pasta">
            <a:extLst>
              <a:ext uri="{FF2B5EF4-FFF2-40B4-BE49-F238E27FC236}">
                <a16:creationId xmlns:a16="http://schemas.microsoft.com/office/drawing/2014/main" id="{9FE89C68-B2B9-4CE1-8433-A6026C20D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86975" y="1437078"/>
            <a:ext cx="683447" cy="68344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EC17F3F-CDE9-48A0-B0FD-F2264CF8AAF8}"/>
              </a:ext>
            </a:extLst>
          </p:cNvPr>
          <p:cNvGrpSpPr/>
          <p:nvPr/>
        </p:nvGrpSpPr>
        <p:grpSpPr>
          <a:xfrm>
            <a:off x="-5873621" y="1404431"/>
            <a:ext cx="3210098" cy="2218707"/>
            <a:chOff x="8435846" y="1404431"/>
            <a:chExt cx="3210098" cy="2218707"/>
          </a:xfrm>
        </p:grpSpPr>
        <p:sp>
          <p:nvSpPr>
            <p:cNvPr id="22" name="Rounded Rectangle 16">
              <a:extLst>
                <a:ext uri="{FF2B5EF4-FFF2-40B4-BE49-F238E27FC236}">
                  <a16:creationId xmlns:a16="http://schemas.microsoft.com/office/drawing/2014/main" id="{1B4EAD2B-2DDE-4EDB-882A-C5047394D190}"/>
                </a:ext>
              </a:extLst>
            </p:cNvPr>
            <p:cNvSpPr/>
            <p:nvPr/>
          </p:nvSpPr>
          <p:spPr>
            <a:xfrm>
              <a:off x="8435846" y="1404431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CF1842A-74F2-4465-B85E-B1C318500786}"/>
                </a:ext>
              </a:extLst>
            </p:cNvPr>
            <p:cNvSpPr/>
            <p:nvPr/>
          </p:nvSpPr>
          <p:spPr>
            <a:xfrm>
              <a:off x="9099599" y="157197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237DF94-1B51-4E5D-8031-1C50906870DD}"/>
              </a:ext>
            </a:extLst>
          </p:cNvPr>
          <p:cNvSpPr txBox="1"/>
          <p:nvPr/>
        </p:nvSpPr>
        <p:spPr>
          <a:xfrm>
            <a:off x="-11851820" y="257015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Effects on users (Impact)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3393BD-4931-48A4-9FEF-0BE94D4E44D1}"/>
              </a:ext>
            </a:extLst>
          </p:cNvPr>
          <p:cNvSpPr txBox="1"/>
          <p:nvPr/>
        </p:nvSpPr>
        <p:spPr>
          <a:xfrm>
            <a:off x="-11748375" y="3269581"/>
            <a:ext cx="397763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487C57"/>
                </a:solidFill>
                <a:latin typeface="Aptos"/>
              </a:rPr>
              <a:t>       </a:t>
            </a:r>
            <a:r>
              <a:rPr sz="1600" b="1" dirty="0">
                <a:solidFill>
                  <a:srgbClr val="487C57"/>
                </a:solidFill>
                <a:latin typeface="Aptos"/>
              </a:rPr>
              <a:t>The app fits seamlessly into your existing daily kitchen routine.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7F446D-6F67-4E0D-85FB-2AED5A609814}"/>
              </a:ext>
            </a:extLst>
          </p:cNvPr>
          <p:cNvSpPr txBox="1"/>
          <p:nvPr/>
        </p:nvSpPr>
        <p:spPr>
          <a:xfrm>
            <a:off x="-11739325" y="3888931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Add an item once, receive a reminder, and choose your next action.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75FBDD-1317-4CD2-ACDA-850364A760DD}"/>
              </a:ext>
            </a:extLst>
          </p:cNvPr>
          <p:cNvSpPr txBox="1"/>
          <p:nvPr/>
        </p:nvSpPr>
        <p:spPr>
          <a:xfrm>
            <a:off x="-8287787" y="86868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Four Direct Benefits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0EAA2D-4BA1-4CD2-BB84-417842D3DDF2}"/>
              </a:ext>
            </a:extLst>
          </p:cNvPr>
          <p:cNvSpPr txBox="1"/>
          <p:nvPr/>
        </p:nvSpPr>
        <p:spPr>
          <a:xfrm>
            <a:off x="-8081043" y="2196506"/>
            <a:ext cx="2199463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Prevents Forgotten Food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572612-92DB-4BBA-B3B0-4DE47170F8D1}"/>
              </a:ext>
            </a:extLst>
          </p:cNvPr>
          <p:cNvSpPr txBox="1"/>
          <p:nvPr/>
        </p:nvSpPr>
        <p:spPr>
          <a:xfrm>
            <a:off x="-5681783" y="2195474"/>
            <a:ext cx="168502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Reduces Spending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8CF8B6-7C0C-4428-92FB-36C6EAB237D6}"/>
              </a:ext>
            </a:extLst>
          </p:cNvPr>
          <p:cNvSpPr txBox="1"/>
          <p:nvPr/>
        </p:nvSpPr>
        <p:spPr>
          <a:xfrm>
            <a:off x="-8104907" y="4544723"/>
            <a:ext cx="198029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Faster Meal Decisions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E9F4C4-B42E-459D-8DB2-55F9B6015E3A}"/>
              </a:ext>
            </a:extLst>
          </p:cNvPr>
          <p:cNvGrpSpPr/>
          <p:nvPr/>
        </p:nvGrpSpPr>
        <p:grpSpPr>
          <a:xfrm>
            <a:off x="-11748376" y="4539068"/>
            <a:ext cx="4057075" cy="584775"/>
            <a:chOff x="658367" y="4539068"/>
            <a:chExt cx="4057075" cy="1245390"/>
          </a:xfrm>
        </p:grpSpPr>
        <p:sp>
          <p:nvSpPr>
            <p:cNvPr id="28" name="Rounded Rectangle 7">
              <a:extLst>
                <a:ext uri="{FF2B5EF4-FFF2-40B4-BE49-F238E27FC236}">
                  <a16:creationId xmlns:a16="http://schemas.microsoft.com/office/drawing/2014/main" id="{4BCF1C51-D3CB-402E-B815-EC42C1D26330}"/>
                </a:ext>
              </a:extLst>
            </p:cNvPr>
            <p:cNvSpPr/>
            <p:nvPr/>
          </p:nvSpPr>
          <p:spPr>
            <a:xfrm>
              <a:off x="658367" y="4539068"/>
              <a:ext cx="4057075" cy="12453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B5F92AC-3222-4EFB-AF5A-03338962C6D9}"/>
                </a:ext>
              </a:extLst>
            </p:cNvPr>
            <p:cNvSpPr/>
            <p:nvPr/>
          </p:nvSpPr>
          <p:spPr>
            <a:xfrm>
              <a:off x="3418671" y="4671513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52370E7-4E75-483E-A015-88BE0E5D6F6F}"/>
              </a:ext>
            </a:extLst>
          </p:cNvPr>
          <p:cNvSpPr txBox="1"/>
          <p:nvPr/>
        </p:nvSpPr>
        <p:spPr>
          <a:xfrm>
            <a:off x="-5674769" y="4544723"/>
            <a:ext cx="222468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Easier Cooking Steps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44" name="Graphic 43" descr="Leaf">
            <a:extLst>
              <a:ext uri="{FF2B5EF4-FFF2-40B4-BE49-F238E27FC236}">
                <a16:creationId xmlns:a16="http://schemas.microsoft.com/office/drawing/2014/main" id="{43007350-C7C8-426F-92E4-B545AA3D57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1629503" y="3300341"/>
            <a:ext cx="280645" cy="280645"/>
          </a:xfrm>
          <a:prstGeom prst="rect">
            <a:avLst/>
          </a:prstGeom>
        </p:spPr>
      </p:pic>
      <p:pic>
        <p:nvPicPr>
          <p:cNvPr id="47" name="Graphic 46" descr="Checklist RTL">
            <a:extLst>
              <a:ext uri="{FF2B5EF4-FFF2-40B4-BE49-F238E27FC236}">
                <a16:creationId xmlns:a16="http://schemas.microsoft.com/office/drawing/2014/main" id="{49FBA589-92C4-4B90-8933-2B2E665F60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357314" y="3856651"/>
            <a:ext cx="630799" cy="6307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DABCF5E-5A9A-489B-873C-49D7CF858A3F}"/>
              </a:ext>
            </a:extLst>
          </p:cNvPr>
          <p:cNvSpPr txBox="1"/>
          <p:nvPr/>
        </p:nvSpPr>
        <p:spPr>
          <a:xfrm>
            <a:off x="-10888101" y="4659156"/>
            <a:ext cx="21414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Scan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Alert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Act</a:t>
            </a:r>
          </a:p>
        </p:txBody>
      </p:sp>
      <p:pic>
        <p:nvPicPr>
          <p:cNvPr id="48" name="Graphic 47" descr="Piggy Bank">
            <a:extLst>
              <a:ext uri="{FF2B5EF4-FFF2-40B4-BE49-F238E27FC236}">
                <a16:creationId xmlns:a16="http://schemas.microsoft.com/office/drawing/2014/main" id="{5917D7FE-CE21-4676-9926-E5B7AD550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408670" y="1437303"/>
            <a:ext cx="683447" cy="683447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3EA3DD4E-1C89-41D1-8B8C-44ACCEAC66EC}"/>
              </a:ext>
            </a:extLst>
          </p:cNvPr>
          <p:cNvGrpSpPr/>
          <p:nvPr/>
        </p:nvGrpSpPr>
        <p:grpSpPr>
          <a:xfrm>
            <a:off x="-11748375" y="996697"/>
            <a:ext cx="3885923" cy="2172208"/>
            <a:chOff x="658368" y="996697"/>
            <a:chExt cx="3885923" cy="217220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00E48F-5AA6-4790-9A9D-753AB38EA340}"/>
                </a:ext>
              </a:extLst>
            </p:cNvPr>
            <p:cNvSpPr/>
            <p:nvPr/>
          </p:nvSpPr>
          <p:spPr>
            <a:xfrm>
              <a:off x="658368" y="996697"/>
              <a:ext cx="3885923" cy="2172208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BFDEC2B-0907-4C54-8385-C54DDE7CE340}"/>
                </a:ext>
              </a:extLst>
            </p:cNvPr>
            <p:cNvSpPr/>
            <p:nvPr/>
          </p:nvSpPr>
          <p:spPr>
            <a:xfrm>
              <a:off x="3418671" y="1736203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99FD1E-4FC3-4908-90FC-6E1B1BD70E3B}"/>
              </a:ext>
            </a:extLst>
          </p:cNvPr>
          <p:cNvGrpSpPr/>
          <p:nvPr/>
        </p:nvGrpSpPr>
        <p:grpSpPr>
          <a:xfrm>
            <a:off x="-8083887" y="1536192"/>
            <a:ext cx="310896" cy="310896"/>
            <a:chOff x="5278820" y="1536192"/>
            <a:chExt cx="310896" cy="310896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956E1D1-F9C7-4E56-9D35-56F55FEF482E}"/>
                </a:ext>
              </a:extLst>
            </p:cNvPr>
            <p:cNvSpPr/>
            <p:nvPr/>
          </p:nvSpPr>
          <p:spPr>
            <a:xfrm>
              <a:off x="5278820" y="1536192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1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E8C0764-2F3B-4CDF-9613-1886E3BAEAF8}"/>
                </a:ext>
              </a:extLst>
            </p:cNvPr>
            <p:cNvCxnSpPr>
              <a:cxnSpLocks/>
              <a:stCxn id="53" idx="4"/>
              <a:endCxn id="53" idx="6"/>
            </p:cNvCxnSpPr>
            <p:nvPr/>
          </p:nvCxnSpPr>
          <p:spPr>
            <a:xfrm flipV="1">
              <a:off x="5434268" y="1691640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E8670BE-FACA-4A51-ADE7-30377672E41D}"/>
              </a:ext>
            </a:extLst>
          </p:cNvPr>
          <p:cNvGrpSpPr/>
          <p:nvPr/>
        </p:nvGrpSpPr>
        <p:grpSpPr>
          <a:xfrm>
            <a:off x="-5674770" y="1535160"/>
            <a:ext cx="310896" cy="310896"/>
            <a:chOff x="8623122" y="1535160"/>
            <a:chExt cx="310896" cy="310896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7FE7955-95E3-4D6A-A1C3-C7B08961B6CB}"/>
                </a:ext>
              </a:extLst>
            </p:cNvPr>
            <p:cNvSpPr/>
            <p:nvPr/>
          </p:nvSpPr>
          <p:spPr>
            <a:xfrm>
              <a:off x="8623122" y="1535160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2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5ADAA8-83A0-481C-9A1D-AAE8773267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060" y="166873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4529B4A-1A5D-4522-8095-B9170384EFA1}"/>
              </a:ext>
            </a:extLst>
          </p:cNvPr>
          <p:cNvGrpSpPr/>
          <p:nvPr/>
        </p:nvGrpSpPr>
        <p:grpSpPr>
          <a:xfrm>
            <a:off x="-8104907" y="3917325"/>
            <a:ext cx="310896" cy="310896"/>
            <a:chOff x="5257800" y="3917325"/>
            <a:chExt cx="310896" cy="310896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58C9F3C-94DF-4F7E-8BDE-120650CBAC74}"/>
                </a:ext>
              </a:extLst>
            </p:cNvPr>
            <p:cNvSpPr/>
            <p:nvPr/>
          </p:nvSpPr>
          <p:spPr>
            <a:xfrm>
              <a:off x="5257800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3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63D1061-47DA-4BAD-9162-69D67AE63D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1558" y="403584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C6F81B5-FED6-4E92-BF79-E59250835A9C}"/>
              </a:ext>
            </a:extLst>
          </p:cNvPr>
          <p:cNvGrpSpPr/>
          <p:nvPr/>
        </p:nvGrpSpPr>
        <p:grpSpPr>
          <a:xfrm>
            <a:off x="-5665167" y="3917325"/>
            <a:ext cx="310896" cy="310896"/>
            <a:chOff x="8632725" y="3917325"/>
            <a:chExt cx="310896" cy="310896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0927AEB-7A72-47BB-9D23-A0ED2AB51E30}"/>
                </a:ext>
              </a:extLst>
            </p:cNvPr>
            <p:cNvSpPr/>
            <p:nvPr/>
          </p:nvSpPr>
          <p:spPr>
            <a:xfrm>
              <a:off x="8632725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4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25E5A27-E890-44AD-8C71-D8129A973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4835" y="4013624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E2E347-650D-413E-8652-7884C161BFA9}"/>
              </a:ext>
            </a:extLst>
          </p:cNvPr>
          <p:cNvSpPr/>
          <p:nvPr/>
        </p:nvSpPr>
        <p:spPr>
          <a:xfrm>
            <a:off x="9059175" y="1937656"/>
            <a:ext cx="2307989" cy="349143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264F6D-0001-48F8-BC6F-B62BCC1A8D63}"/>
              </a:ext>
            </a:extLst>
          </p:cNvPr>
          <p:cNvSpPr txBox="1"/>
          <p:nvPr/>
        </p:nvSpPr>
        <p:spPr>
          <a:xfrm>
            <a:off x="9206131" y="2143651"/>
            <a:ext cx="201407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Target Audience: </a:t>
            </a:r>
            <a:r>
              <a:rPr lang="en-US" dirty="0">
                <a:solidFill>
                  <a:schemeClr val="bg1"/>
                </a:solidFill>
                <a:latin typeface="Aptos"/>
              </a:rPr>
              <a:t>Busy Home Cooks</a:t>
            </a:r>
          </a:p>
          <a:p>
            <a:pPr algn="ctr"/>
            <a:endParaRPr lang="en-US" dirty="0">
              <a:solidFill>
                <a:schemeClr val="bg1"/>
              </a:solidFill>
              <a:latin typeface="Aptos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Differentiation: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ptos"/>
              </a:rPr>
              <a:t>An algorithm trained to suggest smart ingredient substitutions based on household cooking habits</a:t>
            </a:r>
            <a:endParaRPr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19" y="777240"/>
            <a:ext cx="3930304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8" y="1086169"/>
            <a:ext cx="2788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87C57"/>
                </a:solidFill>
                <a:latin typeface="Aptos"/>
              </a:rPr>
              <a:t>Smart Expiry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4115240"/>
            <a:ext cx="2852928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BarKyanLal scans stored ingredients and ranks them by expiration date.
It surfaces the right ingredient at the exact right time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12116" y="777240"/>
            <a:ext cx="3776733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5920" y="1086169"/>
            <a:ext cx="28209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dirty="0">
                <a:solidFill>
                  <a:srgbClr val="487C57"/>
                </a:solidFill>
                <a:latin typeface="Aptos"/>
              </a:rPr>
              <a:t>AI-Guided Meal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916" y="4044094"/>
            <a:ext cx="2852928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The app recommends recipes using the most urgent items first.
It converts expiring ingredients into practical cooking suggestions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67742" y="870857"/>
            <a:ext cx="2890857" cy="78798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8" name="3D Model 27" descr="Alarm Clock">
                <a:extLst>
                  <a:ext uri="{FF2B5EF4-FFF2-40B4-BE49-F238E27FC236}">
                    <a16:creationId xmlns:a16="http://schemas.microsoft.com/office/drawing/2014/main" id="{3F1AFC4C-5020-4671-89C5-300BB4862A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8199730"/>
                  </p:ext>
                </p:extLst>
              </p:nvPr>
            </p:nvGraphicFramePr>
            <p:xfrm>
              <a:off x="199293" y="120834"/>
              <a:ext cx="804950" cy="103012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804950" cy="1030120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609939" ay="2053760" az="-95297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2784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8" name="3D Model 27" descr="Alarm Clock">
                <a:extLst>
                  <a:ext uri="{FF2B5EF4-FFF2-40B4-BE49-F238E27FC236}">
                    <a16:creationId xmlns:a16="http://schemas.microsoft.com/office/drawing/2014/main" id="{3F1AFC4C-5020-4671-89C5-300BB4862A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293" y="120834"/>
                <a:ext cx="804950" cy="1030120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Graphic 33" descr="Diamond">
            <a:extLst>
              <a:ext uri="{FF2B5EF4-FFF2-40B4-BE49-F238E27FC236}">
                <a16:creationId xmlns:a16="http://schemas.microsoft.com/office/drawing/2014/main" id="{13C96A29-A548-4934-ACC1-CDCF5455E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2596" y="1070172"/>
            <a:ext cx="300494" cy="3004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3AF8461-4C03-4975-A2DD-276D846F98AF}"/>
              </a:ext>
            </a:extLst>
          </p:cNvPr>
          <p:cNvSpPr txBox="1"/>
          <p:nvPr/>
        </p:nvSpPr>
        <p:spPr>
          <a:xfrm>
            <a:off x="8699375" y="112674"/>
            <a:ext cx="289085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800" b="1" dirty="0">
                <a:solidFill>
                  <a:srgbClr val="2B2A26"/>
                </a:solidFill>
                <a:latin typeface="Aptos"/>
              </a:rPr>
              <a:t>BarKyanLal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417649D-C12D-4935-8BD0-04C6D14F24D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161" r="7566" b="96634"/>
          <a:stretch/>
        </p:blipFill>
        <p:spPr>
          <a:xfrm>
            <a:off x="8767742" y="1300899"/>
            <a:ext cx="2890858" cy="191081"/>
          </a:xfrm>
          <a:custGeom>
            <a:avLst/>
            <a:gdLst>
              <a:gd name="connsiteX0" fmla="*/ 0 w 3840480"/>
              <a:gd name="connsiteY0" fmla="*/ 0 h 5640514"/>
              <a:gd name="connsiteX1" fmla="*/ 3840480 w 3840480"/>
              <a:gd name="connsiteY1" fmla="*/ 0 h 5640514"/>
              <a:gd name="connsiteX2" fmla="*/ 3840480 w 3840480"/>
              <a:gd name="connsiteY2" fmla="*/ 5640514 h 5640514"/>
              <a:gd name="connsiteX3" fmla="*/ 0 w 3840480"/>
              <a:gd name="connsiteY3" fmla="*/ 5640514 h 56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0" h="5640514">
                <a:moveTo>
                  <a:pt x="0" y="0"/>
                </a:moveTo>
                <a:lnTo>
                  <a:pt x="3840480" y="0"/>
                </a:lnTo>
                <a:lnTo>
                  <a:pt x="3840480" y="5640514"/>
                </a:lnTo>
                <a:lnTo>
                  <a:pt x="0" y="5640514"/>
                </a:lnTo>
                <a:close/>
              </a:path>
            </a:pathLst>
          </a:cu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9427245" y="1008818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Value Proposition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A9A402-1AF5-4AA0-B2E8-A7397740F8F6}"/>
              </a:ext>
            </a:extLst>
          </p:cNvPr>
          <p:cNvSpPr/>
          <p:nvPr/>
        </p:nvSpPr>
        <p:spPr>
          <a:xfrm>
            <a:off x="1442301" y="375614"/>
            <a:ext cx="8069344" cy="724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E8B58-FD5C-4259-AF22-A61CEA7BAB2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1141"/>
          <a:stretch/>
        </p:blipFill>
        <p:spPr>
          <a:xfrm>
            <a:off x="924474" y="1533904"/>
            <a:ext cx="2572844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E645B7-8750-4420-8F48-6232FC63E4A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3768"/>
          <a:stretch/>
        </p:blipFill>
        <p:spPr>
          <a:xfrm>
            <a:off x="5130761" y="1533904"/>
            <a:ext cx="2559237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C8477709-1100-4B3A-91F4-6858BD4D7759}"/>
              </a:ext>
            </a:extLst>
          </p:cNvPr>
          <p:cNvSpPr/>
          <p:nvPr/>
        </p:nvSpPr>
        <p:spPr>
          <a:xfrm>
            <a:off x="9059175" y="1713920"/>
            <a:ext cx="2307989" cy="33471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DAC3C7-FE5F-4AF3-BA2E-DE9FCBCBC4E7}"/>
              </a:ext>
            </a:extLst>
          </p:cNvPr>
          <p:cNvSpPr txBox="1"/>
          <p:nvPr/>
        </p:nvSpPr>
        <p:spPr>
          <a:xfrm>
            <a:off x="9206131" y="1919914"/>
            <a:ext cx="201407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Target Audience: </a:t>
            </a:r>
            <a:r>
              <a:rPr lang="en-US" dirty="0">
                <a:solidFill>
                  <a:schemeClr val="bg1"/>
                </a:solidFill>
                <a:latin typeface="Aptos"/>
              </a:rPr>
              <a:t>Busy Home Cooks</a:t>
            </a:r>
          </a:p>
          <a:p>
            <a:pPr algn="ctr"/>
            <a:endParaRPr lang="en-US" dirty="0">
              <a:solidFill>
                <a:schemeClr val="bg1"/>
              </a:solidFill>
              <a:latin typeface="Aptos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Differentiation: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ptos"/>
              </a:rPr>
              <a:t>An algorithm trained to suggest smart ingredient substitutions based on household cooking habits</a:t>
            </a:r>
            <a:endParaRPr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12874" y="112674"/>
            <a:ext cx="289085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800" b="1" dirty="0">
                <a:solidFill>
                  <a:srgbClr val="2B2A26"/>
                </a:solidFill>
                <a:latin typeface="Aptos"/>
              </a:rPr>
              <a:t>BarKyanLal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777240"/>
            <a:ext cx="3337560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8" y="1086169"/>
            <a:ext cx="2788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87C57"/>
                </a:solidFill>
                <a:latin typeface="Aptos"/>
              </a:rPr>
              <a:t>Smart Expiry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4115240"/>
            <a:ext cx="2852928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BarKyanLal scans stored ingredients and ranks them by expiration date.
It surfaces the right ingredient at the exact right time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777240"/>
            <a:ext cx="3337560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4548" y="1086169"/>
            <a:ext cx="28209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dirty="0">
                <a:solidFill>
                  <a:srgbClr val="487C57"/>
                </a:solidFill>
                <a:latin typeface="Aptos"/>
              </a:rPr>
              <a:t>AI-Guided Meal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4044094"/>
            <a:ext cx="2852928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The app recommends recipes using the most urgent items first.
It converts expiring ingredients into practical cooking suggestions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777239"/>
            <a:ext cx="3840480" cy="65485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8" name="3D Model 27" descr="Alarm Clock">
                <a:extLst>
                  <a:ext uri="{FF2B5EF4-FFF2-40B4-BE49-F238E27FC236}">
                    <a16:creationId xmlns:a16="http://schemas.microsoft.com/office/drawing/2014/main" id="{3F1AFC4C-5020-4671-89C5-300BB4862A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2812249"/>
                  </p:ext>
                </p:extLst>
              </p:nvPr>
            </p:nvGraphicFramePr>
            <p:xfrm>
              <a:off x="139092" y="-64730"/>
              <a:ext cx="931733" cy="138271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931733" cy="1382712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468535" ay="1526181" az="-20224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602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8" name="3D Model 27" descr="Alarm Clock">
                <a:extLst>
                  <a:ext uri="{FF2B5EF4-FFF2-40B4-BE49-F238E27FC236}">
                    <a16:creationId xmlns:a16="http://schemas.microsoft.com/office/drawing/2014/main" id="{3F1AFC4C-5020-4671-89C5-300BB4862A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092" y="-64730"/>
                <a:ext cx="931733" cy="1382712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Graphic 33" descr="Diamond">
            <a:extLst>
              <a:ext uri="{FF2B5EF4-FFF2-40B4-BE49-F238E27FC236}">
                <a16:creationId xmlns:a16="http://schemas.microsoft.com/office/drawing/2014/main" id="{13C96A29-A548-4934-ACC1-CDCF5455E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3765" y="1070172"/>
            <a:ext cx="300494" cy="30049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6DF12C9-E3C3-4746-ADD8-ED608255836E}"/>
              </a:ext>
            </a:extLst>
          </p:cNvPr>
          <p:cNvSpPr txBox="1"/>
          <p:nvPr/>
        </p:nvSpPr>
        <p:spPr>
          <a:xfrm>
            <a:off x="765748" y="3466745"/>
            <a:ext cx="160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Inventory Scan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D3A71-9030-482D-B7F9-F6A94B8970B4}"/>
              </a:ext>
            </a:extLst>
          </p:cNvPr>
          <p:cNvSpPr txBox="1"/>
          <p:nvPr/>
        </p:nvSpPr>
        <p:spPr>
          <a:xfrm>
            <a:off x="4352544" y="3468013"/>
            <a:ext cx="199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Recipe Generation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22847B7-5445-44FE-AA71-D6AB7A3AF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986" y="1370666"/>
            <a:ext cx="3816747" cy="5640514"/>
          </a:xfrm>
          <a:custGeom>
            <a:avLst/>
            <a:gdLst>
              <a:gd name="connsiteX0" fmla="*/ 0 w 3840480"/>
              <a:gd name="connsiteY0" fmla="*/ 0 h 5640514"/>
              <a:gd name="connsiteX1" fmla="*/ 3840480 w 3840480"/>
              <a:gd name="connsiteY1" fmla="*/ 0 h 5640514"/>
              <a:gd name="connsiteX2" fmla="*/ 3840480 w 3840480"/>
              <a:gd name="connsiteY2" fmla="*/ 5640514 h 5640514"/>
              <a:gd name="connsiteX3" fmla="*/ 0 w 3840480"/>
              <a:gd name="connsiteY3" fmla="*/ 5640514 h 56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0" h="5640514">
                <a:moveTo>
                  <a:pt x="0" y="0"/>
                </a:moveTo>
                <a:lnTo>
                  <a:pt x="3840480" y="0"/>
                </a:lnTo>
                <a:lnTo>
                  <a:pt x="3840480" y="5640514"/>
                </a:lnTo>
                <a:lnTo>
                  <a:pt x="0" y="5640514"/>
                </a:lnTo>
                <a:close/>
              </a:path>
            </a:pathLst>
          </a:custGeom>
          <a:ln>
            <a:noFill/>
          </a:ln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9CD5794B-DC85-4E41-A72A-535D8B0D645A}"/>
              </a:ext>
            </a:extLst>
          </p:cNvPr>
          <p:cNvSpPr/>
          <p:nvPr/>
        </p:nvSpPr>
        <p:spPr>
          <a:xfrm>
            <a:off x="1442301" y="375614"/>
            <a:ext cx="7390614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CD94528-DA01-451A-8F69-37A6B2E6D35C}"/>
              </a:ext>
            </a:extLst>
          </p:cNvPr>
          <p:cNvSpPr/>
          <p:nvPr/>
        </p:nvSpPr>
        <p:spPr>
          <a:xfrm>
            <a:off x="-11113907" y="5557002"/>
            <a:ext cx="1325880" cy="731520"/>
          </a:xfrm>
          <a:prstGeom prst="roundRect">
            <a:avLst>
              <a:gd name="adj" fmla="val 9091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942CE2-DC7B-4406-B8F9-20AD329BD7D2}"/>
              </a:ext>
            </a:extLst>
          </p:cNvPr>
          <p:cNvSpPr txBox="1"/>
          <p:nvPr/>
        </p:nvSpPr>
        <p:spPr>
          <a:xfrm>
            <a:off x="-10741857" y="164592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A26"/>
                </a:solidFill>
                <a:latin typeface="Aptos"/>
              </a:rPr>
              <a:t>Prototype Screens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3D6E19E-E5B4-429D-8293-5FADD4150B4C}"/>
              </a:ext>
            </a:extLst>
          </p:cNvPr>
          <p:cNvGrpSpPr/>
          <p:nvPr/>
        </p:nvGrpSpPr>
        <p:grpSpPr>
          <a:xfrm>
            <a:off x="-10720884" y="822959"/>
            <a:ext cx="2697480" cy="4461832"/>
            <a:chOff x="502920" y="822960"/>
            <a:chExt cx="2697480" cy="4160520"/>
          </a:xfrm>
        </p:grpSpPr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BB6E9A7E-371F-4A8E-8CD9-73A436FD23E2}"/>
                </a:ext>
              </a:extLst>
            </p:cNvPr>
            <p:cNvSpPr/>
            <p:nvPr/>
          </p:nvSpPr>
          <p:spPr>
            <a:xfrm>
              <a:off x="502920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759057B-0608-47E0-85BC-515B82A2B210}"/>
                </a:ext>
              </a:extLst>
            </p:cNvPr>
            <p:cNvCxnSpPr/>
            <p:nvPr/>
          </p:nvCxnSpPr>
          <p:spPr>
            <a:xfrm flipV="1">
              <a:off x="1330036" y="4480560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53B16F5-4909-4DD3-A8EA-B09CFAC4C568}"/>
              </a:ext>
            </a:extLst>
          </p:cNvPr>
          <p:cNvGrpSpPr/>
          <p:nvPr/>
        </p:nvGrpSpPr>
        <p:grpSpPr>
          <a:xfrm>
            <a:off x="-8476474" y="822959"/>
            <a:ext cx="2697480" cy="4461832"/>
            <a:chOff x="3410712" y="822960"/>
            <a:chExt cx="2697480" cy="4160520"/>
          </a:xfrm>
        </p:grpSpPr>
        <p:sp>
          <p:nvSpPr>
            <p:cNvPr id="54" name="Rounded Rectangle 9">
              <a:extLst>
                <a:ext uri="{FF2B5EF4-FFF2-40B4-BE49-F238E27FC236}">
                  <a16:creationId xmlns:a16="http://schemas.microsoft.com/office/drawing/2014/main" id="{75829AA9-E02E-4448-BCBE-CE9BAB401A93}"/>
                </a:ext>
              </a:extLst>
            </p:cNvPr>
            <p:cNvSpPr/>
            <p:nvPr/>
          </p:nvSpPr>
          <p:spPr>
            <a:xfrm>
              <a:off x="3410712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2F70E36-66F5-483C-A182-B780AF494787}"/>
                </a:ext>
              </a:extLst>
            </p:cNvPr>
            <p:cNvCxnSpPr/>
            <p:nvPr/>
          </p:nvCxnSpPr>
          <p:spPr>
            <a:xfrm flipV="1">
              <a:off x="4392688" y="4471416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378C3103-F274-406A-B666-CEA77E354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024728" y="1123148"/>
            <a:ext cx="1386808" cy="28129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9DD21AE-66E0-45C4-BF43-E2E9D173C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870419" y="1123149"/>
            <a:ext cx="1383854" cy="2827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DBE385D8-AAD0-4706-A5CF-595A93F003F5}"/>
              </a:ext>
            </a:extLst>
          </p:cNvPr>
          <p:cNvGrpSpPr/>
          <p:nvPr/>
        </p:nvGrpSpPr>
        <p:grpSpPr>
          <a:xfrm>
            <a:off x="-6232069" y="822959"/>
            <a:ext cx="2697480" cy="4461832"/>
            <a:chOff x="6318504" y="822960"/>
            <a:chExt cx="2697480" cy="4160520"/>
          </a:xfrm>
        </p:grpSpPr>
        <p:sp>
          <p:nvSpPr>
            <p:cNvPr id="57" name="Rounded Rectangle 14">
              <a:extLst>
                <a:ext uri="{FF2B5EF4-FFF2-40B4-BE49-F238E27FC236}">
                  <a16:creationId xmlns:a16="http://schemas.microsoft.com/office/drawing/2014/main" id="{444E988E-9FB8-4D63-A2DE-C33EA43119A7}"/>
                </a:ext>
              </a:extLst>
            </p:cNvPr>
            <p:cNvSpPr/>
            <p:nvPr/>
          </p:nvSpPr>
          <p:spPr>
            <a:xfrm>
              <a:off x="6318504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E85CF7E-427A-4AFD-A8D8-BA89A9116CA6}"/>
                </a:ext>
              </a:extLst>
            </p:cNvPr>
            <p:cNvCxnSpPr/>
            <p:nvPr/>
          </p:nvCxnSpPr>
          <p:spPr>
            <a:xfrm flipV="1">
              <a:off x="7413296" y="4469891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2B422816-179D-4022-AC6D-2D547B6850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537454" y="1123148"/>
            <a:ext cx="1453895" cy="28417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6FDAA077-25E0-4618-92BD-18C49AB2FE51}"/>
              </a:ext>
            </a:extLst>
          </p:cNvPr>
          <p:cNvGrpSpPr/>
          <p:nvPr/>
        </p:nvGrpSpPr>
        <p:grpSpPr>
          <a:xfrm>
            <a:off x="-3969733" y="822959"/>
            <a:ext cx="2697480" cy="4461832"/>
            <a:chOff x="9226296" y="822960"/>
            <a:chExt cx="2697480" cy="4160520"/>
          </a:xfrm>
        </p:grpSpPr>
        <p:sp>
          <p:nvSpPr>
            <p:cNvPr id="60" name="Rounded Rectangle 19">
              <a:extLst>
                <a:ext uri="{FF2B5EF4-FFF2-40B4-BE49-F238E27FC236}">
                  <a16:creationId xmlns:a16="http://schemas.microsoft.com/office/drawing/2014/main" id="{0AF2EE2C-4CEE-49BE-9795-11B11441E03D}"/>
                </a:ext>
              </a:extLst>
            </p:cNvPr>
            <p:cNvSpPr/>
            <p:nvPr/>
          </p:nvSpPr>
          <p:spPr>
            <a:xfrm>
              <a:off x="9226296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51BD6D1-4AE2-4708-B08D-FFF9B2B66CFD}"/>
                </a:ext>
              </a:extLst>
            </p:cNvPr>
            <p:cNvCxnSpPr/>
            <p:nvPr/>
          </p:nvCxnSpPr>
          <p:spPr>
            <a:xfrm flipV="1">
              <a:off x="10085867" y="4384548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F4C58600-8598-4AA1-9841-3829A23CCD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261379" y="1123149"/>
            <a:ext cx="1376401" cy="28559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A94CC35-5D35-454B-9EAF-78D9EE6E210B}"/>
              </a:ext>
            </a:extLst>
          </p:cNvPr>
          <p:cNvSpPr txBox="1"/>
          <p:nvPr/>
        </p:nvSpPr>
        <p:spPr>
          <a:xfrm>
            <a:off x="-10556292" y="4268182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22BCC9-986B-41E6-9CDB-4D5A18BA77DC}"/>
              </a:ext>
            </a:extLst>
          </p:cNvPr>
          <p:cNvSpPr txBox="1"/>
          <p:nvPr/>
        </p:nvSpPr>
        <p:spPr>
          <a:xfrm>
            <a:off x="-10556292" y="4592794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Add</a:t>
            </a:r>
            <a:r>
              <a:rPr lang="en-US" sz="2000" b="1" dirty="0">
                <a:solidFill>
                  <a:srgbClr val="2B2A26"/>
                </a:solidFill>
                <a:latin typeface="Aptos"/>
              </a:rPr>
              <a:t> Item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58414" y="1008818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Value Proposition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824BCC-3AA5-40AF-8D1D-5D6719D50EF2}"/>
              </a:ext>
            </a:extLst>
          </p:cNvPr>
          <p:cNvSpPr txBox="1"/>
          <p:nvPr/>
        </p:nvSpPr>
        <p:spPr>
          <a:xfrm>
            <a:off x="-8311882" y="4268182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6ECE2F-98A0-482C-89F8-A4AD5642F158}"/>
              </a:ext>
            </a:extLst>
          </p:cNvPr>
          <p:cNvSpPr txBox="1"/>
          <p:nvPr/>
        </p:nvSpPr>
        <p:spPr>
          <a:xfrm>
            <a:off x="-8311882" y="4592794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Family Pantry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C49B73-5CE6-4B38-A0DE-E5612053F817}"/>
              </a:ext>
            </a:extLst>
          </p:cNvPr>
          <p:cNvSpPr txBox="1"/>
          <p:nvPr/>
        </p:nvSpPr>
        <p:spPr>
          <a:xfrm>
            <a:off x="-6067477" y="4268182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F121A6-4941-458D-96E9-800B91C1767A}"/>
              </a:ext>
            </a:extLst>
          </p:cNvPr>
          <p:cNvSpPr txBox="1"/>
          <p:nvPr/>
        </p:nvSpPr>
        <p:spPr>
          <a:xfrm>
            <a:off x="-6067477" y="4592794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Expiry Alert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03BBF5-115C-4910-9D6D-08538B913FAB}"/>
              </a:ext>
            </a:extLst>
          </p:cNvPr>
          <p:cNvSpPr txBox="1"/>
          <p:nvPr/>
        </p:nvSpPr>
        <p:spPr>
          <a:xfrm>
            <a:off x="-3805141" y="4268182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561014-4F6A-4832-A25F-B478AC0F1C39}"/>
              </a:ext>
            </a:extLst>
          </p:cNvPr>
          <p:cNvSpPr txBox="1"/>
          <p:nvPr/>
        </p:nvSpPr>
        <p:spPr>
          <a:xfrm>
            <a:off x="-3805141" y="4592794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Take Action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F320679-E5D6-45D7-AFB6-328A8BF0B72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3768"/>
          <a:stretch/>
        </p:blipFill>
        <p:spPr>
          <a:xfrm>
            <a:off x="4454487" y="1533904"/>
            <a:ext cx="2506498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667AE2CA-4E7B-4EEB-8D7F-F3D27F0E4E05}"/>
              </a:ext>
            </a:extLst>
          </p:cNvPr>
          <p:cNvGrpSpPr/>
          <p:nvPr/>
        </p:nvGrpSpPr>
        <p:grpSpPr>
          <a:xfrm>
            <a:off x="-11204972" y="5560568"/>
            <a:ext cx="11109960" cy="731520"/>
            <a:chOff x="502920" y="5230368"/>
            <a:chExt cx="11109960" cy="731520"/>
          </a:xfrm>
          <a:effectLst/>
        </p:grpSpPr>
        <p:sp>
          <p:nvSpPr>
            <p:cNvPr id="78" name="Rounded Rectangle 24">
              <a:extLst>
                <a:ext uri="{FF2B5EF4-FFF2-40B4-BE49-F238E27FC236}">
                  <a16:creationId xmlns:a16="http://schemas.microsoft.com/office/drawing/2014/main" id="{831E5C49-FB88-4EBB-9A35-E63D18EBA5A0}"/>
                </a:ext>
              </a:extLst>
            </p:cNvPr>
            <p:cNvSpPr/>
            <p:nvPr/>
          </p:nvSpPr>
          <p:spPr>
            <a:xfrm>
              <a:off x="502920" y="5230368"/>
              <a:ext cx="11109960" cy="731520"/>
            </a:xfrm>
            <a:prstGeom prst="roundRect">
              <a:avLst>
                <a:gd name="adj" fmla="val 1035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EA42148-68B5-4A38-9AAB-553F809EDF7E}"/>
                </a:ext>
              </a:extLst>
            </p:cNvPr>
            <p:cNvCxnSpPr/>
            <p:nvPr/>
          </p:nvCxnSpPr>
          <p:spPr>
            <a:xfrm>
              <a:off x="6747555" y="5779008"/>
              <a:ext cx="913045" cy="9144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64032B63-CEC9-4C7D-9E37-200A99E7DD78}"/>
              </a:ext>
            </a:extLst>
          </p:cNvPr>
          <p:cNvSpPr txBox="1"/>
          <p:nvPr/>
        </p:nvSpPr>
        <p:spPr>
          <a:xfrm>
            <a:off x="-10675445" y="5599596"/>
            <a:ext cx="15087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487C57"/>
                </a:solidFill>
                <a:latin typeface="Aptos"/>
              </a:rPr>
              <a:t>What you can do more</a:t>
            </a:r>
            <a:endParaRPr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ED9979-0A79-4933-AFCA-43E66E7A4B47}"/>
              </a:ext>
            </a:extLst>
          </p:cNvPr>
          <p:cNvSpPr txBox="1"/>
          <p:nvPr/>
        </p:nvSpPr>
        <p:spPr>
          <a:xfrm>
            <a:off x="-8857757" y="5559553"/>
            <a:ext cx="874166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Log in, Sign up Accs.</a:t>
            </a:r>
            <a:endParaRPr lang="en-US" sz="1400" dirty="0">
              <a:solidFill>
                <a:srgbClr val="6F6C63"/>
              </a:solidFill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6F6C63"/>
                </a:solidFill>
                <a:latin typeface="Aptos"/>
              </a:rPr>
              <a:t>Change themes &amp; languages.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6F6C63"/>
                </a:solidFill>
                <a:latin typeface="Aptos"/>
              </a:rPr>
              <a:t>Import/Export inventory, auto-delete system.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E896E2E-4D23-4157-A81B-4279D47A2EA3}"/>
              </a:ext>
            </a:extLst>
          </p:cNvPr>
          <p:cNvCxnSpPr/>
          <p:nvPr/>
        </p:nvCxnSpPr>
        <p:spPr>
          <a:xfrm>
            <a:off x="-9251794" y="5634345"/>
            <a:ext cx="0" cy="584775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4" name="Graphic 83" descr="Images">
            <a:extLst>
              <a:ext uri="{FF2B5EF4-FFF2-40B4-BE49-F238E27FC236}">
                <a16:creationId xmlns:a16="http://schemas.microsoft.com/office/drawing/2014/main" id="{0FEF4926-64FA-41B4-B82A-E015603D8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8571179" y="4298913"/>
            <a:ext cx="368469" cy="368469"/>
          </a:xfrm>
          <a:prstGeom prst="rect">
            <a:avLst/>
          </a:prstGeom>
        </p:spPr>
      </p:pic>
      <p:pic>
        <p:nvPicPr>
          <p:cNvPr id="85" name="Graphic 84" descr="Share with person">
            <a:extLst>
              <a:ext uri="{FF2B5EF4-FFF2-40B4-BE49-F238E27FC236}">
                <a16:creationId xmlns:a16="http://schemas.microsoft.com/office/drawing/2014/main" id="{2795DDA3-BFD8-4161-BF6C-9705CEE07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6264329" y="4294473"/>
            <a:ext cx="368469" cy="368469"/>
          </a:xfrm>
          <a:prstGeom prst="rect">
            <a:avLst/>
          </a:prstGeom>
        </p:spPr>
      </p:pic>
      <p:pic>
        <p:nvPicPr>
          <p:cNvPr id="86" name="Graphic 85" descr="Ringer">
            <a:extLst>
              <a:ext uri="{FF2B5EF4-FFF2-40B4-BE49-F238E27FC236}">
                <a16:creationId xmlns:a16="http://schemas.microsoft.com/office/drawing/2014/main" id="{BD5FE17F-3DAF-4C36-ADAF-E11DCC23B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026503" y="4300063"/>
            <a:ext cx="368469" cy="368469"/>
          </a:xfrm>
          <a:prstGeom prst="rect">
            <a:avLst/>
          </a:prstGeom>
        </p:spPr>
      </p:pic>
      <p:pic>
        <p:nvPicPr>
          <p:cNvPr id="87" name="Graphic 86" descr="Table setting">
            <a:extLst>
              <a:ext uri="{FF2B5EF4-FFF2-40B4-BE49-F238E27FC236}">
                <a16:creationId xmlns:a16="http://schemas.microsoft.com/office/drawing/2014/main" id="{0C877ABB-F745-43A0-BD2F-3F35B6AFA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1788194" y="4294473"/>
            <a:ext cx="368469" cy="368469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0AEDF9A3-3CCE-490F-82AB-A818A0C871C5}"/>
              </a:ext>
            </a:extLst>
          </p:cNvPr>
          <p:cNvGrpSpPr/>
          <p:nvPr/>
        </p:nvGrpSpPr>
        <p:grpSpPr>
          <a:xfrm rot="2284960">
            <a:off x="-1973487" y="223438"/>
            <a:ext cx="914400" cy="1166450"/>
            <a:chOff x="11222551" y="223438"/>
            <a:chExt cx="914400" cy="116645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9" name="3D Model 88" descr="Alarm Clock">
                  <a:extLst>
                    <a:ext uri="{FF2B5EF4-FFF2-40B4-BE49-F238E27FC236}">
                      <a16:creationId xmlns:a16="http://schemas.microsoft.com/office/drawing/2014/main" id="{14D03BB5-B991-4627-A297-53DD6840FD1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44208751"/>
                    </p:ext>
                  </p:extLst>
                </p:nvPr>
              </p:nvGraphicFramePr>
              <p:xfrm rot="21173216">
                <a:off x="11422870" y="223438"/>
                <a:ext cx="532419" cy="1042493"/>
              </p:xfrm>
              <a:graphic>
                <a:graphicData uri="http://schemas.microsoft.com/office/drawing/2017/model3d">
                  <am3d:model3d r:embed="rId2">
                    <am3d:spPr>
                      <a:xfrm rot="1858176">
                        <a:off x="0" y="0"/>
                        <a:ext cx="532419" cy="1042493"/>
                      </a:xfrm>
                      <a:prstGeom prst="rect">
                        <a:avLst/>
                      </a:prstGeom>
                    </am3d:spPr>
                    <am3d:camera>
                      <am3d:pos x="0" y="0" z="59061727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429298" d="1000000"/>
                      <am3d:preTrans dx="0" dy="-18000000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6521336" ay="4109895" az="-6598721"/>
                      <am3d:postTrans dx="0" dy="0" dz="0"/>
                    </am3d:trans>
                    <am3d:raster rName="Office3DRenderer" rVer="16.0.8326">
                      <am3d:blip r:embed="rId15"/>
                    </am3d:raster>
                    <am3d:objViewport viewportSz="1312033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9" name="3D Model 88" descr="Alarm Clock">
                  <a:extLst>
                    <a:ext uri="{FF2B5EF4-FFF2-40B4-BE49-F238E27FC236}">
                      <a16:creationId xmlns:a16="http://schemas.microsoft.com/office/drawing/2014/main" id="{14D03BB5-B991-4627-A297-53DD6840FD1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 rot="1858176">
                  <a:off x="-1736926" y="242386"/>
                  <a:ext cx="532419" cy="1042493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4D71099-396F-4A49-9139-219EE812337D}"/>
                </a:ext>
              </a:extLst>
            </p:cNvPr>
            <p:cNvCxnSpPr/>
            <p:nvPr/>
          </p:nvCxnSpPr>
          <p:spPr>
            <a:xfrm>
              <a:off x="11222551" y="475488"/>
              <a:ext cx="914400" cy="91440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EDC56CE0-9B74-4968-9B97-644A7DB5F29E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b="11141"/>
          <a:stretch/>
        </p:blipFill>
        <p:spPr>
          <a:xfrm>
            <a:off x="835985" y="1533904"/>
            <a:ext cx="2288232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34108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F260CD90-C13B-4060-A5B8-705CDFF94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987" y="178788"/>
            <a:ext cx="9753524" cy="6500423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3AB2244-FA93-4BD6-A98B-A173791F45BB}"/>
              </a:ext>
            </a:extLst>
          </p:cNvPr>
          <p:cNvSpPr/>
          <p:nvPr/>
        </p:nvSpPr>
        <p:spPr>
          <a:xfrm>
            <a:off x="432622" y="5557002"/>
            <a:ext cx="1325880" cy="731520"/>
          </a:xfrm>
          <a:prstGeom prst="roundRect">
            <a:avLst>
              <a:gd name="adj" fmla="val 9091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04672" y="164592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A26"/>
                </a:solidFill>
                <a:latin typeface="Aptos"/>
              </a:rPr>
              <a:t>Prototype Screens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2B058CE-CD64-46AE-B4FA-493C3E84495E}"/>
              </a:ext>
            </a:extLst>
          </p:cNvPr>
          <p:cNvGrpSpPr/>
          <p:nvPr/>
        </p:nvGrpSpPr>
        <p:grpSpPr>
          <a:xfrm>
            <a:off x="502920" y="822959"/>
            <a:ext cx="2697480" cy="4461832"/>
            <a:chOff x="502920" y="822960"/>
            <a:chExt cx="2697480" cy="4160520"/>
          </a:xfrm>
        </p:grpSpPr>
        <p:sp>
          <p:nvSpPr>
            <p:cNvPr id="5" name="Rounded Rectangle 4"/>
            <p:cNvSpPr/>
            <p:nvPr/>
          </p:nvSpPr>
          <p:spPr>
            <a:xfrm>
              <a:off x="502920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BFDAD56-529E-48FA-8395-F5C0B3F3B315}"/>
                </a:ext>
              </a:extLst>
            </p:cNvPr>
            <p:cNvCxnSpPr/>
            <p:nvPr/>
          </p:nvCxnSpPr>
          <p:spPr>
            <a:xfrm flipV="1">
              <a:off x="1330036" y="4480560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B2C28FA-0E86-40B5-BEAF-45DE8D364943}"/>
              </a:ext>
            </a:extLst>
          </p:cNvPr>
          <p:cNvGrpSpPr/>
          <p:nvPr/>
        </p:nvGrpSpPr>
        <p:grpSpPr>
          <a:xfrm>
            <a:off x="6318504" y="822959"/>
            <a:ext cx="2697480" cy="4461832"/>
            <a:chOff x="6318504" y="822960"/>
            <a:chExt cx="2697480" cy="4160520"/>
          </a:xfrm>
        </p:grpSpPr>
        <p:sp>
          <p:nvSpPr>
            <p:cNvPr id="15" name="Rounded Rectangle 14"/>
            <p:cNvSpPr/>
            <p:nvPr/>
          </p:nvSpPr>
          <p:spPr>
            <a:xfrm>
              <a:off x="6318504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7DC2C9B-4EFB-40CF-9CF7-E2C8AAE0B8C4}"/>
                </a:ext>
              </a:extLst>
            </p:cNvPr>
            <p:cNvCxnSpPr/>
            <p:nvPr/>
          </p:nvCxnSpPr>
          <p:spPr>
            <a:xfrm flipV="1">
              <a:off x="7413296" y="4469891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E9C5E0B-AAE1-444F-9D1F-17CABA80DFDA}"/>
              </a:ext>
            </a:extLst>
          </p:cNvPr>
          <p:cNvGrpSpPr/>
          <p:nvPr/>
        </p:nvGrpSpPr>
        <p:grpSpPr>
          <a:xfrm>
            <a:off x="3410712" y="822959"/>
            <a:ext cx="2697480" cy="4461832"/>
            <a:chOff x="3410712" y="822960"/>
            <a:chExt cx="2697480" cy="4160520"/>
          </a:xfrm>
        </p:grpSpPr>
        <p:sp>
          <p:nvSpPr>
            <p:cNvPr id="10" name="Rounded Rectangle 9"/>
            <p:cNvSpPr/>
            <p:nvPr/>
          </p:nvSpPr>
          <p:spPr>
            <a:xfrm>
              <a:off x="3410712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B9423FB-8934-4CBF-A423-C0EC9C594625}"/>
                </a:ext>
              </a:extLst>
            </p:cNvPr>
            <p:cNvCxnSpPr/>
            <p:nvPr/>
          </p:nvCxnSpPr>
          <p:spPr>
            <a:xfrm flipV="1">
              <a:off x="4392688" y="4471416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B8AAFF-CAF9-414F-ADF1-0370A1D76486}"/>
              </a:ext>
            </a:extLst>
          </p:cNvPr>
          <p:cNvGrpSpPr/>
          <p:nvPr/>
        </p:nvGrpSpPr>
        <p:grpSpPr>
          <a:xfrm>
            <a:off x="9226296" y="822959"/>
            <a:ext cx="2697480" cy="4461832"/>
            <a:chOff x="9226296" y="822960"/>
            <a:chExt cx="2697480" cy="4160520"/>
          </a:xfrm>
        </p:grpSpPr>
        <p:sp>
          <p:nvSpPr>
            <p:cNvPr id="20" name="Rounded Rectangle 19"/>
            <p:cNvSpPr/>
            <p:nvPr/>
          </p:nvSpPr>
          <p:spPr>
            <a:xfrm>
              <a:off x="9226296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8E762AE-0AC4-4B67-B0BC-B6EAE8E8CE55}"/>
                </a:ext>
              </a:extLst>
            </p:cNvPr>
            <p:cNvCxnSpPr/>
            <p:nvPr/>
          </p:nvCxnSpPr>
          <p:spPr>
            <a:xfrm flipV="1">
              <a:off x="10085867" y="4384548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22" y="1123148"/>
            <a:ext cx="1386808" cy="28129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667512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Add</a:t>
            </a:r>
            <a:r>
              <a:rPr lang="en-US" sz="2000" b="1" dirty="0">
                <a:solidFill>
                  <a:srgbClr val="2B2A26"/>
                </a:solidFill>
                <a:latin typeface="Aptos"/>
              </a:rPr>
              <a:t> Item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406" y="1123149"/>
            <a:ext cx="1383854" cy="2827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3575304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Family Pantry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1123148"/>
            <a:ext cx="1453895" cy="28417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TextBox 16"/>
          <p:cNvSpPr txBox="1"/>
          <p:nvPr/>
        </p:nvSpPr>
        <p:spPr>
          <a:xfrm>
            <a:off x="6483096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Expiry Alert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3121" y="1123149"/>
            <a:ext cx="1376401" cy="28559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TextBox 21"/>
          <p:cNvSpPr txBox="1"/>
          <p:nvPr/>
        </p:nvSpPr>
        <p:spPr>
          <a:xfrm>
            <a:off x="9390888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Take Action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25FE72-78CF-4658-8C60-0D70C618CB1A}"/>
              </a:ext>
            </a:extLst>
          </p:cNvPr>
          <p:cNvGrpSpPr/>
          <p:nvPr/>
        </p:nvGrpSpPr>
        <p:grpSpPr>
          <a:xfrm>
            <a:off x="502920" y="5560568"/>
            <a:ext cx="11109960" cy="731520"/>
            <a:chOff x="502920" y="5230368"/>
            <a:chExt cx="11109960" cy="731520"/>
          </a:xfrm>
          <a:effectLst/>
        </p:grpSpPr>
        <p:sp>
          <p:nvSpPr>
            <p:cNvPr id="25" name="Rounded Rectangle 24"/>
            <p:cNvSpPr/>
            <p:nvPr/>
          </p:nvSpPr>
          <p:spPr>
            <a:xfrm>
              <a:off x="502920" y="5230368"/>
              <a:ext cx="11109960" cy="731520"/>
            </a:xfrm>
            <a:prstGeom prst="roundRect">
              <a:avLst>
                <a:gd name="adj" fmla="val 1035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70B55F0-8223-4F02-AFA6-BF4A51C58826}"/>
                </a:ext>
              </a:extLst>
            </p:cNvPr>
            <p:cNvCxnSpPr/>
            <p:nvPr/>
          </p:nvCxnSpPr>
          <p:spPr>
            <a:xfrm>
              <a:off x="6747555" y="5779008"/>
              <a:ext cx="913045" cy="9144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871084" y="5599596"/>
            <a:ext cx="15087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487C57"/>
                </a:solidFill>
                <a:latin typeface="Aptos"/>
              </a:rPr>
              <a:t>What you can do more</a:t>
            </a:r>
            <a:endParaRPr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88772" y="5559553"/>
            <a:ext cx="874166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Log in, Sign up Accs.</a:t>
            </a:r>
            <a:endParaRPr lang="en-US" sz="1400" dirty="0">
              <a:solidFill>
                <a:srgbClr val="6F6C63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6F6C63"/>
                </a:solidFill>
                <a:latin typeface="Aptos"/>
              </a:rPr>
              <a:t>Change themes &amp; languages</a:t>
            </a:r>
            <a:r>
              <a:rPr sz="1400" b="0" dirty="0">
                <a:solidFill>
                  <a:srgbClr val="6F6C63"/>
                </a:solidFill>
                <a:latin typeface="Aptos"/>
              </a:rPr>
              <a:t>.</a:t>
            </a:r>
            <a:endParaRPr lang="en-US" sz="1400" b="0" dirty="0">
              <a:solidFill>
                <a:srgbClr val="6F6C63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6F6C63"/>
                </a:solidFill>
                <a:latin typeface="Aptos"/>
              </a:rPr>
              <a:t>Import/Export inventory, auto-delete system</a:t>
            </a:r>
            <a:r>
              <a:rPr sz="1400" b="0" dirty="0">
                <a:solidFill>
                  <a:srgbClr val="6F6C63"/>
                </a:solidFill>
                <a:latin typeface="Aptos"/>
              </a:rPr>
              <a:t>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CE7CF6-3D6E-438C-8A77-14B64431D596}"/>
              </a:ext>
            </a:extLst>
          </p:cNvPr>
          <p:cNvSpPr/>
          <p:nvPr/>
        </p:nvSpPr>
        <p:spPr>
          <a:xfrm>
            <a:off x="21324797" y="1937657"/>
            <a:ext cx="2307989" cy="33471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EBDCED-D798-43CE-8F63-CEDA4B50C65E}"/>
              </a:ext>
            </a:extLst>
          </p:cNvPr>
          <p:cNvSpPr txBox="1"/>
          <p:nvPr/>
        </p:nvSpPr>
        <p:spPr>
          <a:xfrm>
            <a:off x="21471753" y="2143651"/>
            <a:ext cx="201407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Target Audience: </a:t>
            </a:r>
            <a:r>
              <a:rPr lang="en-US" dirty="0">
                <a:solidFill>
                  <a:schemeClr val="bg1"/>
                </a:solidFill>
                <a:latin typeface="Aptos"/>
              </a:rPr>
              <a:t>Busy Home Cooks</a:t>
            </a:r>
          </a:p>
          <a:p>
            <a:pPr algn="ctr"/>
            <a:endParaRPr lang="en-US" dirty="0">
              <a:solidFill>
                <a:schemeClr val="bg1"/>
              </a:solidFill>
              <a:latin typeface="Aptos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Differentiation: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ptos"/>
              </a:rPr>
              <a:t>An algorithm trained to suggest smart ingredient substitutions based on household cooking habits</a:t>
            </a:r>
            <a:endParaRPr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A25F2-113D-4940-A2C5-2DF1C5DD41AB}"/>
              </a:ext>
            </a:extLst>
          </p:cNvPr>
          <p:cNvSpPr txBox="1"/>
          <p:nvPr/>
        </p:nvSpPr>
        <p:spPr>
          <a:xfrm>
            <a:off x="21132681" y="112674"/>
            <a:ext cx="289085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800" b="1" dirty="0">
                <a:solidFill>
                  <a:srgbClr val="2B2A26"/>
                </a:solidFill>
                <a:latin typeface="Aptos"/>
              </a:rPr>
              <a:t>BarKyanLal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B507250A-ECE4-4954-AAD9-7A69799CA91E}"/>
              </a:ext>
            </a:extLst>
          </p:cNvPr>
          <p:cNvSpPr/>
          <p:nvPr/>
        </p:nvSpPr>
        <p:spPr>
          <a:xfrm>
            <a:off x="15054543" y="777240"/>
            <a:ext cx="3337560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A679D4-7486-421E-848C-6B40D40D49B3}"/>
              </a:ext>
            </a:extLst>
          </p:cNvPr>
          <p:cNvSpPr txBox="1"/>
          <p:nvPr/>
        </p:nvSpPr>
        <p:spPr>
          <a:xfrm>
            <a:off x="15324291" y="1086169"/>
            <a:ext cx="2788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87C57"/>
                </a:solidFill>
                <a:latin typeface="Aptos"/>
              </a:rPr>
              <a:t>Smart Expiry Tracking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9C044B-BD2E-4D36-BAE7-AC2DD2CF3F63}"/>
              </a:ext>
            </a:extLst>
          </p:cNvPr>
          <p:cNvSpPr txBox="1"/>
          <p:nvPr/>
        </p:nvSpPr>
        <p:spPr>
          <a:xfrm>
            <a:off x="15251139" y="4115240"/>
            <a:ext cx="2852928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BarKyanLal scans stored ingredients and ranks them by expiration date.
It surfaces the right ingredient at the exact right time automatically.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1518AF2-4537-4480-816E-87EC85DDED9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1141"/>
          <a:stretch/>
        </p:blipFill>
        <p:spPr>
          <a:xfrm>
            <a:off x="15383424" y="1533904"/>
            <a:ext cx="2437851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54C4D825-D0E3-4D71-A17C-F3E72FBBD73C}"/>
              </a:ext>
            </a:extLst>
          </p:cNvPr>
          <p:cNvSpPr/>
          <p:nvPr/>
        </p:nvSpPr>
        <p:spPr>
          <a:xfrm>
            <a:off x="17544211" y="777240"/>
            <a:ext cx="3337560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7D4753-82CF-4E3A-BB54-4E60C260A59E}"/>
              </a:ext>
            </a:extLst>
          </p:cNvPr>
          <p:cNvSpPr txBox="1"/>
          <p:nvPr/>
        </p:nvSpPr>
        <p:spPr>
          <a:xfrm>
            <a:off x="17813959" y="1086169"/>
            <a:ext cx="28209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dirty="0">
                <a:solidFill>
                  <a:srgbClr val="487C57"/>
                </a:solidFill>
                <a:latin typeface="Aptos"/>
              </a:rPr>
              <a:t>AI-Guided Meal Planning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0B721D-D18C-46B6-9B46-91D4F4F36C81}"/>
              </a:ext>
            </a:extLst>
          </p:cNvPr>
          <p:cNvSpPr txBox="1"/>
          <p:nvPr/>
        </p:nvSpPr>
        <p:spPr>
          <a:xfrm>
            <a:off x="17781955" y="4044094"/>
            <a:ext cx="2852928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The app recommends recipes using the most urgent items first.
It converts expiring ingredients into practical cooking suggestions instantly.</a:t>
            </a:r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6B27629B-983C-4BE2-90D3-82CB6A0FF998}"/>
              </a:ext>
            </a:extLst>
          </p:cNvPr>
          <p:cNvSpPr/>
          <p:nvPr/>
        </p:nvSpPr>
        <p:spPr>
          <a:xfrm>
            <a:off x="20083742" y="777239"/>
            <a:ext cx="3840480" cy="65485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0185F0-0A2B-415E-A4A7-DD4F707291C3}"/>
              </a:ext>
            </a:extLst>
          </p:cNvPr>
          <p:cNvSpPr txBox="1"/>
          <p:nvPr/>
        </p:nvSpPr>
        <p:spPr>
          <a:xfrm>
            <a:off x="20724036" y="1008818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Value Proposition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42" name="Graphic 41" descr="Diamond">
            <a:extLst>
              <a:ext uri="{FF2B5EF4-FFF2-40B4-BE49-F238E27FC236}">
                <a16:creationId xmlns:a16="http://schemas.microsoft.com/office/drawing/2014/main" id="{3C377625-D133-461B-831B-4F59B05ED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409387" y="1070172"/>
            <a:ext cx="300494" cy="30049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114A12C-41D7-41CC-936E-1343030D2C47}"/>
              </a:ext>
            </a:extLst>
          </p:cNvPr>
          <p:cNvSpPr txBox="1"/>
          <p:nvPr/>
        </p:nvSpPr>
        <p:spPr>
          <a:xfrm>
            <a:off x="15317371" y="3466745"/>
            <a:ext cx="160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Inventory Scan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B325DB-9454-4C8C-9894-EAC3CA8C5AB9}"/>
              </a:ext>
            </a:extLst>
          </p:cNvPr>
          <p:cNvSpPr txBox="1"/>
          <p:nvPr/>
        </p:nvSpPr>
        <p:spPr>
          <a:xfrm>
            <a:off x="17781955" y="3468013"/>
            <a:ext cx="199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Recipe Generation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36EBFE7-CD39-42D8-9E42-307F0D9D992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3768"/>
          <a:stretch/>
        </p:blipFill>
        <p:spPr>
          <a:xfrm>
            <a:off x="17960937" y="1533904"/>
            <a:ext cx="2506498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B903743-D503-402D-BA21-2CD4061BFB9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18"/>
          <a:stretch>
            <a:fillRect/>
          </a:stretch>
        </p:blipFill>
        <p:spPr>
          <a:xfrm>
            <a:off x="20083742" y="1370666"/>
            <a:ext cx="3840480" cy="5640514"/>
          </a:xfrm>
          <a:custGeom>
            <a:avLst/>
            <a:gdLst>
              <a:gd name="connsiteX0" fmla="*/ 0 w 3840480"/>
              <a:gd name="connsiteY0" fmla="*/ 0 h 5640514"/>
              <a:gd name="connsiteX1" fmla="*/ 3840480 w 3840480"/>
              <a:gd name="connsiteY1" fmla="*/ 0 h 5640514"/>
              <a:gd name="connsiteX2" fmla="*/ 3840480 w 3840480"/>
              <a:gd name="connsiteY2" fmla="*/ 5640514 h 5640514"/>
              <a:gd name="connsiteX3" fmla="*/ 0 w 3840480"/>
              <a:gd name="connsiteY3" fmla="*/ 5640514 h 56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0" h="5640514">
                <a:moveTo>
                  <a:pt x="0" y="0"/>
                </a:moveTo>
                <a:lnTo>
                  <a:pt x="3840480" y="0"/>
                </a:lnTo>
                <a:lnTo>
                  <a:pt x="3840480" y="5640514"/>
                </a:lnTo>
                <a:lnTo>
                  <a:pt x="0" y="5640514"/>
                </a:lnTo>
                <a:close/>
              </a:path>
            </a:pathLst>
          </a:custGeom>
          <a:ln>
            <a:noFill/>
          </a:ln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31C0BBFE-7EDE-48A4-9344-D801532AAA8B}"/>
              </a:ext>
            </a:extLst>
          </p:cNvPr>
          <p:cNvSpPr/>
          <p:nvPr/>
        </p:nvSpPr>
        <p:spPr>
          <a:xfrm>
            <a:off x="15993924" y="375614"/>
            <a:ext cx="6025322" cy="9987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5D625B3-7EDE-4935-964E-B94FF45F0391}"/>
              </a:ext>
            </a:extLst>
          </p:cNvPr>
          <p:cNvCxnSpPr/>
          <p:nvPr/>
        </p:nvCxnSpPr>
        <p:spPr>
          <a:xfrm>
            <a:off x="2460988" y="5634345"/>
            <a:ext cx="0" cy="584775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Graphic 69" descr="Images">
            <a:extLst>
              <a:ext uri="{FF2B5EF4-FFF2-40B4-BE49-F238E27FC236}">
                <a16:creationId xmlns:a16="http://schemas.microsoft.com/office/drawing/2014/main" id="{0BF6968B-04DB-4B7E-85E3-92AAB933EB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52625" y="4348341"/>
            <a:ext cx="368469" cy="368469"/>
          </a:xfrm>
          <a:prstGeom prst="rect">
            <a:avLst/>
          </a:prstGeom>
        </p:spPr>
      </p:pic>
      <p:pic>
        <p:nvPicPr>
          <p:cNvPr id="72" name="Graphic 71" descr="Share with person">
            <a:extLst>
              <a:ext uri="{FF2B5EF4-FFF2-40B4-BE49-F238E27FC236}">
                <a16:creationId xmlns:a16="http://schemas.microsoft.com/office/drawing/2014/main" id="{351969E3-0E8D-4843-B78F-950737C21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22857" y="4343901"/>
            <a:ext cx="368469" cy="368469"/>
          </a:xfrm>
          <a:prstGeom prst="rect">
            <a:avLst/>
          </a:prstGeom>
        </p:spPr>
      </p:pic>
      <p:pic>
        <p:nvPicPr>
          <p:cNvPr id="74" name="Graphic 73" descr="Ringer">
            <a:extLst>
              <a:ext uri="{FF2B5EF4-FFF2-40B4-BE49-F238E27FC236}">
                <a16:creationId xmlns:a16="http://schemas.microsoft.com/office/drawing/2014/main" id="{75CD4F42-CF2D-4253-8A1B-B9180674D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24070" y="4349491"/>
            <a:ext cx="368469" cy="368469"/>
          </a:xfrm>
          <a:prstGeom prst="rect">
            <a:avLst/>
          </a:prstGeom>
        </p:spPr>
      </p:pic>
      <p:pic>
        <p:nvPicPr>
          <p:cNvPr id="76" name="Graphic 75" descr="Table setting">
            <a:extLst>
              <a:ext uri="{FF2B5EF4-FFF2-40B4-BE49-F238E27FC236}">
                <a16:creationId xmlns:a16="http://schemas.microsoft.com/office/drawing/2014/main" id="{77FAB992-04B7-46EA-872F-EA5E4CB8FD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07835" y="4343901"/>
            <a:ext cx="368469" cy="368469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053C4FA5-C29D-4B0E-B9FD-725330959A00}"/>
              </a:ext>
            </a:extLst>
          </p:cNvPr>
          <p:cNvGrpSpPr/>
          <p:nvPr/>
        </p:nvGrpSpPr>
        <p:grpSpPr>
          <a:xfrm>
            <a:off x="11222551" y="186696"/>
            <a:ext cx="914400" cy="1203192"/>
            <a:chOff x="11222551" y="186696"/>
            <a:chExt cx="914400" cy="1203192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40" name="3D Model 39" descr="Alarm Clock">
                  <a:extLst>
                    <a:ext uri="{FF2B5EF4-FFF2-40B4-BE49-F238E27FC236}">
                      <a16:creationId xmlns:a16="http://schemas.microsoft.com/office/drawing/2014/main" id="{8270489B-ADAA-4E16-8C9C-77FC58223EA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4388334"/>
                    </p:ext>
                  </p:extLst>
                </p:nvPr>
              </p:nvGraphicFramePr>
              <p:xfrm rot="21173216">
                <a:off x="11288564" y="186696"/>
                <a:ext cx="801030" cy="1115978"/>
              </p:xfrm>
              <a:graphic>
                <a:graphicData uri="http://schemas.microsoft.com/office/drawing/2017/model3d">
                  <am3d:model3d r:embed="rId15">
                    <am3d:spPr>
                      <a:xfrm rot="21173216">
                        <a:off x="0" y="0"/>
                        <a:ext cx="801030" cy="1115978"/>
                      </a:xfrm>
                      <a:prstGeom prst="rect">
                        <a:avLst/>
                      </a:prstGeom>
                    </am3d:spPr>
                    <am3d:camera>
                      <am3d:pos x="0" y="0" z="59061727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429298" d="1000000"/>
                      <am3d:preTrans dx="0" dy="-18000000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909796" ay="-2520114" az="616758"/>
                      <am3d:postTrans dx="0" dy="0" dz="0"/>
                    </am3d:trans>
                    <am3d:raster rName="Office3DRenderer" rVer="16.0.8326">
                      <am3d:blip r:embed="rId16"/>
                    </am3d:raster>
                    <am3d:objViewport viewportSz="131203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40" name="3D Model 39" descr="Alarm Clock">
                  <a:extLst>
                    <a:ext uri="{FF2B5EF4-FFF2-40B4-BE49-F238E27FC236}">
                      <a16:creationId xmlns:a16="http://schemas.microsoft.com/office/drawing/2014/main" id="{8270489B-ADAA-4E16-8C9C-77FC58223EA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 rot="21173216">
                  <a:off x="11288564" y="186696"/>
                  <a:ext cx="801030" cy="1115978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A1C53CA-704D-49BE-B050-D2415BB4C7D5}"/>
                </a:ext>
              </a:extLst>
            </p:cNvPr>
            <p:cNvCxnSpPr/>
            <p:nvPr/>
          </p:nvCxnSpPr>
          <p:spPr>
            <a:xfrm>
              <a:off x="11222551" y="475488"/>
              <a:ext cx="914400" cy="91440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0" name="3D Model 79" descr="Alarm Clock">
                <a:extLst>
                  <a:ext uri="{FF2B5EF4-FFF2-40B4-BE49-F238E27FC236}">
                    <a16:creationId xmlns:a16="http://schemas.microsoft.com/office/drawing/2014/main" id="{A506075B-D80B-4510-91E3-37DC5ADEB1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9276868"/>
                  </p:ext>
                </p:extLst>
              </p:nvPr>
            </p:nvGraphicFramePr>
            <p:xfrm rot="20282672">
              <a:off x="13332549" y="-16907"/>
              <a:ext cx="578305" cy="1287066"/>
            </p:xfrm>
            <a:graphic>
              <a:graphicData uri="http://schemas.microsoft.com/office/drawing/2017/model3d">
                <am3d:model3d r:embed="rId15">
                  <am3d:spPr>
                    <a:xfrm rot="20282672">
                      <a:off x="0" y="0"/>
                      <a:ext cx="578305" cy="1287066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5878663" ay="-4099932" az="5914548"/>
                    <am3d:postTrans dx="0" dy="0" dz="0"/>
                  </am3d:trans>
                  <am3d:raster rName="Office3DRenderer" rVer="16.0.8326">
                    <am3d:blip r:embed="rId17"/>
                  </am3d:raster>
                  <am3d:objViewport viewportSz="16021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0" name="3D Model 79" descr="Alarm Clock">
                <a:extLst>
                  <a:ext uri="{FF2B5EF4-FFF2-40B4-BE49-F238E27FC236}">
                    <a16:creationId xmlns:a16="http://schemas.microsoft.com/office/drawing/2014/main" id="{A506075B-D80B-4510-91E3-37DC5ADEB1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 rot="20282672">
                <a:off x="13332549" y="-16907"/>
                <a:ext cx="578305" cy="128706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006C07-7710-46A5-858C-20C0FD32F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37" y="178788"/>
            <a:ext cx="9753524" cy="650042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F84CEF-8D09-46F3-A3FF-FD4DB4C36AA1}"/>
              </a:ext>
            </a:extLst>
          </p:cNvPr>
          <p:cNvSpPr/>
          <p:nvPr/>
        </p:nvSpPr>
        <p:spPr>
          <a:xfrm>
            <a:off x="-11113907" y="5557002"/>
            <a:ext cx="1325880" cy="731520"/>
          </a:xfrm>
          <a:prstGeom prst="roundRect">
            <a:avLst>
              <a:gd name="adj" fmla="val 9091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F95D7-070E-4DCB-95E2-B2062DF964C5}"/>
              </a:ext>
            </a:extLst>
          </p:cNvPr>
          <p:cNvSpPr txBox="1"/>
          <p:nvPr/>
        </p:nvSpPr>
        <p:spPr>
          <a:xfrm>
            <a:off x="-10741857" y="164592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A26"/>
                </a:solidFill>
                <a:latin typeface="Aptos"/>
              </a:rPr>
              <a:t>Prototype Screens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03ECB6-E80F-4C24-93B8-165B6F07BAC2}"/>
              </a:ext>
            </a:extLst>
          </p:cNvPr>
          <p:cNvGrpSpPr/>
          <p:nvPr/>
        </p:nvGrpSpPr>
        <p:grpSpPr>
          <a:xfrm>
            <a:off x="-10720884" y="822959"/>
            <a:ext cx="2697480" cy="4461832"/>
            <a:chOff x="502920" y="822960"/>
            <a:chExt cx="2697480" cy="4160520"/>
          </a:xfrm>
        </p:grpSpPr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F7C541D7-EA4B-4025-8042-039B04DE30ED}"/>
                </a:ext>
              </a:extLst>
            </p:cNvPr>
            <p:cNvSpPr/>
            <p:nvPr/>
          </p:nvSpPr>
          <p:spPr>
            <a:xfrm>
              <a:off x="502920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3BF2D08-EEC1-4A1B-BB38-D1951C2E78C8}"/>
                </a:ext>
              </a:extLst>
            </p:cNvPr>
            <p:cNvCxnSpPr/>
            <p:nvPr/>
          </p:nvCxnSpPr>
          <p:spPr>
            <a:xfrm flipV="1">
              <a:off x="1330036" y="4480560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118FD9FC-732B-46D1-A76A-4557C25EB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24728" y="1123148"/>
            <a:ext cx="1386808" cy="28129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CF0654B-859C-47B5-BD04-7AE180D82ADB}"/>
              </a:ext>
            </a:extLst>
          </p:cNvPr>
          <p:cNvGrpSpPr/>
          <p:nvPr/>
        </p:nvGrpSpPr>
        <p:grpSpPr>
          <a:xfrm>
            <a:off x="-8476474" y="822959"/>
            <a:ext cx="2697480" cy="4461832"/>
            <a:chOff x="3410712" y="822960"/>
            <a:chExt cx="2697480" cy="4160520"/>
          </a:xfrm>
        </p:grpSpPr>
        <p:sp>
          <p:nvSpPr>
            <p:cNvPr id="9" name="Rounded Rectangle 9">
              <a:extLst>
                <a:ext uri="{FF2B5EF4-FFF2-40B4-BE49-F238E27FC236}">
                  <a16:creationId xmlns:a16="http://schemas.microsoft.com/office/drawing/2014/main" id="{58660C1D-414B-4AD1-A5AA-25595D9EB49F}"/>
                </a:ext>
              </a:extLst>
            </p:cNvPr>
            <p:cNvSpPr/>
            <p:nvPr/>
          </p:nvSpPr>
          <p:spPr>
            <a:xfrm>
              <a:off x="3410712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5079A08-FC7F-40E6-8604-776DA810E802}"/>
                </a:ext>
              </a:extLst>
            </p:cNvPr>
            <p:cNvCxnSpPr/>
            <p:nvPr/>
          </p:nvCxnSpPr>
          <p:spPr>
            <a:xfrm flipV="1">
              <a:off x="4392688" y="4471416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985763DA-18F3-4F56-8759-2BCDC3D4D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70419" y="1123149"/>
            <a:ext cx="1383854" cy="2827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75501B8-FBC1-4DB0-A5DC-995BAAC132B1}"/>
              </a:ext>
            </a:extLst>
          </p:cNvPr>
          <p:cNvGrpSpPr/>
          <p:nvPr/>
        </p:nvGrpSpPr>
        <p:grpSpPr>
          <a:xfrm>
            <a:off x="-6232069" y="822959"/>
            <a:ext cx="2697480" cy="4461832"/>
            <a:chOff x="6318504" y="822960"/>
            <a:chExt cx="2697480" cy="4160520"/>
          </a:xfrm>
        </p:grpSpPr>
        <p:sp>
          <p:nvSpPr>
            <p:cNvPr id="12" name="Rounded Rectangle 14">
              <a:extLst>
                <a:ext uri="{FF2B5EF4-FFF2-40B4-BE49-F238E27FC236}">
                  <a16:creationId xmlns:a16="http://schemas.microsoft.com/office/drawing/2014/main" id="{761BB27A-F193-4439-80FD-C0192C0EB3D2}"/>
                </a:ext>
              </a:extLst>
            </p:cNvPr>
            <p:cNvSpPr/>
            <p:nvPr/>
          </p:nvSpPr>
          <p:spPr>
            <a:xfrm>
              <a:off x="6318504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8AE9CE-F6E7-4FBA-9ED4-2C6C66AC2E90}"/>
                </a:ext>
              </a:extLst>
            </p:cNvPr>
            <p:cNvCxnSpPr/>
            <p:nvPr/>
          </p:nvCxnSpPr>
          <p:spPr>
            <a:xfrm flipV="1">
              <a:off x="7413296" y="4469891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CB2D99B5-F70A-4756-819C-0F2FED8EC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37454" y="1123148"/>
            <a:ext cx="1453895" cy="28417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FA1314E-DED0-45AB-872F-33BBD3392A2C}"/>
              </a:ext>
            </a:extLst>
          </p:cNvPr>
          <p:cNvGrpSpPr/>
          <p:nvPr/>
        </p:nvGrpSpPr>
        <p:grpSpPr>
          <a:xfrm>
            <a:off x="-3969733" y="822959"/>
            <a:ext cx="2697480" cy="4461832"/>
            <a:chOff x="9226296" y="822960"/>
            <a:chExt cx="2697480" cy="4160520"/>
          </a:xfrm>
        </p:grpSpPr>
        <p:sp>
          <p:nvSpPr>
            <p:cNvPr id="15" name="Rounded Rectangle 19">
              <a:extLst>
                <a:ext uri="{FF2B5EF4-FFF2-40B4-BE49-F238E27FC236}">
                  <a16:creationId xmlns:a16="http://schemas.microsoft.com/office/drawing/2014/main" id="{5D231165-0497-4EB8-9056-41CE44B2133D}"/>
                </a:ext>
              </a:extLst>
            </p:cNvPr>
            <p:cNvSpPr/>
            <p:nvPr/>
          </p:nvSpPr>
          <p:spPr>
            <a:xfrm>
              <a:off x="9226296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48735E1-5E8E-4197-8C7A-6061F1579470}"/>
                </a:ext>
              </a:extLst>
            </p:cNvPr>
            <p:cNvCxnSpPr/>
            <p:nvPr/>
          </p:nvCxnSpPr>
          <p:spPr>
            <a:xfrm flipV="1">
              <a:off x="10085867" y="4384548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6F01D8CB-C205-4458-9C8E-6668816224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261379" y="1123149"/>
            <a:ext cx="1376401" cy="28559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00EBD5-FC70-4829-98DA-8EACCFE77206}"/>
              </a:ext>
            </a:extLst>
          </p:cNvPr>
          <p:cNvSpPr txBox="1"/>
          <p:nvPr/>
        </p:nvSpPr>
        <p:spPr>
          <a:xfrm>
            <a:off x="-10556292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C26A47-0BE8-4B5F-8C78-07AA2A6F6DD8}"/>
              </a:ext>
            </a:extLst>
          </p:cNvPr>
          <p:cNvSpPr txBox="1"/>
          <p:nvPr/>
        </p:nvSpPr>
        <p:spPr>
          <a:xfrm>
            <a:off x="-10556292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Add</a:t>
            </a:r>
            <a:r>
              <a:rPr lang="en-US" sz="2000" b="1" dirty="0">
                <a:solidFill>
                  <a:srgbClr val="2B2A26"/>
                </a:solidFill>
                <a:latin typeface="Aptos"/>
              </a:rPr>
              <a:t> Item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D3A4E8-60CB-4B1D-AB64-2A0151A21B7F}"/>
              </a:ext>
            </a:extLst>
          </p:cNvPr>
          <p:cNvSpPr txBox="1"/>
          <p:nvPr/>
        </p:nvSpPr>
        <p:spPr>
          <a:xfrm>
            <a:off x="-8311882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E221E7-373F-4001-995E-D9A9D48747FC}"/>
              </a:ext>
            </a:extLst>
          </p:cNvPr>
          <p:cNvSpPr txBox="1"/>
          <p:nvPr/>
        </p:nvSpPr>
        <p:spPr>
          <a:xfrm>
            <a:off x="-8311882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Family Pantry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C7DE6B-BA32-4D7B-AD5B-4C7A46448FCC}"/>
              </a:ext>
            </a:extLst>
          </p:cNvPr>
          <p:cNvSpPr txBox="1"/>
          <p:nvPr/>
        </p:nvSpPr>
        <p:spPr>
          <a:xfrm>
            <a:off x="-6067477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C25A23-0C1A-4449-AEEF-14F6715DAB97}"/>
              </a:ext>
            </a:extLst>
          </p:cNvPr>
          <p:cNvSpPr txBox="1"/>
          <p:nvPr/>
        </p:nvSpPr>
        <p:spPr>
          <a:xfrm>
            <a:off x="-6067477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Expiry Alert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CE26C0-6149-4BC7-ACED-99C488CAE399}"/>
              </a:ext>
            </a:extLst>
          </p:cNvPr>
          <p:cNvSpPr txBox="1"/>
          <p:nvPr/>
        </p:nvSpPr>
        <p:spPr>
          <a:xfrm>
            <a:off x="-3805141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A57CD1-5E1D-4FDD-ACED-58BE688D989A}"/>
              </a:ext>
            </a:extLst>
          </p:cNvPr>
          <p:cNvSpPr txBox="1"/>
          <p:nvPr/>
        </p:nvSpPr>
        <p:spPr>
          <a:xfrm>
            <a:off x="-3805141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Take Action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28C278-CFD2-4736-AD3A-1BB3EDFC299A}"/>
              </a:ext>
            </a:extLst>
          </p:cNvPr>
          <p:cNvGrpSpPr/>
          <p:nvPr/>
        </p:nvGrpSpPr>
        <p:grpSpPr>
          <a:xfrm>
            <a:off x="-11204972" y="5560568"/>
            <a:ext cx="11109960" cy="731520"/>
            <a:chOff x="502920" y="5230368"/>
            <a:chExt cx="11109960" cy="731520"/>
          </a:xfrm>
          <a:effectLst/>
        </p:grpSpPr>
        <p:sp>
          <p:nvSpPr>
            <p:cNvPr id="33" name="Rounded Rectangle 24">
              <a:extLst>
                <a:ext uri="{FF2B5EF4-FFF2-40B4-BE49-F238E27FC236}">
                  <a16:creationId xmlns:a16="http://schemas.microsoft.com/office/drawing/2014/main" id="{9E80B39F-63FC-4218-85B9-6F04BF2A0646}"/>
                </a:ext>
              </a:extLst>
            </p:cNvPr>
            <p:cNvSpPr/>
            <p:nvPr/>
          </p:nvSpPr>
          <p:spPr>
            <a:xfrm>
              <a:off x="502920" y="5230368"/>
              <a:ext cx="11109960" cy="731520"/>
            </a:xfrm>
            <a:prstGeom prst="roundRect">
              <a:avLst>
                <a:gd name="adj" fmla="val 1035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BAAF36F-2DF1-40A0-9B26-C88827C0A13C}"/>
                </a:ext>
              </a:extLst>
            </p:cNvPr>
            <p:cNvCxnSpPr/>
            <p:nvPr/>
          </p:nvCxnSpPr>
          <p:spPr>
            <a:xfrm>
              <a:off x="6747555" y="5779008"/>
              <a:ext cx="913045" cy="9144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871BBFA-D6F9-4C6B-B4B5-47ABB30D5772}"/>
              </a:ext>
            </a:extLst>
          </p:cNvPr>
          <p:cNvSpPr txBox="1"/>
          <p:nvPr/>
        </p:nvSpPr>
        <p:spPr>
          <a:xfrm>
            <a:off x="-10675445" y="5599596"/>
            <a:ext cx="15087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487C57"/>
                </a:solidFill>
                <a:latin typeface="Aptos"/>
              </a:rPr>
              <a:t>What you can do more</a:t>
            </a:r>
            <a:endParaRPr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83DAF1-50A1-45B6-AA56-2160206D2B28}"/>
              </a:ext>
            </a:extLst>
          </p:cNvPr>
          <p:cNvSpPr txBox="1"/>
          <p:nvPr/>
        </p:nvSpPr>
        <p:spPr>
          <a:xfrm>
            <a:off x="-8857757" y="5559553"/>
            <a:ext cx="874166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Log in, Sign up Accs.</a:t>
            </a:r>
            <a:endParaRPr lang="en-US" sz="1400" dirty="0">
              <a:solidFill>
                <a:srgbClr val="6F6C63"/>
              </a:solidFill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6F6C63"/>
                </a:solidFill>
                <a:latin typeface="Aptos"/>
              </a:rPr>
              <a:t>Change themes &amp; languages.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6F6C63"/>
                </a:solidFill>
                <a:latin typeface="Aptos"/>
              </a:rPr>
              <a:t>Import/Export inventory, auto-delete system.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63CDF00-C84C-49CD-8E9D-FFEF03ACDD77}"/>
              </a:ext>
            </a:extLst>
          </p:cNvPr>
          <p:cNvCxnSpPr/>
          <p:nvPr/>
        </p:nvCxnSpPr>
        <p:spPr>
          <a:xfrm>
            <a:off x="-9251794" y="5634345"/>
            <a:ext cx="0" cy="584775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Images">
            <a:extLst>
              <a:ext uri="{FF2B5EF4-FFF2-40B4-BE49-F238E27FC236}">
                <a16:creationId xmlns:a16="http://schemas.microsoft.com/office/drawing/2014/main" id="{0C80D6CB-2CE1-44FF-9218-BF0D31525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8571179" y="4348341"/>
            <a:ext cx="368469" cy="368469"/>
          </a:xfrm>
          <a:prstGeom prst="rect">
            <a:avLst/>
          </a:prstGeom>
        </p:spPr>
      </p:pic>
      <p:pic>
        <p:nvPicPr>
          <p:cNvPr id="40" name="Graphic 39" descr="Share with person">
            <a:extLst>
              <a:ext uri="{FF2B5EF4-FFF2-40B4-BE49-F238E27FC236}">
                <a16:creationId xmlns:a16="http://schemas.microsoft.com/office/drawing/2014/main" id="{308E1236-70B6-438A-8C56-F51BD48DD9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6264329" y="4343901"/>
            <a:ext cx="368469" cy="368469"/>
          </a:xfrm>
          <a:prstGeom prst="rect">
            <a:avLst/>
          </a:prstGeom>
        </p:spPr>
      </p:pic>
      <p:pic>
        <p:nvPicPr>
          <p:cNvPr id="41" name="Graphic 40" descr="Ringer">
            <a:extLst>
              <a:ext uri="{FF2B5EF4-FFF2-40B4-BE49-F238E27FC236}">
                <a16:creationId xmlns:a16="http://schemas.microsoft.com/office/drawing/2014/main" id="{ED0ABA8A-4231-4560-8F7A-B395182BA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4026503" y="4349491"/>
            <a:ext cx="368469" cy="368469"/>
          </a:xfrm>
          <a:prstGeom prst="rect">
            <a:avLst/>
          </a:prstGeom>
        </p:spPr>
      </p:pic>
      <p:pic>
        <p:nvPicPr>
          <p:cNvPr id="42" name="Graphic 41" descr="Table setting">
            <a:extLst>
              <a:ext uri="{FF2B5EF4-FFF2-40B4-BE49-F238E27FC236}">
                <a16:creationId xmlns:a16="http://schemas.microsoft.com/office/drawing/2014/main" id="{AA656B27-D78B-4B48-8EA6-801CF4EEC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788194" y="4343901"/>
            <a:ext cx="368469" cy="36846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D46ABC5B-C3FD-489F-9B1B-BE40EC436C2E}"/>
              </a:ext>
            </a:extLst>
          </p:cNvPr>
          <p:cNvGrpSpPr/>
          <p:nvPr/>
        </p:nvGrpSpPr>
        <p:grpSpPr>
          <a:xfrm rot="446645">
            <a:off x="-1270445" y="286563"/>
            <a:ext cx="936282" cy="1268430"/>
            <a:chOff x="11222551" y="121458"/>
            <a:chExt cx="936282" cy="126843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47" name="3D Model 46" descr="Alarm Clock">
                  <a:extLst>
                    <a:ext uri="{FF2B5EF4-FFF2-40B4-BE49-F238E27FC236}">
                      <a16:creationId xmlns:a16="http://schemas.microsoft.com/office/drawing/2014/main" id="{62863BCF-0014-47F6-A08D-D4605B94563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8717745"/>
                    </p:ext>
                  </p:extLst>
                </p:nvPr>
              </p:nvGraphicFramePr>
              <p:xfrm rot="21173216">
                <a:off x="11373106" y="121458"/>
                <a:ext cx="785727" cy="1121570"/>
              </p:xfrm>
              <a:graphic>
                <a:graphicData uri="http://schemas.microsoft.com/office/drawing/2017/model3d">
                  <am3d:model3d r:embed="rId11">
                    <am3d:spPr>
                      <a:xfrm rot="19861">
                        <a:off x="0" y="0"/>
                        <a:ext cx="785727" cy="1121570"/>
                      </a:xfrm>
                      <a:prstGeom prst="rect">
                        <a:avLst/>
                      </a:prstGeom>
                    </am3d:spPr>
                    <am3d:camera>
                      <am3d:pos x="0" y="0" z="59061727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429298" d="1000000"/>
                      <am3d:preTrans dx="0" dy="-18000000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649428" ay="1813470" az="-329784"/>
                      <am3d:postTrans dx="0" dy="0" dz="0"/>
                    </am3d:trans>
                    <am3d:raster rName="Office3DRenderer" rVer="16.0.8326">
                      <am3d:blip r:embed="rId12"/>
                    </am3d:raster>
                    <am3d:objViewport viewportSz="131202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47" name="3D Model 46" descr="Alarm Clock">
                  <a:extLst>
                    <a:ext uri="{FF2B5EF4-FFF2-40B4-BE49-F238E27FC236}">
                      <a16:creationId xmlns:a16="http://schemas.microsoft.com/office/drawing/2014/main" id="{62863BCF-0014-47F6-A08D-D4605B94563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rot="19861">
                  <a:off x="-1111011" y="296935"/>
                  <a:ext cx="785727" cy="112157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645B5BC-70FB-4080-812B-7E357D13F6D6}"/>
                </a:ext>
              </a:extLst>
            </p:cNvPr>
            <p:cNvCxnSpPr/>
            <p:nvPr/>
          </p:nvCxnSpPr>
          <p:spPr>
            <a:xfrm>
              <a:off x="11222551" y="475488"/>
              <a:ext cx="914400" cy="91440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3D Model 48" descr="Alarm Clock">
                <a:extLst>
                  <a:ext uri="{FF2B5EF4-FFF2-40B4-BE49-F238E27FC236}">
                    <a16:creationId xmlns:a16="http://schemas.microsoft.com/office/drawing/2014/main" id="{673F160E-771E-4C99-A048-CB39974545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84699066"/>
                  </p:ext>
                </p:extLst>
              </p:nvPr>
            </p:nvGraphicFramePr>
            <p:xfrm rot="648440">
              <a:off x="722889" y="-48841"/>
              <a:ext cx="995441" cy="1262289"/>
            </p:xfrm>
            <a:graphic>
              <a:graphicData uri="http://schemas.microsoft.com/office/drawing/2017/model3d">
                <am3d:model3d r:embed="rId11">
                  <am3d:spPr>
                    <a:xfrm rot="648440">
                      <a:off x="0" y="0"/>
                      <a:ext cx="995441" cy="1262289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83214" ay="1970500" az="-660022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16021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3D Model 48" descr="Alarm Clock">
                <a:extLst>
                  <a:ext uri="{FF2B5EF4-FFF2-40B4-BE49-F238E27FC236}">
                    <a16:creationId xmlns:a16="http://schemas.microsoft.com/office/drawing/2014/main" id="{673F160E-771E-4C99-A048-CB39974545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 rot="648440">
                <a:off x="722889" y="-48841"/>
                <a:ext cx="995441" cy="1262289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B730807C-A114-4FDB-AA55-E3A8E9941F27}"/>
              </a:ext>
            </a:extLst>
          </p:cNvPr>
          <p:cNvGrpSpPr/>
          <p:nvPr/>
        </p:nvGrpSpPr>
        <p:grpSpPr>
          <a:xfrm>
            <a:off x="0" y="6858000"/>
            <a:ext cx="12192000" cy="6858000"/>
            <a:chOff x="0" y="6858000"/>
            <a:chExt cx="12192000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21669D9-32B1-414C-871C-B9C3FBB431B3}"/>
                </a:ext>
              </a:extLst>
            </p:cNvPr>
            <p:cNvSpPr/>
            <p:nvPr/>
          </p:nvSpPr>
          <p:spPr>
            <a:xfrm>
              <a:off x="0" y="6858000"/>
              <a:ext cx="12192000" cy="6858000"/>
            </a:xfrm>
            <a:prstGeom prst="rect">
              <a:avLst/>
            </a:prstGeom>
            <a:solidFill>
              <a:srgbClr val="EEE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91488BB-2A4B-4125-8E2F-E297FA54F6F2}"/>
                </a:ext>
              </a:extLst>
            </p:cNvPr>
            <p:cNvSpPr/>
            <p:nvPr/>
          </p:nvSpPr>
          <p:spPr>
            <a:xfrm>
              <a:off x="1450848" y="9346612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CAD6AD0-BA89-4BA0-A414-6489CC00D304}"/>
              </a:ext>
            </a:extLst>
          </p:cNvPr>
          <p:cNvSpPr txBox="1"/>
          <p:nvPr/>
        </p:nvSpPr>
        <p:spPr>
          <a:xfrm>
            <a:off x="4450317" y="8199528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4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9B6BFC-0B6B-4B83-8BDF-09B50684AB5A}"/>
              </a:ext>
            </a:extLst>
          </p:cNvPr>
          <p:cNvSpPr txBox="1"/>
          <p:nvPr/>
        </p:nvSpPr>
        <p:spPr>
          <a:xfrm>
            <a:off x="5501642" y="9215807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F8A87-405D-4879-8F49-69F529169C4C}"/>
              </a:ext>
            </a:extLst>
          </p:cNvPr>
          <p:cNvSpPr txBox="1"/>
          <p:nvPr/>
        </p:nvSpPr>
        <p:spPr>
          <a:xfrm>
            <a:off x="5488169" y="960290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4.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BDFD05-3361-4E42-A852-0C0D54084F5F}"/>
              </a:ext>
            </a:extLst>
          </p:cNvPr>
          <p:cNvSpPr txBox="1"/>
          <p:nvPr/>
        </p:nvSpPr>
        <p:spPr>
          <a:xfrm>
            <a:off x="3869178" y="10649671"/>
            <a:ext cx="44993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600" b="1" dirty="0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88B7CC-9FFC-4A47-995F-9DEFCDE44B9D}"/>
              </a:ext>
            </a:extLst>
          </p:cNvPr>
          <p:cNvCxnSpPr/>
          <p:nvPr/>
        </p:nvCxnSpPr>
        <p:spPr>
          <a:xfrm>
            <a:off x="6414235" y="9346612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7641C34-2C03-4E07-B631-C8E50EAF3433}"/>
              </a:ext>
            </a:extLst>
          </p:cNvPr>
          <p:cNvCxnSpPr/>
          <p:nvPr/>
        </p:nvCxnSpPr>
        <p:spPr>
          <a:xfrm>
            <a:off x="5407138" y="9346612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Bar graph with upward trend">
            <a:extLst>
              <a:ext uri="{FF2B5EF4-FFF2-40B4-BE49-F238E27FC236}">
                <a16:creationId xmlns:a16="http://schemas.microsoft.com/office/drawing/2014/main" id="{60E4735E-D057-494E-B323-57EE3142F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83002" y="11734437"/>
            <a:ext cx="471717" cy="471717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16782600-8FF7-4B34-8789-B07CEEF4DFD3}"/>
              </a:ext>
            </a:extLst>
          </p:cNvPr>
          <p:cNvGrpSpPr/>
          <p:nvPr/>
        </p:nvGrpSpPr>
        <p:grpSpPr>
          <a:xfrm>
            <a:off x="4193503" y="6954061"/>
            <a:ext cx="3804994" cy="185124"/>
            <a:chOff x="4193503" y="6954061"/>
            <a:chExt cx="3804994" cy="185124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E5D29204-EBF0-400D-90AB-7FB880922CF6}"/>
                </a:ext>
              </a:extLst>
            </p:cNvPr>
            <p:cNvSpPr/>
            <p:nvPr/>
          </p:nvSpPr>
          <p:spPr>
            <a:xfrm>
              <a:off x="4193503" y="6993768"/>
              <a:ext cx="3804994" cy="145417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87FEEAC-7465-48F8-B840-D5011AFC45EA}"/>
                </a:ext>
              </a:extLst>
            </p:cNvPr>
            <p:cNvSpPr/>
            <p:nvPr/>
          </p:nvSpPr>
          <p:spPr>
            <a:xfrm>
              <a:off x="6827286" y="6954061"/>
              <a:ext cx="280650" cy="185124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6416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13A58B78-98AF-4220-B5B4-997DEBE20E1B}"/>
              </a:ext>
            </a:extLst>
          </p:cNvPr>
          <p:cNvSpPr txBox="1"/>
          <p:nvPr/>
        </p:nvSpPr>
        <p:spPr>
          <a:xfrm>
            <a:off x="594360" y="1914893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Feasibility and Sustainability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9D7C2E-A995-4F78-9E67-69051489935E}"/>
              </a:ext>
            </a:extLst>
          </p:cNvPr>
          <p:cNvSpPr txBox="1"/>
          <p:nvPr/>
        </p:nvSpPr>
        <p:spPr>
          <a:xfrm>
            <a:off x="980859" y="2461579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Feasibility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A1A211-D3E7-44D0-BB14-2FFEDFB82B1F}"/>
              </a:ext>
            </a:extLst>
          </p:cNvPr>
          <p:cNvSpPr txBox="1"/>
          <p:nvPr/>
        </p:nvSpPr>
        <p:spPr>
          <a:xfrm>
            <a:off x="6559548" y="2465995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Sustainability</a:t>
            </a:r>
          </a:p>
        </p:txBody>
      </p:sp>
      <p:sp>
        <p:nvSpPr>
          <p:cNvPr id="56" name="Rounded Rectangle 6">
            <a:extLst>
              <a:ext uri="{FF2B5EF4-FFF2-40B4-BE49-F238E27FC236}">
                <a16:creationId xmlns:a16="http://schemas.microsoft.com/office/drawing/2014/main" id="{5B76ABB3-D382-4E22-8A30-C994CB5AD71E}"/>
              </a:ext>
            </a:extLst>
          </p:cNvPr>
          <p:cNvSpPr/>
          <p:nvPr/>
        </p:nvSpPr>
        <p:spPr>
          <a:xfrm>
            <a:off x="594360" y="3036120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24696F-AA3F-4855-A3BA-4101D6F6393A}"/>
              </a:ext>
            </a:extLst>
          </p:cNvPr>
          <p:cNvSpPr txBox="1"/>
          <p:nvPr/>
        </p:nvSpPr>
        <p:spPr>
          <a:xfrm>
            <a:off x="1325880" y="3190153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Freemium Model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654227-87D9-4DF2-91E5-814413E70963}"/>
              </a:ext>
            </a:extLst>
          </p:cNvPr>
          <p:cNvSpPr txBox="1"/>
          <p:nvPr/>
        </p:nvSpPr>
        <p:spPr>
          <a:xfrm>
            <a:off x="1325880" y="3511608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Launch with a freemium structure to attract users while offering premium features.</a:t>
            </a:r>
          </a:p>
        </p:txBody>
      </p:sp>
      <p:sp>
        <p:nvSpPr>
          <p:cNvPr id="59" name="Rounded Rectangle 11">
            <a:extLst>
              <a:ext uri="{FF2B5EF4-FFF2-40B4-BE49-F238E27FC236}">
                <a16:creationId xmlns:a16="http://schemas.microsoft.com/office/drawing/2014/main" id="{AA4288D8-4342-4F50-8246-8984EEB4061E}"/>
              </a:ext>
            </a:extLst>
          </p:cNvPr>
          <p:cNvSpPr/>
          <p:nvPr/>
        </p:nvSpPr>
        <p:spPr>
          <a:xfrm>
            <a:off x="594360" y="4366620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05C404-BE65-425C-B8E3-6B059742E8A9}"/>
              </a:ext>
            </a:extLst>
          </p:cNvPr>
          <p:cNvSpPr txBox="1"/>
          <p:nvPr/>
        </p:nvSpPr>
        <p:spPr>
          <a:xfrm>
            <a:off x="1325880" y="4558361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Digital Channels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5BCE5F-8047-410F-96E8-8C4B1933A55B}"/>
              </a:ext>
            </a:extLst>
          </p:cNvPr>
          <p:cNvSpPr txBox="1"/>
          <p:nvPr/>
        </p:nvSpPr>
        <p:spPr>
          <a:xfrm>
            <a:off x="1325880" y="4889242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Utilize social media and app stores to reach the target audience of housewives effectively.</a:t>
            </a:r>
          </a:p>
        </p:txBody>
      </p:sp>
      <p:sp>
        <p:nvSpPr>
          <p:cNvPr id="62" name="Rounded Rectangle 16">
            <a:extLst>
              <a:ext uri="{FF2B5EF4-FFF2-40B4-BE49-F238E27FC236}">
                <a16:creationId xmlns:a16="http://schemas.microsoft.com/office/drawing/2014/main" id="{FC6E7626-A792-43DD-8268-3AB833A38F81}"/>
              </a:ext>
            </a:extLst>
          </p:cNvPr>
          <p:cNvSpPr/>
          <p:nvPr/>
        </p:nvSpPr>
        <p:spPr>
          <a:xfrm>
            <a:off x="594360" y="5706546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76F4C7-110D-4CD7-B081-33AB378D02E9}"/>
              </a:ext>
            </a:extLst>
          </p:cNvPr>
          <p:cNvSpPr txBox="1"/>
          <p:nvPr/>
        </p:nvSpPr>
        <p:spPr>
          <a:xfrm>
            <a:off x="1325880" y="5898283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Lightweight Partnerships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49832C-4FED-4B5C-954C-3F7914D81B75}"/>
              </a:ext>
            </a:extLst>
          </p:cNvPr>
          <p:cNvSpPr txBox="1"/>
          <p:nvPr/>
        </p:nvSpPr>
        <p:spPr>
          <a:xfrm>
            <a:off x="1325880" y="624801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Collaborate with local grocery stores and food bloggers to expand without heavy costs.</a:t>
            </a:r>
          </a:p>
        </p:txBody>
      </p:sp>
      <p:pic>
        <p:nvPicPr>
          <p:cNvPr id="65" name="Picture 64" descr="p15_sustain.png">
            <a:extLst>
              <a:ext uri="{FF2B5EF4-FFF2-40B4-BE49-F238E27FC236}">
                <a16:creationId xmlns:a16="http://schemas.microsoft.com/office/drawing/2014/main" id="{D67BB6F0-A07F-4670-A048-85A0761A5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932573"/>
            <a:ext cx="5074920" cy="1368055"/>
          </a:xfrm>
          <a:prstGeom prst="rect">
            <a:avLst/>
          </a:prstGeom>
        </p:spPr>
      </p:pic>
      <p:sp>
        <p:nvSpPr>
          <p:cNvPr id="66" name="Rounded Rectangle 22">
            <a:extLst>
              <a:ext uri="{FF2B5EF4-FFF2-40B4-BE49-F238E27FC236}">
                <a16:creationId xmlns:a16="http://schemas.microsoft.com/office/drawing/2014/main" id="{07075291-D553-4059-8E8D-193BC925CA9E}"/>
              </a:ext>
            </a:extLst>
          </p:cNvPr>
          <p:cNvSpPr/>
          <p:nvPr/>
        </p:nvSpPr>
        <p:spPr>
          <a:xfrm>
            <a:off x="6144768" y="4620668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9A413F-879B-48D1-A30E-8ECE7B370F24}"/>
              </a:ext>
            </a:extLst>
          </p:cNvPr>
          <p:cNvSpPr txBox="1"/>
          <p:nvPr/>
        </p:nvSpPr>
        <p:spPr>
          <a:xfrm>
            <a:off x="6858000" y="4776117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Scalable Growth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A74E570-70DB-4971-B049-F418DE5230DA}"/>
              </a:ext>
            </a:extLst>
          </p:cNvPr>
          <p:cNvSpPr txBox="1"/>
          <p:nvPr/>
        </p:nvSpPr>
        <p:spPr>
          <a:xfrm>
            <a:off x="6858000" y="5041293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Designed to scale seamlessly as the user base expands beyond the prototype stage.</a:t>
            </a:r>
          </a:p>
        </p:txBody>
      </p:sp>
      <p:sp>
        <p:nvSpPr>
          <p:cNvPr id="69" name="Rounded Rectangle 27">
            <a:extLst>
              <a:ext uri="{FF2B5EF4-FFF2-40B4-BE49-F238E27FC236}">
                <a16:creationId xmlns:a16="http://schemas.microsoft.com/office/drawing/2014/main" id="{F593BE3A-CF81-4D6B-BB96-30608FED78A9}"/>
              </a:ext>
            </a:extLst>
          </p:cNvPr>
          <p:cNvSpPr/>
          <p:nvPr/>
        </p:nvSpPr>
        <p:spPr>
          <a:xfrm>
            <a:off x="6144768" y="5736236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A4133D-39C0-412A-A3F7-C443F62A4AB9}"/>
              </a:ext>
            </a:extLst>
          </p:cNvPr>
          <p:cNvSpPr txBox="1"/>
          <p:nvPr/>
        </p:nvSpPr>
        <p:spPr>
          <a:xfrm>
            <a:off x="6858000" y="5891685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Cost Management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AA766B-88E0-4857-9CC9-DEDCCBADEC19}"/>
              </a:ext>
            </a:extLst>
          </p:cNvPr>
          <p:cNvSpPr txBox="1"/>
          <p:nvPr/>
        </p:nvSpPr>
        <p:spPr>
          <a:xfrm>
            <a:off x="6858000" y="6156861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Keep operational costs manageable through efficient infrastructure and smart AI integration.</a:t>
            </a:r>
          </a:p>
        </p:txBody>
      </p:sp>
      <p:sp>
        <p:nvSpPr>
          <p:cNvPr id="72" name="Rounded Rectangle 32">
            <a:extLst>
              <a:ext uri="{FF2B5EF4-FFF2-40B4-BE49-F238E27FC236}">
                <a16:creationId xmlns:a16="http://schemas.microsoft.com/office/drawing/2014/main" id="{D239B941-1AD2-44A2-9FCB-75E63B1F90F3}"/>
              </a:ext>
            </a:extLst>
          </p:cNvPr>
          <p:cNvSpPr/>
          <p:nvPr/>
        </p:nvSpPr>
        <p:spPr>
          <a:xfrm>
            <a:off x="6144768" y="6851804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553A5A-F3F7-44DD-A0A6-074A71DAEFEB}"/>
              </a:ext>
            </a:extLst>
          </p:cNvPr>
          <p:cNvSpPr txBox="1"/>
          <p:nvPr/>
        </p:nvSpPr>
        <p:spPr>
          <a:xfrm>
            <a:off x="6858000" y="7007253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Future Impact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200465-CFCE-4803-BBFC-6E9778D303C6}"/>
              </a:ext>
            </a:extLst>
          </p:cNvPr>
          <p:cNvSpPr txBox="1"/>
          <p:nvPr/>
        </p:nvSpPr>
        <p:spPr>
          <a:xfrm>
            <a:off x="6858000" y="7272429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Ensure long-term viability by continuously reducing food waste and promoting eco-friendly habits.</a:t>
            </a:r>
          </a:p>
        </p:txBody>
      </p:sp>
      <p:pic>
        <p:nvPicPr>
          <p:cNvPr id="75" name="Graphic 74" descr="Gears">
            <a:extLst>
              <a:ext uri="{FF2B5EF4-FFF2-40B4-BE49-F238E27FC236}">
                <a16:creationId xmlns:a16="http://schemas.microsoft.com/office/drawing/2014/main" id="{2B9348CC-BCDD-4542-A1CC-DCCD0269A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297" y="2479194"/>
            <a:ext cx="390489" cy="390489"/>
          </a:xfrm>
          <a:prstGeom prst="rect">
            <a:avLst/>
          </a:prstGeom>
        </p:spPr>
      </p:pic>
      <p:pic>
        <p:nvPicPr>
          <p:cNvPr id="76" name="Graphic 75" descr="Plant">
            <a:extLst>
              <a:ext uri="{FF2B5EF4-FFF2-40B4-BE49-F238E27FC236}">
                <a16:creationId xmlns:a16="http://schemas.microsoft.com/office/drawing/2014/main" id="{DAB448D9-3665-4790-BF87-B61AFDC7D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059" y="2485973"/>
            <a:ext cx="390489" cy="390489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CDD99491-499C-4826-A966-8AD223AF1934}"/>
              </a:ext>
            </a:extLst>
          </p:cNvPr>
          <p:cNvSpPr/>
          <p:nvPr/>
        </p:nvSpPr>
        <p:spPr>
          <a:xfrm>
            <a:off x="6382512" y="4978671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2C9691E-F444-4D5C-AA99-4E0DFFCB4119}"/>
              </a:ext>
            </a:extLst>
          </p:cNvPr>
          <p:cNvSpPr/>
          <p:nvPr/>
        </p:nvSpPr>
        <p:spPr>
          <a:xfrm>
            <a:off x="6382512" y="6112296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E8D13A6-90B9-4EB2-9096-534E12AF6E56}"/>
              </a:ext>
            </a:extLst>
          </p:cNvPr>
          <p:cNvSpPr/>
          <p:nvPr/>
        </p:nvSpPr>
        <p:spPr>
          <a:xfrm>
            <a:off x="6382512" y="7222464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3</a:t>
            </a:r>
          </a:p>
        </p:txBody>
      </p:sp>
      <p:pic>
        <p:nvPicPr>
          <p:cNvPr id="80" name="Graphic 79" descr="Money">
            <a:extLst>
              <a:ext uri="{FF2B5EF4-FFF2-40B4-BE49-F238E27FC236}">
                <a16:creationId xmlns:a16="http://schemas.microsoft.com/office/drawing/2014/main" id="{BB78E05A-5483-457E-A624-8844E9E27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1" y="3303568"/>
            <a:ext cx="337538" cy="337538"/>
          </a:xfrm>
          <a:prstGeom prst="rect">
            <a:avLst/>
          </a:prstGeom>
        </p:spPr>
      </p:pic>
      <p:pic>
        <p:nvPicPr>
          <p:cNvPr id="81" name="Graphic 80" descr="World">
            <a:extLst>
              <a:ext uri="{FF2B5EF4-FFF2-40B4-BE49-F238E27FC236}">
                <a16:creationId xmlns:a16="http://schemas.microsoft.com/office/drawing/2014/main" id="{ECC481C9-53F9-464C-8F07-464346E7C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4720473"/>
            <a:ext cx="337538" cy="337538"/>
          </a:xfrm>
          <a:prstGeom prst="rect">
            <a:avLst/>
          </a:prstGeom>
        </p:spPr>
      </p:pic>
      <p:pic>
        <p:nvPicPr>
          <p:cNvPr id="82" name="Graphic 81" descr="Users">
            <a:extLst>
              <a:ext uri="{FF2B5EF4-FFF2-40B4-BE49-F238E27FC236}">
                <a16:creationId xmlns:a16="http://schemas.microsoft.com/office/drawing/2014/main" id="{5B32FC77-AF9A-4A52-9A3A-91C0DC50C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789" y="6033088"/>
            <a:ext cx="337538" cy="3375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A46A71-A8FA-4375-B242-9A74123987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37" y="836775"/>
            <a:ext cx="9753524" cy="650042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 Model 22" descr="Alarm Clock">
                <a:extLst>
                  <a:ext uri="{FF2B5EF4-FFF2-40B4-BE49-F238E27FC236}">
                    <a16:creationId xmlns:a16="http://schemas.microsoft.com/office/drawing/2014/main" id="{4F7F0C20-7894-4F3D-A1F4-B5EB619144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43941064"/>
                  </p:ext>
                </p:extLst>
              </p:nvPr>
            </p:nvGraphicFramePr>
            <p:xfrm rot="648440">
              <a:off x="779771" y="-33456"/>
              <a:ext cx="881676" cy="1345819"/>
            </p:xfrm>
            <a:graphic>
              <a:graphicData uri="http://schemas.microsoft.com/office/drawing/2017/model3d">
                <am3d:model3d r:embed="rId9">
                  <am3d:spPr>
                    <a:xfrm rot="648440">
                      <a:off x="0" y="0"/>
                      <a:ext cx="881676" cy="1345819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390823" ay="-3354237" az="1171455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60218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 Model 22" descr="Alarm Clock">
                <a:extLst>
                  <a:ext uri="{FF2B5EF4-FFF2-40B4-BE49-F238E27FC236}">
                    <a16:creationId xmlns:a16="http://schemas.microsoft.com/office/drawing/2014/main" id="{4F7F0C20-7894-4F3D-A1F4-B5EB619144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648440">
                <a:off x="779771" y="-33456"/>
                <a:ext cx="881676" cy="1345819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2B2DD70-AB83-4630-959B-122289B14770}"/>
              </a:ext>
            </a:extLst>
          </p:cNvPr>
          <p:cNvGrpSpPr/>
          <p:nvPr/>
        </p:nvGrpSpPr>
        <p:grpSpPr>
          <a:xfrm>
            <a:off x="-22862" y="-5140"/>
            <a:ext cx="12192000" cy="6858000"/>
            <a:chOff x="-22862" y="-514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D22DFA-C9CA-4A6D-A6B2-814DD2607B80}"/>
                </a:ext>
              </a:extLst>
            </p:cNvPr>
            <p:cNvSpPr/>
            <p:nvPr/>
          </p:nvSpPr>
          <p:spPr>
            <a:xfrm>
              <a:off x="-22862" y="-5140"/>
              <a:ext cx="12192000" cy="6858000"/>
            </a:xfrm>
            <a:prstGeom prst="rect">
              <a:avLst/>
            </a:prstGeom>
            <a:solidFill>
              <a:srgbClr val="EEE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8DF6E05-EE4A-4C29-9BBC-981C589CBCDF}"/>
                </a:ext>
              </a:extLst>
            </p:cNvPr>
            <p:cNvSpPr/>
            <p:nvPr/>
          </p:nvSpPr>
          <p:spPr>
            <a:xfrm>
              <a:off x="1908716" y="3423860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1413AA3-5AFD-488C-A839-86188536E4E5}"/>
              </a:ext>
            </a:extLst>
          </p:cNvPr>
          <p:cNvSpPr txBox="1"/>
          <p:nvPr/>
        </p:nvSpPr>
        <p:spPr>
          <a:xfrm>
            <a:off x="4427455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4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F7621-64B7-4AC0-9618-03FF0D2FED7A}"/>
              </a:ext>
            </a:extLst>
          </p:cNvPr>
          <p:cNvSpPr txBox="1"/>
          <p:nvPr/>
        </p:nvSpPr>
        <p:spPr>
          <a:xfrm>
            <a:off x="5478780" y="1962523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BE74F-D9DF-48D5-9D86-875D79F82229}"/>
              </a:ext>
            </a:extLst>
          </p:cNvPr>
          <p:cNvSpPr txBox="1"/>
          <p:nvPr/>
        </p:nvSpPr>
        <p:spPr>
          <a:xfrm>
            <a:off x="5465307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4.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F916E-1F5F-4336-9591-49555B140CA6}"/>
              </a:ext>
            </a:extLst>
          </p:cNvPr>
          <p:cNvSpPr txBox="1"/>
          <p:nvPr/>
        </p:nvSpPr>
        <p:spPr>
          <a:xfrm>
            <a:off x="3846316" y="3225699"/>
            <a:ext cx="44993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600" b="1" dirty="0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C15C4A-E911-4A84-9DB6-728FB5A638C2}"/>
              </a:ext>
            </a:extLst>
          </p:cNvPr>
          <p:cNvCxnSpPr/>
          <p:nvPr/>
        </p:nvCxnSpPr>
        <p:spPr>
          <a:xfrm>
            <a:off x="6391373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4F38F5-77F6-4E08-85EA-B2595D1D1128}"/>
              </a:ext>
            </a:extLst>
          </p:cNvPr>
          <p:cNvCxnSpPr/>
          <p:nvPr/>
        </p:nvCxnSpPr>
        <p:spPr>
          <a:xfrm>
            <a:off x="5384276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Bar graph with upward trend">
            <a:extLst>
              <a:ext uri="{FF2B5EF4-FFF2-40B4-BE49-F238E27FC236}">
                <a16:creationId xmlns:a16="http://schemas.microsoft.com/office/drawing/2014/main" id="{8B2128B2-458B-4069-9F38-ADB40CE3B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60140" y="4237313"/>
            <a:ext cx="471717" cy="47171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D847E999-104E-4A7D-9072-CDC2A983A7AA}"/>
              </a:ext>
            </a:extLst>
          </p:cNvPr>
          <p:cNvGrpSpPr/>
          <p:nvPr/>
        </p:nvGrpSpPr>
        <p:grpSpPr>
          <a:xfrm>
            <a:off x="3130731" y="102219"/>
            <a:ext cx="5930537" cy="173826"/>
            <a:chOff x="3130731" y="102219"/>
            <a:chExt cx="5930537" cy="17382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4C1BE80-3D8A-4C7C-A5A3-28C71D90F7F0}"/>
                </a:ext>
              </a:extLst>
            </p:cNvPr>
            <p:cNvSpPr/>
            <p:nvPr/>
          </p:nvSpPr>
          <p:spPr>
            <a:xfrm>
              <a:off x="3130731" y="130628"/>
              <a:ext cx="5930537" cy="145417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1D2AED-99D9-44AE-B003-83A0D171608D}"/>
                </a:ext>
              </a:extLst>
            </p:cNvPr>
            <p:cNvSpPr/>
            <p:nvPr/>
          </p:nvSpPr>
          <p:spPr>
            <a:xfrm>
              <a:off x="6423757" y="102219"/>
              <a:ext cx="231551" cy="148213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AB98160-F921-4639-80B0-4149E8595899}"/>
              </a:ext>
            </a:extLst>
          </p:cNvPr>
          <p:cNvSpPr txBox="1"/>
          <p:nvPr/>
        </p:nvSpPr>
        <p:spPr>
          <a:xfrm>
            <a:off x="3265837" y="-5612307"/>
            <a:ext cx="5660325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487C57"/>
                </a:solidFill>
                <a:latin typeface="Aptos"/>
              </a:rPr>
              <a:t>Freemium Growth Model</a:t>
            </a:r>
            <a:endParaRPr sz="40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AC7FEE-BACC-4C53-9766-1A082790F940}"/>
              </a:ext>
            </a:extLst>
          </p:cNvPr>
          <p:cNvSpPr txBox="1"/>
          <p:nvPr/>
        </p:nvSpPr>
        <p:spPr>
          <a:xfrm>
            <a:off x="2991752" y="-4683061"/>
            <a:ext cx="620849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F6C63"/>
                </a:solidFill>
                <a:latin typeface="Aptos"/>
              </a:rPr>
              <a:t>BarKyanLal by Team Blind Mice: Transforming household routines with
sustainable, AI-driven food management.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2881703-2909-4DBE-818D-87DB657E5459}"/>
              </a:ext>
            </a:extLst>
          </p:cNvPr>
          <p:cNvGrpSpPr/>
          <p:nvPr/>
        </p:nvGrpSpPr>
        <p:grpSpPr>
          <a:xfrm>
            <a:off x="2258111" y="-3236890"/>
            <a:ext cx="3429000" cy="3038721"/>
            <a:chOff x="2258111" y="-3236890"/>
            <a:chExt cx="3429000" cy="3038721"/>
          </a:xfrm>
        </p:grpSpPr>
        <p:sp>
          <p:nvSpPr>
            <p:cNvPr id="30" name="Rounded Rectangle 3">
              <a:extLst>
                <a:ext uri="{FF2B5EF4-FFF2-40B4-BE49-F238E27FC236}">
                  <a16:creationId xmlns:a16="http://schemas.microsoft.com/office/drawing/2014/main" id="{5CE17FDC-0450-4C5C-ABF5-15599597E04C}"/>
                </a:ext>
              </a:extLst>
            </p:cNvPr>
            <p:cNvSpPr/>
            <p:nvPr/>
          </p:nvSpPr>
          <p:spPr>
            <a:xfrm>
              <a:off x="2258111" y="-3236890"/>
              <a:ext cx="3429000" cy="303872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629A4A3-0729-43C9-BEE0-21952AAABADC}"/>
                </a:ext>
              </a:extLst>
            </p:cNvPr>
            <p:cNvCxnSpPr>
              <a:cxnSpLocks/>
            </p:cNvCxnSpPr>
            <p:nvPr/>
          </p:nvCxnSpPr>
          <p:spPr>
            <a:xfrm>
              <a:off x="2447590" y="-2470018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E57DD23-E1E0-40C3-AA2D-FF81AB0E586F}"/>
              </a:ext>
            </a:extLst>
          </p:cNvPr>
          <p:cNvSpPr txBox="1"/>
          <p:nvPr/>
        </p:nvSpPr>
        <p:spPr>
          <a:xfrm>
            <a:off x="2555291" y="-299814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Free Core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0C6148-65E1-433B-9299-087BB6C9E06D}"/>
              </a:ext>
            </a:extLst>
          </p:cNvPr>
          <p:cNvSpPr txBox="1"/>
          <p:nvPr/>
        </p:nvSpPr>
        <p:spPr>
          <a:xfrm>
            <a:off x="2514143" y="-2359492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0CE94E-1963-4FB6-B858-274587A4F403}"/>
              </a:ext>
            </a:extLst>
          </p:cNvPr>
          <p:cNvSpPr txBox="1"/>
          <p:nvPr/>
        </p:nvSpPr>
        <p:spPr>
          <a:xfrm>
            <a:off x="2761031" y="-2359492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B2A26"/>
                </a:solidFill>
                <a:latin typeface="Aptos"/>
              </a:rPr>
              <a:t>Expiry alerts for food items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9975EB-D049-41A9-96F7-6FFD2115BA47}"/>
              </a:ext>
            </a:extLst>
          </p:cNvPr>
          <p:cNvSpPr txBox="1"/>
          <p:nvPr/>
        </p:nvSpPr>
        <p:spPr>
          <a:xfrm>
            <a:off x="2514143" y="-1960204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3C4227-4E33-46A8-828A-2A5215E12F89}"/>
              </a:ext>
            </a:extLst>
          </p:cNvPr>
          <p:cNvSpPr txBox="1"/>
          <p:nvPr/>
        </p:nvSpPr>
        <p:spPr>
          <a:xfrm>
            <a:off x="2761031" y="-1960204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Basic storage tracking system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3C98C9-ACAB-4D3F-A731-4D3F05DE01B4}"/>
              </a:ext>
            </a:extLst>
          </p:cNvPr>
          <p:cNvSpPr txBox="1"/>
          <p:nvPr/>
        </p:nvSpPr>
        <p:spPr>
          <a:xfrm>
            <a:off x="2514143" y="-1560916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9876DB-2592-454F-8B93-3C158D42F164}"/>
              </a:ext>
            </a:extLst>
          </p:cNvPr>
          <p:cNvSpPr txBox="1"/>
          <p:nvPr/>
        </p:nvSpPr>
        <p:spPr>
          <a:xfrm>
            <a:off x="2761031" y="-1560916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B2A26"/>
                </a:solidFill>
                <a:latin typeface="Aptos"/>
              </a:rPr>
              <a:t>Simple AI recipe suggestions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46C5426-CF9F-48CF-A26E-81FBF4C88D37}"/>
              </a:ext>
            </a:extLst>
          </p:cNvPr>
          <p:cNvGrpSpPr/>
          <p:nvPr/>
        </p:nvGrpSpPr>
        <p:grpSpPr>
          <a:xfrm>
            <a:off x="6362543" y="-3636940"/>
            <a:ext cx="3429000" cy="3038721"/>
            <a:chOff x="6362543" y="-3636940"/>
            <a:chExt cx="3429000" cy="3038721"/>
          </a:xfrm>
        </p:grpSpPr>
        <p:sp>
          <p:nvSpPr>
            <p:cNvPr id="38" name="Rounded Rectangle 11">
              <a:extLst>
                <a:ext uri="{FF2B5EF4-FFF2-40B4-BE49-F238E27FC236}">
                  <a16:creationId xmlns:a16="http://schemas.microsoft.com/office/drawing/2014/main" id="{59503DD0-8019-4083-815F-0C6A5C4F0692}"/>
                </a:ext>
              </a:extLst>
            </p:cNvPr>
            <p:cNvSpPr/>
            <p:nvPr/>
          </p:nvSpPr>
          <p:spPr>
            <a:xfrm>
              <a:off x="6362543" y="-3636940"/>
              <a:ext cx="3429000" cy="3038721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D530B7F-38B8-4E56-816E-A4CC8AC68D35}"/>
                </a:ext>
              </a:extLst>
            </p:cNvPr>
            <p:cNvCxnSpPr>
              <a:cxnSpLocks/>
            </p:cNvCxnSpPr>
            <p:nvPr/>
          </p:nvCxnSpPr>
          <p:spPr>
            <a:xfrm>
              <a:off x="6545187" y="-2935099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2AE455E-2B12-42F0-86FC-BA7145372150}"/>
              </a:ext>
            </a:extLst>
          </p:cNvPr>
          <p:cNvSpPr txBox="1"/>
          <p:nvPr/>
        </p:nvSpPr>
        <p:spPr>
          <a:xfrm>
            <a:off x="6659723" y="-339819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Premium Tier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1C0E13-9F93-4A6A-8B5F-63BBA61757C4}"/>
              </a:ext>
            </a:extLst>
          </p:cNvPr>
          <p:cNvGrpSpPr/>
          <p:nvPr/>
        </p:nvGrpSpPr>
        <p:grpSpPr>
          <a:xfrm>
            <a:off x="6618575" y="-2792200"/>
            <a:ext cx="2807208" cy="338554"/>
            <a:chOff x="6618575" y="-2792200"/>
            <a:chExt cx="2807208" cy="33855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92B6021-EA4D-4E47-95BC-BE9DEC68E2BC}"/>
                </a:ext>
              </a:extLst>
            </p:cNvPr>
            <p:cNvSpPr txBox="1"/>
            <p:nvPr/>
          </p:nvSpPr>
          <p:spPr>
            <a:xfrm>
              <a:off x="6618575" y="-2792200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B1334BD-BAE1-4DE7-9266-840F789BAB06}"/>
                </a:ext>
              </a:extLst>
            </p:cNvPr>
            <p:cNvSpPr txBox="1"/>
            <p:nvPr/>
          </p:nvSpPr>
          <p:spPr>
            <a:xfrm>
              <a:off x="6865463" y="-2759542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Shopping list recommendations</a:t>
              </a:r>
              <a:endParaRPr sz="1200" b="0" dirty="0">
                <a:solidFill>
                  <a:srgbClr val="2B2A26"/>
                </a:solidFill>
                <a:latin typeface="Apto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2E87B53-3009-4291-A752-68C5F89BCF14}"/>
              </a:ext>
            </a:extLst>
          </p:cNvPr>
          <p:cNvGrpSpPr/>
          <p:nvPr/>
        </p:nvGrpSpPr>
        <p:grpSpPr>
          <a:xfrm>
            <a:off x="6618575" y="-2392912"/>
            <a:ext cx="2807208" cy="338554"/>
            <a:chOff x="6618575" y="-2392912"/>
            <a:chExt cx="2807208" cy="3385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668459D-378C-4FD7-85DB-045F68AEC214}"/>
                </a:ext>
              </a:extLst>
            </p:cNvPr>
            <p:cNvSpPr txBox="1"/>
            <p:nvPr/>
          </p:nvSpPr>
          <p:spPr>
            <a:xfrm>
              <a:off x="6618575" y="-2392912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2F6F518-974F-460E-8E84-4807ED81ACA7}"/>
                </a:ext>
              </a:extLst>
            </p:cNvPr>
            <p:cNvSpPr txBox="1"/>
            <p:nvPr/>
          </p:nvSpPr>
          <p:spPr>
            <a:xfrm>
              <a:off x="6865463" y="-2360254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B2A26"/>
                  </a:solidFill>
                  <a:latin typeface="Aptos"/>
                </a:rPr>
                <a:t>Advanced AI recommendations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ECFE16-D45A-4572-A902-F6ABB16DAD3B}"/>
              </a:ext>
            </a:extLst>
          </p:cNvPr>
          <p:cNvGrpSpPr/>
          <p:nvPr/>
        </p:nvGrpSpPr>
        <p:grpSpPr>
          <a:xfrm>
            <a:off x="6618575" y="-1963688"/>
            <a:ext cx="3310598" cy="338554"/>
            <a:chOff x="6618575" y="-1963688"/>
            <a:chExt cx="3310598" cy="33855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63884EE-C4AE-4FFB-B263-9A92FD2D1B17}"/>
                </a:ext>
              </a:extLst>
            </p:cNvPr>
            <p:cNvSpPr txBox="1"/>
            <p:nvPr/>
          </p:nvSpPr>
          <p:spPr>
            <a:xfrm>
              <a:off x="6618575" y="-1963688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7181576-1FA4-416B-BB1D-CD41C08D8590}"/>
                </a:ext>
              </a:extLst>
            </p:cNvPr>
            <p:cNvSpPr txBox="1"/>
            <p:nvPr/>
          </p:nvSpPr>
          <p:spPr>
            <a:xfrm>
              <a:off x="6865462" y="-1941916"/>
              <a:ext cx="3063711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Food recognition scan &amp; recipe image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658A24C-7623-4350-821F-442EC322341B}"/>
              </a:ext>
            </a:extLst>
          </p:cNvPr>
          <p:cNvGrpSpPr/>
          <p:nvPr/>
        </p:nvGrpSpPr>
        <p:grpSpPr>
          <a:xfrm>
            <a:off x="6618575" y="-1542628"/>
            <a:ext cx="2807208" cy="349440"/>
            <a:chOff x="6618575" y="-1542628"/>
            <a:chExt cx="2807208" cy="34944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E4D4381-F0BA-4D0A-9203-7CA9EA78B14D}"/>
                </a:ext>
              </a:extLst>
            </p:cNvPr>
            <p:cNvSpPr txBox="1"/>
            <p:nvPr/>
          </p:nvSpPr>
          <p:spPr>
            <a:xfrm>
              <a:off x="6618575" y="-1531742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BE8BBEF-6D7B-4D3E-BA53-DAF77D4957DB}"/>
                </a:ext>
              </a:extLst>
            </p:cNvPr>
            <p:cNvSpPr txBox="1"/>
            <p:nvPr/>
          </p:nvSpPr>
          <p:spPr>
            <a:xfrm>
              <a:off x="6865463" y="-1542628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B2A26"/>
                  </a:solidFill>
                  <a:latin typeface="Aptos"/>
                </a:rPr>
                <a:t>Personalized meal planning</a:t>
              </a: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EF2B3B1-F89A-4BB7-B26A-816D4C38629F}"/>
              </a:ext>
            </a:extLst>
          </p:cNvPr>
          <p:cNvCxnSpPr>
            <a:cxnSpLocks/>
          </p:cNvCxnSpPr>
          <p:nvPr/>
        </p:nvCxnSpPr>
        <p:spPr>
          <a:xfrm>
            <a:off x="5786015" y="-4811431"/>
            <a:ext cx="47762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9CF23801-4696-4C63-B8DF-0980DD89032C}"/>
              </a:ext>
            </a:extLst>
          </p:cNvPr>
          <p:cNvSpPr txBox="1"/>
          <p:nvPr/>
        </p:nvSpPr>
        <p:spPr>
          <a:xfrm>
            <a:off x="2514143" y="-1136115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28B1E1F-6C75-447D-B6E5-32921A8FAB15}"/>
              </a:ext>
            </a:extLst>
          </p:cNvPr>
          <p:cNvSpPr txBox="1"/>
          <p:nvPr/>
        </p:nvSpPr>
        <p:spPr>
          <a:xfrm>
            <a:off x="2761031" y="-1136115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2B2A26"/>
                </a:solidFill>
                <a:latin typeface="Aptos"/>
              </a:rPr>
              <a:t>Share/Import/Export inventory</a:t>
            </a:r>
            <a:endParaRPr sz="1200" b="0" dirty="0">
              <a:solidFill>
                <a:srgbClr val="2B2A2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3F39C9EE-8421-4192-B4C7-1788382AC736}"/>
              </a:ext>
            </a:extLst>
          </p:cNvPr>
          <p:cNvSpPr txBox="1"/>
          <p:nvPr/>
        </p:nvSpPr>
        <p:spPr>
          <a:xfrm>
            <a:off x="594360" y="669884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Feasibility and Sustainability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274647-A41E-4A61-B947-3D860DC2B64B}"/>
              </a:ext>
            </a:extLst>
          </p:cNvPr>
          <p:cNvSpPr txBox="1"/>
          <p:nvPr/>
        </p:nvSpPr>
        <p:spPr>
          <a:xfrm>
            <a:off x="980859" y="1216570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Feasibility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D0D79D-22EE-4A65-8E0B-70D3AEC84CF2}"/>
              </a:ext>
            </a:extLst>
          </p:cNvPr>
          <p:cNvSpPr txBox="1"/>
          <p:nvPr/>
        </p:nvSpPr>
        <p:spPr>
          <a:xfrm>
            <a:off x="6559548" y="1220986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Sustainability</a:t>
            </a:r>
          </a:p>
        </p:txBody>
      </p: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D2BBD53A-B539-4951-A558-9B39A407B578}"/>
              </a:ext>
            </a:extLst>
          </p:cNvPr>
          <p:cNvSpPr/>
          <p:nvPr/>
        </p:nvSpPr>
        <p:spPr>
          <a:xfrm>
            <a:off x="594360" y="17911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15357D-45CE-4C8D-85CB-2C98C7FF2A41}"/>
              </a:ext>
            </a:extLst>
          </p:cNvPr>
          <p:cNvSpPr txBox="1"/>
          <p:nvPr/>
        </p:nvSpPr>
        <p:spPr>
          <a:xfrm>
            <a:off x="1325880" y="194514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Freemium Model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4FE940-A650-4EB4-8B31-08C197754905}"/>
              </a:ext>
            </a:extLst>
          </p:cNvPr>
          <p:cNvSpPr txBox="1"/>
          <p:nvPr/>
        </p:nvSpPr>
        <p:spPr>
          <a:xfrm>
            <a:off x="1325880" y="226659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Launch with a freemium structure to attract users while offering premium features.</a:t>
            </a: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D926B9AB-2790-4420-B688-28477E540878}"/>
              </a:ext>
            </a:extLst>
          </p:cNvPr>
          <p:cNvSpPr/>
          <p:nvPr/>
        </p:nvSpPr>
        <p:spPr>
          <a:xfrm>
            <a:off x="594360" y="31216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79D9CA-BDD0-49C9-B40A-0A7C1A4B5165}"/>
              </a:ext>
            </a:extLst>
          </p:cNvPr>
          <p:cNvSpPr txBox="1"/>
          <p:nvPr/>
        </p:nvSpPr>
        <p:spPr>
          <a:xfrm>
            <a:off x="1325880" y="3313352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Digital Channels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F2527B-F921-4E74-B5E5-99E9F190AAF3}"/>
              </a:ext>
            </a:extLst>
          </p:cNvPr>
          <p:cNvSpPr txBox="1"/>
          <p:nvPr/>
        </p:nvSpPr>
        <p:spPr>
          <a:xfrm>
            <a:off x="1325880" y="3644233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Utilize social media and app stores to reach the target audience of housewives effectively.</a:t>
            </a:r>
          </a:p>
        </p:txBody>
      </p:sp>
      <p:sp>
        <p:nvSpPr>
          <p:cNvPr id="75" name="Rounded Rectangle 16">
            <a:extLst>
              <a:ext uri="{FF2B5EF4-FFF2-40B4-BE49-F238E27FC236}">
                <a16:creationId xmlns:a16="http://schemas.microsoft.com/office/drawing/2014/main" id="{E044C2B5-0A5A-41E0-85D3-25787F3DBCE7}"/>
              </a:ext>
            </a:extLst>
          </p:cNvPr>
          <p:cNvSpPr/>
          <p:nvPr/>
        </p:nvSpPr>
        <p:spPr>
          <a:xfrm>
            <a:off x="594360" y="4461537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9828F2A-CA8E-4AEE-B0C5-186649D1CC74}"/>
              </a:ext>
            </a:extLst>
          </p:cNvPr>
          <p:cNvSpPr txBox="1"/>
          <p:nvPr/>
        </p:nvSpPr>
        <p:spPr>
          <a:xfrm>
            <a:off x="1325880" y="465327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Lightweight Partnerships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612009-EE16-43F7-B184-F17B2DBA0823}"/>
              </a:ext>
            </a:extLst>
          </p:cNvPr>
          <p:cNvSpPr txBox="1"/>
          <p:nvPr/>
        </p:nvSpPr>
        <p:spPr>
          <a:xfrm>
            <a:off x="1325880" y="5003010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Collaborate with local grocery stores and food bloggers to expand without heavy costs.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62B71D4B-B369-40AC-AC31-3D552DEB5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740291"/>
            <a:ext cx="5074920" cy="1262600"/>
          </a:xfrm>
          <a:prstGeom prst="rect">
            <a:avLst/>
          </a:prstGeom>
        </p:spPr>
      </p:pic>
      <p:sp>
        <p:nvSpPr>
          <p:cNvPr id="79" name="Rounded Rectangle 22">
            <a:extLst>
              <a:ext uri="{FF2B5EF4-FFF2-40B4-BE49-F238E27FC236}">
                <a16:creationId xmlns:a16="http://schemas.microsoft.com/office/drawing/2014/main" id="{FE401AF3-69FC-47F4-913C-8907B205B109}"/>
              </a:ext>
            </a:extLst>
          </p:cNvPr>
          <p:cNvSpPr/>
          <p:nvPr/>
        </p:nvSpPr>
        <p:spPr>
          <a:xfrm>
            <a:off x="6144768" y="3375659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489A66-7737-4224-A76E-0CE396F91EAB}"/>
              </a:ext>
            </a:extLst>
          </p:cNvPr>
          <p:cNvSpPr txBox="1"/>
          <p:nvPr/>
        </p:nvSpPr>
        <p:spPr>
          <a:xfrm>
            <a:off x="6858000" y="3531108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Scalable Growth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ED614D-91E5-4CEC-A217-05916F7616F8}"/>
              </a:ext>
            </a:extLst>
          </p:cNvPr>
          <p:cNvSpPr txBox="1"/>
          <p:nvPr/>
        </p:nvSpPr>
        <p:spPr>
          <a:xfrm>
            <a:off x="6858000" y="3796284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Designed to scale seamlessly as the user base expands beyond the prototype stage.</a:t>
            </a:r>
          </a:p>
        </p:txBody>
      </p:sp>
      <p:sp>
        <p:nvSpPr>
          <p:cNvPr id="82" name="Rounded Rectangle 27">
            <a:extLst>
              <a:ext uri="{FF2B5EF4-FFF2-40B4-BE49-F238E27FC236}">
                <a16:creationId xmlns:a16="http://schemas.microsoft.com/office/drawing/2014/main" id="{662C55D1-EBC9-490F-93E3-FA5F59225D0E}"/>
              </a:ext>
            </a:extLst>
          </p:cNvPr>
          <p:cNvSpPr/>
          <p:nvPr/>
        </p:nvSpPr>
        <p:spPr>
          <a:xfrm>
            <a:off x="6144768" y="4491227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C281D2-0147-4208-BFE5-B42C32751C75}"/>
              </a:ext>
            </a:extLst>
          </p:cNvPr>
          <p:cNvSpPr txBox="1"/>
          <p:nvPr/>
        </p:nvSpPr>
        <p:spPr>
          <a:xfrm>
            <a:off x="6858000" y="4646676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Cost Management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981A42-7CC8-4068-A1C1-6F7B209B2762}"/>
              </a:ext>
            </a:extLst>
          </p:cNvPr>
          <p:cNvSpPr txBox="1"/>
          <p:nvPr/>
        </p:nvSpPr>
        <p:spPr>
          <a:xfrm>
            <a:off x="6858000" y="4911852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Keep operational costs manageable through efficient infrastructure and smart AI integration.</a:t>
            </a:r>
          </a:p>
        </p:txBody>
      </p:sp>
      <p:sp>
        <p:nvSpPr>
          <p:cNvPr id="85" name="Rounded Rectangle 32">
            <a:extLst>
              <a:ext uri="{FF2B5EF4-FFF2-40B4-BE49-F238E27FC236}">
                <a16:creationId xmlns:a16="http://schemas.microsoft.com/office/drawing/2014/main" id="{9CC4421E-2D03-4885-A37D-75707193D7C1}"/>
              </a:ext>
            </a:extLst>
          </p:cNvPr>
          <p:cNvSpPr/>
          <p:nvPr/>
        </p:nvSpPr>
        <p:spPr>
          <a:xfrm>
            <a:off x="6144768" y="5606795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6A55EE-96D8-459B-B3CB-51D7E7BAA969}"/>
              </a:ext>
            </a:extLst>
          </p:cNvPr>
          <p:cNvSpPr txBox="1"/>
          <p:nvPr/>
        </p:nvSpPr>
        <p:spPr>
          <a:xfrm>
            <a:off x="6858000" y="5762244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Future Impact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4AF886-3ECC-4A2F-B9ED-7FB12CBFF4E0}"/>
              </a:ext>
            </a:extLst>
          </p:cNvPr>
          <p:cNvSpPr txBox="1"/>
          <p:nvPr/>
        </p:nvSpPr>
        <p:spPr>
          <a:xfrm>
            <a:off x="6858000" y="6027420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Ensure long-term viability by continuously reducing food waste and promoting eco-friendly habits.</a:t>
            </a:r>
          </a:p>
        </p:txBody>
      </p:sp>
      <p:pic>
        <p:nvPicPr>
          <p:cNvPr id="88" name="Graphic 87" descr="Gears">
            <a:extLst>
              <a:ext uri="{FF2B5EF4-FFF2-40B4-BE49-F238E27FC236}">
                <a16:creationId xmlns:a16="http://schemas.microsoft.com/office/drawing/2014/main" id="{FBA2FE4D-3BA4-4756-9637-3F88CF050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297" y="1234185"/>
            <a:ext cx="390489" cy="390489"/>
          </a:xfrm>
          <a:prstGeom prst="rect">
            <a:avLst/>
          </a:prstGeom>
        </p:spPr>
      </p:pic>
      <p:pic>
        <p:nvPicPr>
          <p:cNvPr id="89" name="Graphic 88" descr="Plant">
            <a:extLst>
              <a:ext uri="{FF2B5EF4-FFF2-40B4-BE49-F238E27FC236}">
                <a16:creationId xmlns:a16="http://schemas.microsoft.com/office/drawing/2014/main" id="{55CFC054-3B58-4601-96E7-E07C1DACF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059" y="1240964"/>
            <a:ext cx="390489" cy="390489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00ACC4A2-E9D1-43BE-8734-4C37195C17BE}"/>
              </a:ext>
            </a:extLst>
          </p:cNvPr>
          <p:cNvSpPr/>
          <p:nvPr/>
        </p:nvSpPr>
        <p:spPr>
          <a:xfrm>
            <a:off x="6382512" y="3733662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5F23F8D-35BE-4AF0-A5D9-DDEF44AB1137}"/>
              </a:ext>
            </a:extLst>
          </p:cNvPr>
          <p:cNvSpPr/>
          <p:nvPr/>
        </p:nvSpPr>
        <p:spPr>
          <a:xfrm>
            <a:off x="6382512" y="4867287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99E4EC8-5AAE-4CD7-A1E7-458257145616}"/>
              </a:ext>
            </a:extLst>
          </p:cNvPr>
          <p:cNvSpPr/>
          <p:nvPr/>
        </p:nvSpPr>
        <p:spPr>
          <a:xfrm>
            <a:off x="6382512" y="5977455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3</a:t>
            </a:r>
          </a:p>
        </p:txBody>
      </p:sp>
      <p:pic>
        <p:nvPicPr>
          <p:cNvPr id="93" name="Graphic 92" descr="Money">
            <a:extLst>
              <a:ext uri="{FF2B5EF4-FFF2-40B4-BE49-F238E27FC236}">
                <a16:creationId xmlns:a16="http://schemas.microsoft.com/office/drawing/2014/main" id="{F1D7F2AB-17C7-4957-B61B-A7D7401831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1" y="2058559"/>
            <a:ext cx="337538" cy="337538"/>
          </a:xfrm>
          <a:prstGeom prst="rect">
            <a:avLst/>
          </a:prstGeom>
        </p:spPr>
      </p:pic>
      <p:pic>
        <p:nvPicPr>
          <p:cNvPr id="94" name="Graphic 93" descr="World">
            <a:extLst>
              <a:ext uri="{FF2B5EF4-FFF2-40B4-BE49-F238E27FC236}">
                <a16:creationId xmlns:a16="http://schemas.microsoft.com/office/drawing/2014/main" id="{7714A02B-9240-479A-AF0E-429F36E4B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3475464"/>
            <a:ext cx="337538" cy="337538"/>
          </a:xfrm>
          <a:prstGeom prst="rect">
            <a:avLst/>
          </a:prstGeom>
        </p:spPr>
      </p:pic>
      <p:pic>
        <p:nvPicPr>
          <p:cNvPr id="95" name="Graphic 94" descr="Users">
            <a:extLst>
              <a:ext uri="{FF2B5EF4-FFF2-40B4-BE49-F238E27FC236}">
                <a16:creationId xmlns:a16="http://schemas.microsoft.com/office/drawing/2014/main" id="{2162A7DC-3A69-420F-8BBA-C116BE2FE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789" y="4788079"/>
            <a:ext cx="337538" cy="337538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52C81436-6D3E-4469-B536-51EE42B0A703}"/>
              </a:ext>
            </a:extLst>
          </p:cNvPr>
          <p:cNvGrpSpPr/>
          <p:nvPr/>
        </p:nvGrpSpPr>
        <p:grpSpPr>
          <a:xfrm>
            <a:off x="-22862" y="-5140"/>
            <a:ext cx="12192000" cy="6858000"/>
            <a:chOff x="-22862" y="-5140"/>
            <a:chExt cx="12192000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6B9F4C-DA81-40CF-B1B1-B2A6CC0BC999}"/>
                </a:ext>
              </a:extLst>
            </p:cNvPr>
            <p:cNvSpPr/>
            <p:nvPr/>
          </p:nvSpPr>
          <p:spPr>
            <a:xfrm>
              <a:off x="-22862" y="-5140"/>
              <a:ext cx="12192000" cy="6858000"/>
            </a:xfrm>
            <a:prstGeom prst="rect">
              <a:avLst/>
            </a:prstGeom>
            <a:solidFill>
              <a:srgbClr val="EEE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45212FC-AF77-45A3-AC4C-81F8CA36DEBC}"/>
                </a:ext>
              </a:extLst>
            </p:cNvPr>
            <p:cNvSpPr/>
            <p:nvPr/>
          </p:nvSpPr>
          <p:spPr>
            <a:xfrm>
              <a:off x="1908716" y="3423860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265837" y="540843"/>
            <a:ext cx="5660325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487C57"/>
                </a:solidFill>
                <a:latin typeface="Aptos"/>
              </a:rPr>
              <a:t>Freemium Growth Model</a:t>
            </a:r>
            <a:endParaRPr sz="40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91752" y="1298639"/>
            <a:ext cx="620849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F6C63"/>
                </a:solidFill>
                <a:latin typeface="Aptos"/>
              </a:rPr>
              <a:t>BarKyanLal by Team Blind Mice: Transforming household routines with
sustainable, AI-driven food management.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4CC8757-FF90-449C-9100-47892A20D286}"/>
              </a:ext>
            </a:extLst>
          </p:cNvPr>
          <p:cNvGrpSpPr/>
          <p:nvPr/>
        </p:nvGrpSpPr>
        <p:grpSpPr>
          <a:xfrm>
            <a:off x="2258111" y="2268560"/>
            <a:ext cx="3429000" cy="3038721"/>
            <a:chOff x="2258111" y="2268560"/>
            <a:chExt cx="3429000" cy="3038721"/>
          </a:xfrm>
        </p:grpSpPr>
        <p:sp>
          <p:nvSpPr>
            <p:cNvPr id="4" name="Rounded Rectangle 3"/>
            <p:cNvSpPr/>
            <p:nvPr/>
          </p:nvSpPr>
          <p:spPr>
            <a:xfrm>
              <a:off x="2258111" y="2268560"/>
              <a:ext cx="3429000" cy="303872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6E6F5EC-CFDC-4885-9B93-CFDE283ED7BB}"/>
                </a:ext>
              </a:extLst>
            </p:cNvPr>
            <p:cNvCxnSpPr>
              <a:cxnSpLocks/>
            </p:cNvCxnSpPr>
            <p:nvPr/>
          </p:nvCxnSpPr>
          <p:spPr>
            <a:xfrm>
              <a:off x="2447590" y="3035432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55291" y="2507308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Free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143" y="3222158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031" y="3222158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Expiry alerts for food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143" y="3697646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031" y="3697646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Basic storage tracking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143" y="4173134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031" y="4173134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Simple AI recipe suggestions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B2915A0-478D-47F1-A997-CEDE0E971B4A}"/>
              </a:ext>
            </a:extLst>
          </p:cNvPr>
          <p:cNvGrpSpPr/>
          <p:nvPr/>
        </p:nvGrpSpPr>
        <p:grpSpPr>
          <a:xfrm>
            <a:off x="6362543" y="2268560"/>
            <a:ext cx="3429000" cy="3038721"/>
            <a:chOff x="6362543" y="2268560"/>
            <a:chExt cx="3429000" cy="3038721"/>
          </a:xfrm>
        </p:grpSpPr>
        <p:sp>
          <p:nvSpPr>
            <p:cNvPr id="12" name="Rounded Rectangle 11"/>
            <p:cNvSpPr/>
            <p:nvPr/>
          </p:nvSpPr>
          <p:spPr>
            <a:xfrm>
              <a:off x="6362543" y="2268560"/>
              <a:ext cx="3429000" cy="3038721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A5E035-4729-4195-B938-7A46B8B3C1DB}"/>
                </a:ext>
              </a:extLst>
            </p:cNvPr>
            <p:cNvCxnSpPr>
              <a:cxnSpLocks/>
            </p:cNvCxnSpPr>
            <p:nvPr/>
          </p:nvCxnSpPr>
          <p:spPr>
            <a:xfrm>
              <a:off x="6545187" y="3035432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6659723" y="2507308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Premium Tier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5D7982-035B-4E0A-934C-0B4D18FC9AEE}"/>
              </a:ext>
            </a:extLst>
          </p:cNvPr>
          <p:cNvGrpSpPr/>
          <p:nvPr/>
        </p:nvGrpSpPr>
        <p:grpSpPr>
          <a:xfrm>
            <a:off x="6618575" y="3222158"/>
            <a:ext cx="2807208" cy="338554"/>
            <a:chOff x="6618575" y="3222158"/>
            <a:chExt cx="2807208" cy="338554"/>
          </a:xfrm>
        </p:grpSpPr>
        <p:sp>
          <p:nvSpPr>
            <p:cNvPr id="14" name="TextBox 13"/>
            <p:cNvSpPr txBox="1"/>
            <p:nvPr/>
          </p:nvSpPr>
          <p:spPr>
            <a:xfrm>
              <a:off x="6618575" y="3222158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65463" y="3222158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Shopping list recommendations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F74A2A-B389-4177-A0E0-C9FE0AE59C0A}"/>
              </a:ext>
            </a:extLst>
          </p:cNvPr>
          <p:cNvGrpSpPr/>
          <p:nvPr/>
        </p:nvGrpSpPr>
        <p:grpSpPr>
          <a:xfrm>
            <a:off x="6618575" y="3697646"/>
            <a:ext cx="2807208" cy="338554"/>
            <a:chOff x="6618575" y="3697646"/>
            <a:chExt cx="2807208" cy="338554"/>
          </a:xfrm>
        </p:grpSpPr>
        <p:sp>
          <p:nvSpPr>
            <p:cNvPr id="16" name="TextBox 15"/>
            <p:cNvSpPr txBox="1"/>
            <p:nvPr/>
          </p:nvSpPr>
          <p:spPr>
            <a:xfrm>
              <a:off x="6618575" y="3697646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65463" y="3697646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B2A26"/>
                  </a:solidFill>
                  <a:latin typeface="Aptos"/>
                </a:rPr>
                <a:t>Advanced AI recommendations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A0F882-690C-48A0-A42C-27DC3CF10AF6}"/>
              </a:ext>
            </a:extLst>
          </p:cNvPr>
          <p:cNvGrpSpPr/>
          <p:nvPr/>
        </p:nvGrpSpPr>
        <p:grpSpPr>
          <a:xfrm>
            <a:off x="6618575" y="4173134"/>
            <a:ext cx="3247800" cy="338554"/>
            <a:chOff x="6618575" y="4173134"/>
            <a:chExt cx="3247800" cy="338554"/>
          </a:xfrm>
        </p:grpSpPr>
        <p:sp>
          <p:nvSpPr>
            <p:cNvPr id="18" name="TextBox 17"/>
            <p:cNvSpPr txBox="1"/>
            <p:nvPr/>
          </p:nvSpPr>
          <p:spPr>
            <a:xfrm>
              <a:off x="6618575" y="4173134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65462" y="4173135"/>
              <a:ext cx="3000913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0" dirty="0">
                  <a:solidFill>
                    <a:srgbClr val="2B2A26"/>
                  </a:solidFill>
                  <a:latin typeface="Aptos"/>
                </a:rPr>
                <a:t>Food recognition scan &amp; recipe image</a:t>
              </a:r>
              <a:endParaRPr sz="1200" b="0" dirty="0">
                <a:solidFill>
                  <a:srgbClr val="2B2A26"/>
                </a:solidFill>
                <a:latin typeface="Apto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FA71866-6D94-4913-AC26-F8B76F63BAD0}"/>
              </a:ext>
            </a:extLst>
          </p:cNvPr>
          <p:cNvGrpSpPr/>
          <p:nvPr/>
        </p:nvGrpSpPr>
        <p:grpSpPr>
          <a:xfrm>
            <a:off x="6618575" y="4648622"/>
            <a:ext cx="2807208" cy="338554"/>
            <a:chOff x="6618575" y="4648622"/>
            <a:chExt cx="2807208" cy="338554"/>
          </a:xfrm>
        </p:grpSpPr>
        <p:sp>
          <p:nvSpPr>
            <p:cNvPr id="20" name="TextBox 19"/>
            <p:cNvSpPr txBox="1"/>
            <p:nvPr/>
          </p:nvSpPr>
          <p:spPr>
            <a:xfrm>
              <a:off x="6618575" y="4648622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65463" y="4648622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B2A26"/>
                  </a:solidFill>
                  <a:latin typeface="Aptos"/>
                </a:rPr>
                <a:t>Personalized meal planning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6B96F91-7CA2-44D5-8177-054FB6D1573E}"/>
              </a:ext>
            </a:extLst>
          </p:cNvPr>
          <p:cNvCxnSpPr>
            <a:cxnSpLocks/>
          </p:cNvCxnSpPr>
          <p:nvPr/>
        </p:nvCxnSpPr>
        <p:spPr>
          <a:xfrm>
            <a:off x="5786015" y="1246469"/>
            <a:ext cx="47762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1B4CFBA-FC9D-483C-88E8-1816959A4D34}"/>
              </a:ext>
            </a:extLst>
          </p:cNvPr>
          <p:cNvSpPr txBox="1"/>
          <p:nvPr/>
        </p:nvSpPr>
        <p:spPr>
          <a:xfrm>
            <a:off x="4450317" y="8199528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4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9D5492-175B-4909-9784-501884201C28}"/>
              </a:ext>
            </a:extLst>
          </p:cNvPr>
          <p:cNvSpPr txBox="1"/>
          <p:nvPr/>
        </p:nvSpPr>
        <p:spPr>
          <a:xfrm>
            <a:off x="5501642" y="9215807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5C2975-AB2A-4065-ACE9-083375FF75BF}"/>
              </a:ext>
            </a:extLst>
          </p:cNvPr>
          <p:cNvSpPr txBox="1"/>
          <p:nvPr/>
        </p:nvSpPr>
        <p:spPr>
          <a:xfrm>
            <a:off x="5488169" y="960290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4.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B30556-1E7C-4AC1-8BD4-D6B8095AA8D2}"/>
              </a:ext>
            </a:extLst>
          </p:cNvPr>
          <p:cNvSpPr txBox="1"/>
          <p:nvPr/>
        </p:nvSpPr>
        <p:spPr>
          <a:xfrm>
            <a:off x="3869178" y="10649671"/>
            <a:ext cx="44993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600" b="1" dirty="0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9AB03C1-4DAD-4135-B872-F5292E660C43}"/>
              </a:ext>
            </a:extLst>
          </p:cNvPr>
          <p:cNvCxnSpPr/>
          <p:nvPr/>
        </p:nvCxnSpPr>
        <p:spPr>
          <a:xfrm>
            <a:off x="6414235" y="9346612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EA37490-44C9-47D0-A9F3-A59B0290541E}"/>
              </a:ext>
            </a:extLst>
          </p:cNvPr>
          <p:cNvCxnSpPr/>
          <p:nvPr/>
        </p:nvCxnSpPr>
        <p:spPr>
          <a:xfrm>
            <a:off x="5407138" y="9346612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aphic 58" descr="Bar graph with upward trend">
            <a:extLst>
              <a:ext uri="{FF2B5EF4-FFF2-40B4-BE49-F238E27FC236}">
                <a16:creationId xmlns:a16="http://schemas.microsoft.com/office/drawing/2014/main" id="{47EA7721-E3AF-41AD-90C9-5F74DF4A3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3002" y="11734437"/>
            <a:ext cx="471717" cy="471717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AE71377D-FFCA-4B91-A55F-FD5316540537}"/>
              </a:ext>
            </a:extLst>
          </p:cNvPr>
          <p:cNvGrpSpPr/>
          <p:nvPr/>
        </p:nvGrpSpPr>
        <p:grpSpPr>
          <a:xfrm>
            <a:off x="4193503" y="6534961"/>
            <a:ext cx="3804994" cy="185124"/>
            <a:chOff x="4193503" y="6954061"/>
            <a:chExt cx="3804994" cy="185124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5366431-626C-4336-A6B1-185BD0FBC9B9}"/>
                </a:ext>
              </a:extLst>
            </p:cNvPr>
            <p:cNvSpPr/>
            <p:nvPr/>
          </p:nvSpPr>
          <p:spPr>
            <a:xfrm>
              <a:off x="4193503" y="6993768"/>
              <a:ext cx="3804994" cy="14541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736B01D-B72B-4975-B380-C94AB90BB393}"/>
                </a:ext>
              </a:extLst>
            </p:cNvPr>
            <p:cNvSpPr/>
            <p:nvPr/>
          </p:nvSpPr>
          <p:spPr>
            <a:xfrm>
              <a:off x="6827286" y="6954061"/>
              <a:ext cx="280650" cy="185124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F6D477D2-BDEF-4CB0-B868-D052766D3187}"/>
              </a:ext>
            </a:extLst>
          </p:cNvPr>
          <p:cNvSpPr txBox="1"/>
          <p:nvPr/>
        </p:nvSpPr>
        <p:spPr>
          <a:xfrm>
            <a:off x="2514143" y="4644196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3EA05B5-AB84-4A8A-91DF-19B7830E0772}"/>
              </a:ext>
            </a:extLst>
          </p:cNvPr>
          <p:cNvSpPr txBox="1"/>
          <p:nvPr/>
        </p:nvSpPr>
        <p:spPr>
          <a:xfrm>
            <a:off x="2761031" y="4644196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2B2A26"/>
                </a:solidFill>
                <a:latin typeface="Aptos"/>
              </a:rPr>
              <a:t>Share/Import/Export inventory</a:t>
            </a:r>
            <a:endParaRPr sz="1200" b="0" dirty="0">
              <a:solidFill>
                <a:srgbClr val="2B2A2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2D002FD1-D32D-4E1E-92B6-3CF3EFB70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69059" y="1296908"/>
            <a:ext cx="5050628" cy="1256586"/>
          </a:xfrm>
          <a:custGeom>
            <a:avLst/>
            <a:gdLst>
              <a:gd name="connsiteX0" fmla="*/ 0 w 5050628"/>
              <a:gd name="connsiteY0" fmla="*/ 0 h 1258780"/>
              <a:gd name="connsiteX1" fmla="*/ 5050628 w 5050628"/>
              <a:gd name="connsiteY1" fmla="*/ 0 h 1258780"/>
              <a:gd name="connsiteX2" fmla="*/ 5050628 w 5050628"/>
              <a:gd name="connsiteY2" fmla="*/ 1258780 h 1258780"/>
              <a:gd name="connsiteX3" fmla="*/ 0 w 5050628"/>
              <a:gd name="connsiteY3" fmla="*/ 1258780 h 1258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0628" h="1258780">
                <a:moveTo>
                  <a:pt x="0" y="0"/>
                </a:moveTo>
                <a:lnTo>
                  <a:pt x="5050628" y="0"/>
                </a:lnTo>
                <a:lnTo>
                  <a:pt x="5050628" y="1258780"/>
                </a:lnTo>
                <a:lnTo>
                  <a:pt x="0" y="125878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94360" y="174584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Feasibility and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0859" y="721270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9548" y="725686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Sustainability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958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144984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Freemium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7129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Launch with a freemium structure to attract users while offering premium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263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2818052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Digital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148933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Utilize social media and app stores to reach the target audience of housewives effectively.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66237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415797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Lightweight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507710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Collaborate with local grocery stores and food bloggers to expand without heavy costs.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880359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3035808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Scalable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300984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Designed to scale seamlessly as the user base expands beyond the prototype stage.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3995927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4151376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B2A26"/>
                </a:solidFill>
                <a:latin typeface="Aptos"/>
              </a:rPr>
              <a:t>Cost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16552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Keep operational costs manageable through efficient infrastructure and smart AI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5111495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5266944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Future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532120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Ensure long-term viability by continuously reducing food waste and promoting eco-friendly habits.</a:t>
            </a:r>
          </a:p>
        </p:txBody>
      </p:sp>
      <p:pic>
        <p:nvPicPr>
          <p:cNvPr id="39" name="Graphic 38" descr="Gears">
            <a:extLst>
              <a:ext uri="{FF2B5EF4-FFF2-40B4-BE49-F238E27FC236}">
                <a16:creationId xmlns:a16="http://schemas.microsoft.com/office/drawing/2014/main" id="{8B6B81B5-98B6-474F-A40B-77DFD9102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297" y="738885"/>
            <a:ext cx="390489" cy="390489"/>
          </a:xfrm>
          <a:prstGeom prst="rect">
            <a:avLst/>
          </a:prstGeom>
        </p:spPr>
      </p:pic>
      <p:pic>
        <p:nvPicPr>
          <p:cNvPr id="41" name="Graphic 40" descr="Plant">
            <a:extLst>
              <a:ext uri="{FF2B5EF4-FFF2-40B4-BE49-F238E27FC236}">
                <a16:creationId xmlns:a16="http://schemas.microsoft.com/office/drawing/2014/main" id="{9DAE643A-5F8F-4517-BC39-7A3F0295B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059" y="745664"/>
            <a:ext cx="390489" cy="39048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BC08312-3391-4D03-BF43-0845C6605981}"/>
              </a:ext>
            </a:extLst>
          </p:cNvPr>
          <p:cNvSpPr/>
          <p:nvPr/>
        </p:nvSpPr>
        <p:spPr>
          <a:xfrm>
            <a:off x="6382512" y="3238362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2F0305-B1C5-4816-8666-2A238C4B0C20}"/>
              </a:ext>
            </a:extLst>
          </p:cNvPr>
          <p:cNvSpPr/>
          <p:nvPr/>
        </p:nvSpPr>
        <p:spPr>
          <a:xfrm>
            <a:off x="6382512" y="4371987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566B52-86EF-4465-B22B-3F45A7F2C50B}"/>
              </a:ext>
            </a:extLst>
          </p:cNvPr>
          <p:cNvSpPr/>
          <p:nvPr/>
        </p:nvSpPr>
        <p:spPr>
          <a:xfrm>
            <a:off x="6382512" y="5482155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3</a:t>
            </a:r>
          </a:p>
        </p:txBody>
      </p:sp>
      <p:pic>
        <p:nvPicPr>
          <p:cNvPr id="46" name="Graphic 45" descr="Money">
            <a:extLst>
              <a:ext uri="{FF2B5EF4-FFF2-40B4-BE49-F238E27FC236}">
                <a16:creationId xmlns:a16="http://schemas.microsoft.com/office/drawing/2014/main" id="{A7B22762-A152-459E-8634-C5B3C33B6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1" y="1563259"/>
            <a:ext cx="337538" cy="337538"/>
          </a:xfrm>
          <a:prstGeom prst="rect">
            <a:avLst/>
          </a:prstGeom>
        </p:spPr>
      </p:pic>
      <p:pic>
        <p:nvPicPr>
          <p:cNvPr id="48" name="Graphic 47" descr="World">
            <a:extLst>
              <a:ext uri="{FF2B5EF4-FFF2-40B4-BE49-F238E27FC236}">
                <a16:creationId xmlns:a16="http://schemas.microsoft.com/office/drawing/2014/main" id="{CD2AC227-9EFB-4D6D-A25F-52CCCF99C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2980164"/>
            <a:ext cx="337538" cy="337538"/>
          </a:xfrm>
          <a:prstGeom prst="rect">
            <a:avLst/>
          </a:prstGeom>
        </p:spPr>
      </p:pic>
      <p:pic>
        <p:nvPicPr>
          <p:cNvPr id="50" name="Graphic 49" descr="Users">
            <a:extLst>
              <a:ext uri="{FF2B5EF4-FFF2-40B4-BE49-F238E27FC236}">
                <a16:creationId xmlns:a16="http://schemas.microsoft.com/office/drawing/2014/main" id="{9DD9E7EF-17FC-4A25-8620-C9EEC62F2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789" y="4292779"/>
            <a:ext cx="337538" cy="337538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2297A89-C30A-4D6D-BFBF-A17BAF54E255}"/>
              </a:ext>
            </a:extLst>
          </p:cNvPr>
          <p:cNvGrpSpPr/>
          <p:nvPr/>
        </p:nvGrpSpPr>
        <p:grpSpPr>
          <a:xfrm>
            <a:off x="0" y="-6881379"/>
            <a:ext cx="12192000" cy="6858000"/>
            <a:chOff x="-22862" y="-5140"/>
            <a:chExt cx="12192000" cy="685800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BC1FFE0-79F6-48CD-A86D-452409FDFE04}"/>
                </a:ext>
              </a:extLst>
            </p:cNvPr>
            <p:cNvSpPr/>
            <p:nvPr/>
          </p:nvSpPr>
          <p:spPr>
            <a:xfrm>
              <a:off x="-22862" y="-5140"/>
              <a:ext cx="12192000" cy="6858000"/>
            </a:xfrm>
            <a:prstGeom prst="rect">
              <a:avLst/>
            </a:prstGeom>
            <a:solidFill>
              <a:srgbClr val="EEE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2B77CC9-7A8F-4975-923A-B7803435CC66}"/>
                </a:ext>
              </a:extLst>
            </p:cNvPr>
            <p:cNvSpPr/>
            <p:nvPr/>
          </p:nvSpPr>
          <p:spPr>
            <a:xfrm>
              <a:off x="1908716" y="3423860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4273D69-3882-4F95-A057-F5D29FAFE711}"/>
              </a:ext>
            </a:extLst>
          </p:cNvPr>
          <p:cNvGrpSpPr/>
          <p:nvPr/>
        </p:nvGrpSpPr>
        <p:grpSpPr>
          <a:xfrm>
            <a:off x="3220734" y="-452590"/>
            <a:ext cx="5740386" cy="239703"/>
            <a:chOff x="4193503" y="6954061"/>
            <a:chExt cx="3804994" cy="185124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E862D5EA-169B-4507-A816-570F4583DEF8}"/>
                </a:ext>
              </a:extLst>
            </p:cNvPr>
            <p:cNvSpPr/>
            <p:nvPr/>
          </p:nvSpPr>
          <p:spPr>
            <a:xfrm>
              <a:off x="4193503" y="6993768"/>
              <a:ext cx="3804994" cy="145417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5217C7E-9DD6-4573-925A-4A62AF0F1613}"/>
                </a:ext>
              </a:extLst>
            </p:cNvPr>
            <p:cNvSpPr/>
            <p:nvPr/>
          </p:nvSpPr>
          <p:spPr>
            <a:xfrm>
              <a:off x="6827286" y="6954061"/>
              <a:ext cx="280650" cy="185124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2F9805B-AE93-4A41-A005-71B420FFF335}"/>
              </a:ext>
            </a:extLst>
          </p:cNvPr>
          <p:cNvSpPr txBox="1"/>
          <p:nvPr/>
        </p:nvSpPr>
        <p:spPr>
          <a:xfrm>
            <a:off x="3265837" y="-6488607"/>
            <a:ext cx="5660325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487C57"/>
                </a:solidFill>
                <a:latin typeface="Aptos"/>
              </a:rPr>
              <a:t>Freemium Growth Model</a:t>
            </a:r>
            <a:endParaRPr sz="40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C7280A-AB8F-41D1-9483-EE0FAB088489}"/>
              </a:ext>
            </a:extLst>
          </p:cNvPr>
          <p:cNvSpPr txBox="1"/>
          <p:nvPr/>
        </p:nvSpPr>
        <p:spPr>
          <a:xfrm>
            <a:off x="2991752" y="-5559361"/>
            <a:ext cx="620849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F6C63"/>
                </a:solidFill>
                <a:latin typeface="Aptos"/>
              </a:rPr>
              <a:t>BarKyanLal by Team Blind Mice: Transforming household routines with
sustainable, AI-driven food management.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E01EDEA-46D1-43BB-BEB7-600621B6BA47}"/>
              </a:ext>
            </a:extLst>
          </p:cNvPr>
          <p:cNvGrpSpPr/>
          <p:nvPr/>
        </p:nvGrpSpPr>
        <p:grpSpPr>
          <a:xfrm>
            <a:off x="2258111" y="-4113190"/>
            <a:ext cx="3429000" cy="3038721"/>
            <a:chOff x="2258111" y="-4113190"/>
            <a:chExt cx="3429000" cy="3038721"/>
          </a:xfrm>
        </p:grpSpPr>
        <p:sp>
          <p:nvSpPr>
            <p:cNvPr id="53" name="Rounded Rectangle 3">
              <a:extLst>
                <a:ext uri="{FF2B5EF4-FFF2-40B4-BE49-F238E27FC236}">
                  <a16:creationId xmlns:a16="http://schemas.microsoft.com/office/drawing/2014/main" id="{339BEC38-DCEB-4E4B-9443-F773E8364CF6}"/>
                </a:ext>
              </a:extLst>
            </p:cNvPr>
            <p:cNvSpPr/>
            <p:nvPr/>
          </p:nvSpPr>
          <p:spPr>
            <a:xfrm>
              <a:off x="2258111" y="-4113190"/>
              <a:ext cx="3429000" cy="303872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E285808-FD8A-4FDF-9E92-CA53C90E2EA7}"/>
                </a:ext>
              </a:extLst>
            </p:cNvPr>
            <p:cNvCxnSpPr>
              <a:cxnSpLocks/>
            </p:cNvCxnSpPr>
            <p:nvPr/>
          </p:nvCxnSpPr>
          <p:spPr>
            <a:xfrm>
              <a:off x="2447590" y="-3346318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09BE7E5E-95C0-43C9-9EDF-742B29B44104}"/>
              </a:ext>
            </a:extLst>
          </p:cNvPr>
          <p:cNvSpPr txBox="1"/>
          <p:nvPr/>
        </p:nvSpPr>
        <p:spPr>
          <a:xfrm>
            <a:off x="2555291" y="-387444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Free Core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456C38-3172-434A-8DBB-EFAB4452AA46}"/>
              </a:ext>
            </a:extLst>
          </p:cNvPr>
          <p:cNvSpPr txBox="1"/>
          <p:nvPr/>
        </p:nvSpPr>
        <p:spPr>
          <a:xfrm>
            <a:off x="2514143" y="-3235792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A5AB64-1ECD-4555-9A47-6717739E2EB9}"/>
              </a:ext>
            </a:extLst>
          </p:cNvPr>
          <p:cNvSpPr txBox="1"/>
          <p:nvPr/>
        </p:nvSpPr>
        <p:spPr>
          <a:xfrm>
            <a:off x="2761031" y="-3235792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B2A26"/>
                </a:solidFill>
                <a:latin typeface="Aptos"/>
              </a:rPr>
              <a:t>Expiry alerts for food items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57DF49-9A40-4C68-B496-7FBD868D1823}"/>
              </a:ext>
            </a:extLst>
          </p:cNvPr>
          <p:cNvSpPr txBox="1"/>
          <p:nvPr/>
        </p:nvSpPr>
        <p:spPr>
          <a:xfrm>
            <a:off x="2514143" y="-2836504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1F3894-4228-4653-8FEF-FA3BCDC9374D}"/>
              </a:ext>
            </a:extLst>
          </p:cNvPr>
          <p:cNvSpPr txBox="1"/>
          <p:nvPr/>
        </p:nvSpPr>
        <p:spPr>
          <a:xfrm>
            <a:off x="2761031" y="-2836504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Basic storage tracking system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DEF1CF-2647-4F95-8E69-3873727BE3D3}"/>
              </a:ext>
            </a:extLst>
          </p:cNvPr>
          <p:cNvSpPr txBox="1"/>
          <p:nvPr/>
        </p:nvSpPr>
        <p:spPr>
          <a:xfrm>
            <a:off x="2514143" y="-2437216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0DB8FF-86BF-4E41-AF4B-AAA0746E2A01}"/>
              </a:ext>
            </a:extLst>
          </p:cNvPr>
          <p:cNvSpPr txBox="1"/>
          <p:nvPr/>
        </p:nvSpPr>
        <p:spPr>
          <a:xfrm>
            <a:off x="2761031" y="-2437216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Simple AI recipe suggestions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6DC9CD1-FD7F-4558-8C48-62B25D985E58}"/>
              </a:ext>
            </a:extLst>
          </p:cNvPr>
          <p:cNvGrpSpPr/>
          <p:nvPr/>
        </p:nvGrpSpPr>
        <p:grpSpPr>
          <a:xfrm>
            <a:off x="6362543" y="-4513240"/>
            <a:ext cx="3429000" cy="3038721"/>
            <a:chOff x="6362543" y="-4513240"/>
            <a:chExt cx="3429000" cy="3038721"/>
          </a:xfrm>
        </p:grpSpPr>
        <p:sp>
          <p:nvSpPr>
            <p:cNvPr id="61" name="Rounded Rectangle 11">
              <a:extLst>
                <a:ext uri="{FF2B5EF4-FFF2-40B4-BE49-F238E27FC236}">
                  <a16:creationId xmlns:a16="http://schemas.microsoft.com/office/drawing/2014/main" id="{AA4A978D-9D05-4441-9EF2-0BDAC33A1207}"/>
                </a:ext>
              </a:extLst>
            </p:cNvPr>
            <p:cNvSpPr/>
            <p:nvPr/>
          </p:nvSpPr>
          <p:spPr>
            <a:xfrm>
              <a:off x="6362543" y="-4513240"/>
              <a:ext cx="3429000" cy="3038721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4A259D9-00F0-4A8F-812F-6E35A1611411}"/>
                </a:ext>
              </a:extLst>
            </p:cNvPr>
            <p:cNvCxnSpPr>
              <a:cxnSpLocks/>
            </p:cNvCxnSpPr>
            <p:nvPr/>
          </p:nvCxnSpPr>
          <p:spPr>
            <a:xfrm>
              <a:off x="6545187" y="-3732570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DF349163-6E22-4216-990C-6310F453EB68}"/>
              </a:ext>
            </a:extLst>
          </p:cNvPr>
          <p:cNvSpPr txBox="1"/>
          <p:nvPr/>
        </p:nvSpPr>
        <p:spPr>
          <a:xfrm>
            <a:off x="6659723" y="-427449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Premium Tier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86757B-DF43-4F0B-9A45-C80C78F056B3}"/>
              </a:ext>
            </a:extLst>
          </p:cNvPr>
          <p:cNvGrpSpPr/>
          <p:nvPr/>
        </p:nvGrpSpPr>
        <p:grpSpPr>
          <a:xfrm>
            <a:off x="6618575" y="-3635842"/>
            <a:ext cx="2807208" cy="338554"/>
            <a:chOff x="6618575" y="-3635842"/>
            <a:chExt cx="2807208" cy="338554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AC128F-58E1-4B41-BF62-A97658E733B7}"/>
                </a:ext>
              </a:extLst>
            </p:cNvPr>
            <p:cNvSpPr txBox="1"/>
            <p:nvPr/>
          </p:nvSpPr>
          <p:spPr>
            <a:xfrm>
              <a:off x="6618575" y="-3635842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7772D5B-60A4-4CE4-96EE-3D3A508F053E}"/>
                </a:ext>
              </a:extLst>
            </p:cNvPr>
            <p:cNvSpPr txBox="1"/>
            <p:nvPr/>
          </p:nvSpPr>
          <p:spPr>
            <a:xfrm>
              <a:off x="6865463" y="-3635842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Shopping list recommendations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CE50943-819D-4E7A-A16A-25FA697801AB}"/>
              </a:ext>
            </a:extLst>
          </p:cNvPr>
          <p:cNvGrpSpPr/>
          <p:nvPr/>
        </p:nvGrpSpPr>
        <p:grpSpPr>
          <a:xfrm>
            <a:off x="6618575" y="-3236554"/>
            <a:ext cx="2807208" cy="338554"/>
            <a:chOff x="6618575" y="-3236554"/>
            <a:chExt cx="2807208" cy="33855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D18D645-9157-4051-A727-E5FD67DD1B7F}"/>
                </a:ext>
              </a:extLst>
            </p:cNvPr>
            <p:cNvSpPr txBox="1"/>
            <p:nvPr/>
          </p:nvSpPr>
          <p:spPr>
            <a:xfrm>
              <a:off x="6618575" y="-3236554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9D5786-4C07-4D14-A981-D66BA28DB231}"/>
                </a:ext>
              </a:extLst>
            </p:cNvPr>
            <p:cNvSpPr txBox="1"/>
            <p:nvPr/>
          </p:nvSpPr>
          <p:spPr>
            <a:xfrm>
              <a:off x="6865463" y="-3236554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B2A26"/>
                  </a:solidFill>
                  <a:latin typeface="Aptos"/>
                </a:rPr>
                <a:t>Advanced AI recommendations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8096F3F-6D3E-4947-9525-9843332A609E}"/>
              </a:ext>
            </a:extLst>
          </p:cNvPr>
          <p:cNvGrpSpPr/>
          <p:nvPr/>
        </p:nvGrpSpPr>
        <p:grpSpPr>
          <a:xfrm>
            <a:off x="6618575" y="-2818216"/>
            <a:ext cx="3310598" cy="338554"/>
            <a:chOff x="6618575" y="-2818216"/>
            <a:chExt cx="3310598" cy="33855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607F2CC-654F-4C03-9269-5104A3089470}"/>
                </a:ext>
              </a:extLst>
            </p:cNvPr>
            <p:cNvSpPr txBox="1"/>
            <p:nvPr/>
          </p:nvSpPr>
          <p:spPr>
            <a:xfrm>
              <a:off x="6618575" y="-2818216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3359C58-D7D2-4BC9-BAA4-3AF7354896DF}"/>
                </a:ext>
              </a:extLst>
            </p:cNvPr>
            <p:cNvSpPr txBox="1"/>
            <p:nvPr/>
          </p:nvSpPr>
          <p:spPr>
            <a:xfrm>
              <a:off x="6865462" y="-2818215"/>
              <a:ext cx="3063711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Food recognition scan &amp; recipe image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78817AA-D274-4167-9689-7838CEA9C58C}"/>
              </a:ext>
            </a:extLst>
          </p:cNvPr>
          <p:cNvGrpSpPr/>
          <p:nvPr/>
        </p:nvGrpSpPr>
        <p:grpSpPr>
          <a:xfrm>
            <a:off x="6618575" y="-2418928"/>
            <a:ext cx="2807208" cy="338554"/>
            <a:chOff x="6618575" y="-2418928"/>
            <a:chExt cx="2807208" cy="33855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A617DE8-30C7-4838-8995-AFE28EBE9B97}"/>
                </a:ext>
              </a:extLst>
            </p:cNvPr>
            <p:cNvSpPr txBox="1"/>
            <p:nvPr/>
          </p:nvSpPr>
          <p:spPr>
            <a:xfrm>
              <a:off x="6618575" y="-2418928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139B15C-68A0-4397-ADDD-9588C32D1002}"/>
                </a:ext>
              </a:extLst>
            </p:cNvPr>
            <p:cNvSpPr txBox="1"/>
            <p:nvPr/>
          </p:nvSpPr>
          <p:spPr>
            <a:xfrm>
              <a:off x="6865463" y="-2418928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B2A26"/>
                  </a:solidFill>
                  <a:latin typeface="Aptos"/>
                </a:rPr>
                <a:t>Personalized meal planning</a:t>
              </a:r>
            </a:p>
          </p:txBody>
        </p: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489F7FE-F064-4A96-B32B-D55913B8F412}"/>
              </a:ext>
            </a:extLst>
          </p:cNvPr>
          <p:cNvCxnSpPr>
            <a:cxnSpLocks/>
          </p:cNvCxnSpPr>
          <p:nvPr/>
        </p:nvCxnSpPr>
        <p:spPr>
          <a:xfrm>
            <a:off x="5786015" y="-5687731"/>
            <a:ext cx="47762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7BF7269-D8E6-42E1-8EDC-0BDBCC78D4C3}"/>
              </a:ext>
            </a:extLst>
          </p:cNvPr>
          <p:cNvSpPr txBox="1"/>
          <p:nvPr/>
        </p:nvSpPr>
        <p:spPr>
          <a:xfrm>
            <a:off x="2514143" y="-2061400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51F73DA-3745-4C8D-B000-25FD15E1B00C}"/>
              </a:ext>
            </a:extLst>
          </p:cNvPr>
          <p:cNvSpPr txBox="1"/>
          <p:nvPr/>
        </p:nvSpPr>
        <p:spPr>
          <a:xfrm>
            <a:off x="2761031" y="-2061400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2B2A26"/>
                </a:solidFill>
                <a:latin typeface="Aptos"/>
              </a:rPr>
              <a:t>Share/Import/Export inventory</a:t>
            </a:r>
            <a:endParaRPr sz="1200" b="0" dirty="0">
              <a:solidFill>
                <a:srgbClr val="2B2A2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7216140" y="174584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Feasibility and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6829641" y="721270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60548" y="725686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Sustainability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-7216140" y="12958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6484620" y="144984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Freemium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6484620" y="177129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Launch with a freemium structure to attract users while offering premium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-7216140" y="26263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-6484620" y="2818052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Digital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6484620" y="3148933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Utilize social media and app stores to reach the target audience of housewives effectively.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-7216140" y="3966237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-6484620" y="415797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Lightweight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6484620" y="4507710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Collaborate with local grocery stores and food bloggers to expand without heavy costs.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768" y="1244991"/>
            <a:ext cx="5074920" cy="12626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4145768" y="2880359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859000" y="3035808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Scalable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59000" y="3300984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Designed to scale seamlessly as the user base expands beyond the prototype stage.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45768" y="3995927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859000" y="4151376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Cost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59000" y="4416552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Keep operational costs manageable through efficient infrastructure and smart AI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45768" y="5111495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859000" y="5266944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Future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59000" y="5532120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Ensure long-term viability by continuously reducing food waste and promoting eco-friendly habits.</a:t>
            </a:r>
          </a:p>
        </p:txBody>
      </p:sp>
      <p:pic>
        <p:nvPicPr>
          <p:cNvPr id="39" name="Graphic 38" descr="Gears">
            <a:extLst>
              <a:ext uri="{FF2B5EF4-FFF2-40B4-BE49-F238E27FC236}">
                <a16:creationId xmlns:a16="http://schemas.microsoft.com/office/drawing/2014/main" id="{8B6B81B5-98B6-474F-A40B-77DFD9102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222203" y="738885"/>
            <a:ext cx="390489" cy="390489"/>
          </a:xfrm>
          <a:prstGeom prst="rect">
            <a:avLst/>
          </a:prstGeom>
        </p:spPr>
      </p:pic>
      <p:pic>
        <p:nvPicPr>
          <p:cNvPr id="41" name="Graphic 40" descr="Plant">
            <a:extLst>
              <a:ext uri="{FF2B5EF4-FFF2-40B4-BE49-F238E27FC236}">
                <a16:creationId xmlns:a16="http://schemas.microsoft.com/office/drawing/2014/main" id="{9DAE643A-5F8F-4517-BC39-7A3F0295B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70059" y="745664"/>
            <a:ext cx="390489" cy="39048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BC08312-3391-4D03-BF43-0845C6605981}"/>
              </a:ext>
            </a:extLst>
          </p:cNvPr>
          <p:cNvSpPr/>
          <p:nvPr/>
        </p:nvSpPr>
        <p:spPr>
          <a:xfrm>
            <a:off x="14383512" y="3238362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2F0305-B1C5-4816-8666-2A238C4B0C20}"/>
              </a:ext>
            </a:extLst>
          </p:cNvPr>
          <p:cNvSpPr/>
          <p:nvPr/>
        </p:nvSpPr>
        <p:spPr>
          <a:xfrm>
            <a:off x="14383512" y="4371987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566B52-86EF-4465-B22B-3F45A7F2C50B}"/>
              </a:ext>
            </a:extLst>
          </p:cNvPr>
          <p:cNvSpPr/>
          <p:nvPr/>
        </p:nvSpPr>
        <p:spPr>
          <a:xfrm>
            <a:off x="14383512" y="5482155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3</a:t>
            </a:r>
          </a:p>
        </p:txBody>
      </p:sp>
      <p:pic>
        <p:nvPicPr>
          <p:cNvPr id="46" name="Graphic 45" descr="Money">
            <a:extLst>
              <a:ext uri="{FF2B5EF4-FFF2-40B4-BE49-F238E27FC236}">
                <a16:creationId xmlns:a16="http://schemas.microsoft.com/office/drawing/2014/main" id="{A7B22762-A152-459E-8634-C5B3C33B6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87539" y="1563259"/>
            <a:ext cx="337538" cy="337538"/>
          </a:xfrm>
          <a:prstGeom prst="rect">
            <a:avLst/>
          </a:prstGeom>
        </p:spPr>
      </p:pic>
      <p:pic>
        <p:nvPicPr>
          <p:cNvPr id="48" name="Graphic 47" descr="World">
            <a:extLst>
              <a:ext uri="{FF2B5EF4-FFF2-40B4-BE49-F238E27FC236}">
                <a16:creationId xmlns:a16="http://schemas.microsoft.com/office/drawing/2014/main" id="{CD2AC227-9EFB-4D6D-A25F-52CCCF99C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6987539" y="2980164"/>
            <a:ext cx="337538" cy="337538"/>
          </a:xfrm>
          <a:prstGeom prst="rect">
            <a:avLst/>
          </a:prstGeom>
        </p:spPr>
      </p:pic>
      <p:pic>
        <p:nvPicPr>
          <p:cNvPr id="50" name="Graphic 49" descr="Users">
            <a:extLst>
              <a:ext uri="{FF2B5EF4-FFF2-40B4-BE49-F238E27FC236}">
                <a16:creationId xmlns:a16="http://schemas.microsoft.com/office/drawing/2014/main" id="{9DD9E7EF-17FC-4A25-8620-C9EEC62F2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986711" y="4292779"/>
            <a:ext cx="337538" cy="337538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0B28E5AB-F69F-47B5-907B-2589447167FC}"/>
              </a:ext>
            </a:extLst>
          </p:cNvPr>
          <p:cNvSpPr txBox="1"/>
          <p:nvPr/>
        </p:nvSpPr>
        <p:spPr>
          <a:xfrm>
            <a:off x="1879271" y="412342"/>
            <a:ext cx="71323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200" b="1" dirty="0">
                <a:solidFill>
                  <a:srgbClr val="2B2A26"/>
                </a:solidFill>
                <a:latin typeface="Aptos"/>
              </a:rPr>
              <a:t>Team – Blind Mice</a:t>
            </a:r>
            <a:endParaRPr sz="32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1D9E8D-8FF2-4D2C-B0EB-040FA1E6AFEB}"/>
              </a:ext>
            </a:extLst>
          </p:cNvPr>
          <p:cNvSpPr txBox="1"/>
          <p:nvPr/>
        </p:nvSpPr>
        <p:spPr>
          <a:xfrm>
            <a:off x="1879271" y="1001819"/>
            <a:ext cx="225457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latin typeface="Aptos"/>
              </a:rPr>
              <a:t>Lu Maw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(Leader)</a:t>
            </a:r>
            <a:endParaRPr sz="16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E5A4C1-10AC-4FFD-9052-8606DEB255BD}"/>
              </a:ext>
            </a:extLst>
          </p:cNvPr>
          <p:cNvSpPr txBox="1"/>
          <p:nvPr/>
        </p:nvSpPr>
        <p:spPr>
          <a:xfrm>
            <a:off x="3585324" y="1006196"/>
            <a:ext cx="180587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2B2A26"/>
                </a:solidFill>
                <a:latin typeface="Aptos"/>
              </a:rPr>
              <a:t>Hein </a:t>
            </a:r>
            <a:r>
              <a:rPr lang="en-US" sz="1600" b="1" dirty="0" err="1">
                <a:solidFill>
                  <a:srgbClr val="2B2A26"/>
                </a:solidFill>
                <a:latin typeface="Aptos"/>
              </a:rPr>
              <a:t>Zay</a:t>
            </a:r>
            <a:r>
              <a:rPr lang="en-US" sz="1600" b="1" dirty="0">
                <a:solidFill>
                  <a:srgbClr val="2B2A26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rgbClr val="2B2A26"/>
                </a:solidFill>
                <a:latin typeface="Aptos"/>
              </a:rPr>
              <a:t>Lyan</a:t>
            </a:r>
            <a:endParaRPr sz="1600" b="1" dirty="0">
              <a:solidFill>
                <a:srgbClr val="2B2A26"/>
              </a:solidFill>
              <a:latin typeface="Apto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77A35D-EF97-4A78-BDB0-CE6003EFA433}"/>
              </a:ext>
            </a:extLst>
          </p:cNvPr>
          <p:cNvGrpSpPr/>
          <p:nvPr/>
        </p:nvGrpSpPr>
        <p:grpSpPr>
          <a:xfrm>
            <a:off x="7872778" y="703065"/>
            <a:ext cx="4002501" cy="4499636"/>
            <a:chOff x="7872778" y="703065"/>
            <a:chExt cx="4002501" cy="449963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3B50376-8CF2-4810-93D5-566EBA4788EE}"/>
                </a:ext>
              </a:extLst>
            </p:cNvPr>
            <p:cNvGrpSpPr/>
            <p:nvPr/>
          </p:nvGrpSpPr>
          <p:grpSpPr>
            <a:xfrm>
              <a:off x="7872778" y="703065"/>
              <a:ext cx="4002501" cy="4499636"/>
              <a:chOff x="7872778" y="376493"/>
              <a:chExt cx="4002501" cy="4499636"/>
            </a:xfrm>
          </p:grpSpPr>
          <p:sp>
            <p:nvSpPr>
              <p:cNvPr id="87" name="Rounded Rectangle 6">
                <a:extLst>
                  <a:ext uri="{FF2B5EF4-FFF2-40B4-BE49-F238E27FC236}">
                    <a16:creationId xmlns:a16="http://schemas.microsoft.com/office/drawing/2014/main" id="{1B766C3D-C5D4-4780-B894-65A59C12434A}"/>
                  </a:ext>
                </a:extLst>
              </p:cNvPr>
              <p:cNvSpPr/>
              <p:nvPr/>
            </p:nvSpPr>
            <p:spPr>
              <a:xfrm>
                <a:off x="7872778" y="376493"/>
                <a:ext cx="4002501" cy="4499636"/>
              </a:xfrm>
              <a:prstGeom prst="roundRect">
                <a:avLst>
                  <a:gd name="adj" fmla="val 0"/>
                </a:avLst>
              </a:prstGeom>
              <a:solidFill>
                <a:srgbClr val="FCFCFA"/>
              </a:solidFill>
              <a:ln w="19050">
                <a:solidFill>
                  <a:srgbClr val="E6E3D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6CA3720-AFD3-4652-81B8-9AE1AD7AF646}"/>
                  </a:ext>
                </a:extLst>
              </p:cNvPr>
              <p:cNvSpPr txBox="1"/>
              <p:nvPr/>
            </p:nvSpPr>
            <p:spPr>
              <a:xfrm>
                <a:off x="8184228" y="552755"/>
                <a:ext cx="2740451" cy="83099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487C57"/>
                    </a:solidFill>
                    <a:latin typeface="Aptos"/>
                  </a:rPr>
                  <a:t>Problems </a:t>
                </a:r>
              </a:p>
              <a:p>
                <a:pPr algn="l"/>
                <a:r>
                  <a:rPr lang="en-US" sz="2300" b="1" dirty="0">
                    <a:solidFill>
                      <a:srgbClr val="487C57"/>
                    </a:solidFill>
                    <a:latin typeface="Aptos"/>
                  </a:rPr>
                  <a:t>we had faced</a:t>
                </a:r>
                <a:endParaRPr sz="2300" b="1" dirty="0">
                  <a:solidFill>
                    <a:srgbClr val="487C57"/>
                  </a:solidFill>
                  <a:latin typeface="Aptos"/>
                </a:endParaRPr>
              </a:p>
            </p:txBody>
          </p: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7F6FF57-F1CE-4495-A6D1-7B0C12DA0324}"/>
                </a:ext>
              </a:extLst>
            </p:cNvPr>
            <p:cNvCxnSpPr/>
            <p:nvPr/>
          </p:nvCxnSpPr>
          <p:spPr>
            <a:xfrm>
              <a:off x="8318090" y="1885974"/>
              <a:ext cx="3116826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308EEF7D-B065-45BC-8808-4C90F5988AF5}"/>
              </a:ext>
            </a:extLst>
          </p:cNvPr>
          <p:cNvSpPr txBox="1"/>
          <p:nvPr/>
        </p:nvSpPr>
        <p:spPr>
          <a:xfrm>
            <a:off x="5018706" y="1000887"/>
            <a:ext cx="199943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 err="1">
                <a:solidFill>
                  <a:srgbClr val="2B2A26"/>
                </a:solidFill>
                <a:latin typeface="Aptos"/>
              </a:rPr>
              <a:t>Khant</a:t>
            </a:r>
            <a:r>
              <a:rPr lang="en-US" sz="1600" b="1" dirty="0">
                <a:solidFill>
                  <a:srgbClr val="2B2A26"/>
                </a:solidFill>
                <a:latin typeface="Aptos"/>
              </a:rPr>
              <a:t> Min </a:t>
            </a:r>
            <a:r>
              <a:rPr lang="en-US" sz="1600" b="1" dirty="0" err="1">
                <a:solidFill>
                  <a:srgbClr val="2B2A26"/>
                </a:solidFill>
                <a:latin typeface="Aptos"/>
              </a:rPr>
              <a:t>Paing</a:t>
            </a:r>
            <a:endParaRPr sz="1600" b="1" dirty="0">
              <a:solidFill>
                <a:srgbClr val="2B2A26"/>
              </a:solidFill>
              <a:latin typeface="Apto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6F272C-9712-4A26-A531-C33F8D137597}"/>
              </a:ext>
            </a:extLst>
          </p:cNvPr>
          <p:cNvCxnSpPr/>
          <p:nvPr/>
        </p:nvCxnSpPr>
        <p:spPr>
          <a:xfrm>
            <a:off x="7334865" y="1192264"/>
            <a:ext cx="0" cy="6122936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31C9FDD-7714-4867-B006-12E83791DD71}"/>
              </a:ext>
            </a:extLst>
          </p:cNvPr>
          <p:cNvSpPr txBox="1"/>
          <p:nvPr/>
        </p:nvSpPr>
        <p:spPr>
          <a:xfrm>
            <a:off x="8178490" y="2024265"/>
            <a:ext cx="3505757" cy="1993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Authentication Issues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Need VPN to get better experiences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couldn't find free AI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API failing very often</a:t>
            </a:r>
            <a:endParaRPr sz="1600" b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A867FE3F-4451-46A3-8AAF-97341B58012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1396" r="1351" b="12507"/>
          <a:stretch/>
        </p:blipFill>
        <p:spPr>
          <a:xfrm>
            <a:off x="19588" y="45740"/>
            <a:ext cx="1859683" cy="1404103"/>
          </a:xfrm>
          <a:custGeom>
            <a:avLst/>
            <a:gdLst>
              <a:gd name="connsiteX0" fmla="*/ 0 w 1596715"/>
              <a:gd name="connsiteY0" fmla="*/ 0 h 1205556"/>
              <a:gd name="connsiteX1" fmla="*/ 160192 w 1596715"/>
              <a:gd name="connsiteY1" fmla="*/ 0 h 1205556"/>
              <a:gd name="connsiteX2" fmla="*/ 1596715 w 1596715"/>
              <a:gd name="connsiteY2" fmla="*/ 602779 h 1205556"/>
              <a:gd name="connsiteX3" fmla="*/ 160194 w 1596715"/>
              <a:gd name="connsiteY3" fmla="*/ 1205556 h 1205556"/>
              <a:gd name="connsiteX4" fmla="*/ 0 w 1596715"/>
              <a:gd name="connsiteY4" fmla="*/ 1205556 h 12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6715" h="1205556">
                <a:moveTo>
                  <a:pt x="0" y="0"/>
                </a:moveTo>
                <a:lnTo>
                  <a:pt x="160192" y="0"/>
                </a:lnTo>
                <a:lnTo>
                  <a:pt x="1596715" y="602779"/>
                </a:lnTo>
                <a:lnTo>
                  <a:pt x="160194" y="1205556"/>
                </a:lnTo>
                <a:lnTo>
                  <a:pt x="0" y="1205556"/>
                </a:lnTo>
                <a:close/>
              </a:path>
            </a:pathLst>
          </a:cu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5CC844D4-A3A8-477B-82EF-B203210A03EC}"/>
              </a:ext>
            </a:extLst>
          </p:cNvPr>
          <p:cNvSpPr txBox="1"/>
          <p:nvPr/>
        </p:nvSpPr>
        <p:spPr>
          <a:xfrm>
            <a:off x="8062475" y="4788893"/>
            <a:ext cx="4129525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dirty="0">
                <a:solidFill>
                  <a:srgbClr val="487C57"/>
                </a:solidFill>
                <a:latin typeface="Aptos"/>
              </a:rPr>
              <a:t>STI Myanmar College, Youth AI Innovation Competition</a:t>
            </a:r>
            <a:endParaRPr sz="1200" b="0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9A88C48-8AFD-4F41-A277-368E4F22592A}"/>
              </a:ext>
            </a:extLst>
          </p:cNvPr>
          <p:cNvSpPr txBox="1"/>
          <p:nvPr/>
        </p:nvSpPr>
        <p:spPr>
          <a:xfrm>
            <a:off x="4133842" y="2003460"/>
            <a:ext cx="309385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BarKyanLal</a:t>
            </a:r>
            <a:endParaRPr sz="36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5045BCB-AEEC-4A97-ADF5-7CCA6CBAC400}"/>
              </a:ext>
            </a:extLst>
          </p:cNvPr>
          <p:cNvSpPr txBox="1"/>
          <p:nvPr/>
        </p:nvSpPr>
        <p:spPr>
          <a:xfrm>
            <a:off x="4166800" y="2758364"/>
            <a:ext cx="309386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dirty="0">
                <a:hlinkClick r:id="rId9"/>
              </a:rPr>
              <a:t>https://barkyanlal.netlify.app/</a:t>
            </a:r>
            <a:endParaRPr b="0" dirty="0">
              <a:solidFill>
                <a:srgbClr val="6F6C63"/>
              </a:solidFill>
              <a:latin typeface="Apto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D6B0AB-E1C2-4BCA-8D60-B6E02EE4D992}"/>
              </a:ext>
            </a:extLst>
          </p:cNvPr>
          <p:cNvGrpSpPr/>
          <p:nvPr/>
        </p:nvGrpSpPr>
        <p:grpSpPr>
          <a:xfrm>
            <a:off x="3667810" y="3230424"/>
            <a:ext cx="4002500" cy="2435312"/>
            <a:chOff x="3667809" y="2002131"/>
            <a:chExt cx="4002501" cy="4499636"/>
          </a:xfrm>
        </p:grpSpPr>
        <p:sp>
          <p:nvSpPr>
            <p:cNvPr id="59" name="Rounded Rectangle 6">
              <a:extLst>
                <a:ext uri="{FF2B5EF4-FFF2-40B4-BE49-F238E27FC236}">
                  <a16:creationId xmlns:a16="http://schemas.microsoft.com/office/drawing/2014/main" id="{D2BDFD0A-04B1-41AA-A122-33A4EA4CBCEA}"/>
                </a:ext>
              </a:extLst>
            </p:cNvPr>
            <p:cNvSpPr/>
            <p:nvPr/>
          </p:nvSpPr>
          <p:spPr>
            <a:xfrm>
              <a:off x="3667809" y="2002131"/>
              <a:ext cx="4002501" cy="4499636"/>
            </a:xfrm>
            <a:prstGeom prst="roundRect">
              <a:avLst>
                <a:gd name="adj" fmla="val 0"/>
              </a:avLst>
            </a:prstGeom>
            <a:solidFill>
              <a:srgbClr val="FCFCFA"/>
            </a:solidFill>
            <a:ln w="28575">
              <a:solidFill>
                <a:srgbClr val="779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000269C9-3FA2-49F3-AE87-C838B46ACF26}"/>
                </a:ext>
              </a:extLst>
            </p:cNvPr>
            <p:cNvSpPr/>
            <p:nvPr/>
          </p:nvSpPr>
          <p:spPr>
            <a:xfrm>
              <a:off x="5198495" y="3429000"/>
              <a:ext cx="484632" cy="978408"/>
            </a:xfrm>
            <a:prstGeom prst="downArrow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B172C8A-4A54-4885-B4CF-4DA10838F25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9977"/>
          <a:stretch/>
        </p:blipFill>
        <p:spPr>
          <a:xfrm>
            <a:off x="137598" y="2030475"/>
            <a:ext cx="3931380" cy="39325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A90E7CF-7AE8-47C0-9016-10CD45BA8A08}"/>
              </a:ext>
            </a:extLst>
          </p:cNvPr>
          <p:cNvSpPr txBox="1"/>
          <p:nvPr/>
        </p:nvSpPr>
        <p:spPr>
          <a:xfrm>
            <a:off x="4153163" y="3320553"/>
            <a:ext cx="3093864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487C57"/>
                </a:solidFill>
              </a:rPr>
              <a:t>estimated development support cost:</a:t>
            </a:r>
          </a:p>
          <a:p>
            <a:r>
              <a:rPr lang="en-US" sz="1400" b="1" dirty="0">
                <a:solidFill>
                  <a:srgbClr val="487C57"/>
                </a:solidFill>
              </a:rPr>
              <a:t>USD 150</a:t>
            </a:r>
            <a:r>
              <a:rPr lang="en-US" sz="1400" b="1" dirty="0">
                <a:solidFill>
                  <a:srgbClr val="487C57"/>
                </a:solidFill>
                <a:latin typeface="Bodoni MT Black" panose="02070A03080606020203" pitchFamily="18" charset="0"/>
              </a:rPr>
              <a:t>~</a:t>
            </a:r>
            <a:r>
              <a:rPr lang="en-US" sz="1400" b="1" dirty="0">
                <a:solidFill>
                  <a:srgbClr val="487C57"/>
                </a:solidFill>
              </a:rPr>
              <a:t>250 per month</a:t>
            </a:r>
          </a:p>
          <a:p>
            <a:endParaRPr lang="en-US" sz="1400" dirty="0">
              <a:solidFill>
                <a:srgbClr val="487C57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AI API usage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GitHub Copilot (3 members)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Hosting and deployment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Push notification services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Other necessary third-party services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Ongoing improvements, testing, and maintenance</a:t>
            </a:r>
            <a:endParaRPr sz="1400" b="1" dirty="0">
              <a:solidFill>
                <a:srgbClr val="2B2A2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9273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1818</TotalTime>
  <Words>1952</Words>
  <Application>Microsoft Office PowerPoint</Application>
  <PresentationFormat>Widescreen</PresentationFormat>
  <Paragraphs>490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Algerian</vt:lpstr>
      <vt:lpstr>Aptos</vt:lpstr>
      <vt:lpstr>Arial</vt:lpstr>
      <vt:lpstr>Arial Black</vt:lpstr>
      <vt:lpstr>Bahnschrift Condensed</vt:lpstr>
      <vt:lpstr>Bauhaus 93</vt:lpstr>
      <vt:lpstr>Berlin Sans FB Demi</vt:lpstr>
      <vt:lpstr>Bodoni MT Black</vt:lpstr>
      <vt:lpstr>Calibri</vt:lpstr>
      <vt:lpstr>Copperplate Gothic Bold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Mr Miles</cp:lastModifiedBy>
  <cp:revision>120</cp:revision>
  <dcterms:created xsi:type="dcterms:W3CDTF">2013-01-27T09:14:16Z</dcterms:created>
  <dcterms:modified xsi:type="dcterms:W3CDTF">2026-09-15T15:51:45Z</dcterms:modified>
  <cp:category/>
</cp:coreProperties>
</file>